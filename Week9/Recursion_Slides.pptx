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459" r:id="rId2"/>
    <p:sldId id="486" r:id="rId3"/>
    <p:sldId id="482" r:id="rId4"/>
    <p:sldId id="483" r:id="rId5"/>
    <p:sldId id="485" r:id="rId6"/>
    <p:sldId id="484" r:id="rId7"/>
    <p:sldId id="480" r:id="rId8"/>
    <p:sldId id="488" r:id="rId9"/>
    <p:sldId id="478" r:id="rId10"/>
    <p:sldId id="465" r:id="rId11"/>
    <p:sldId id="466" r:id="rId12"/>
    <p:sldId id="467" r:id="rId13"/>
    <p:sldId id="470" r:id="rId14"/>
    <p:sldId id="469" r:id="rId15"/>
    <p:sldId id="492" r:id="rId16"/>
    <p:sldId id="493" r:id="rId17"/>
    <p:sldId id="494" r:id="rId18"/>
    <p:sldId id="491" r:id="rId19"/>
    <p:sldId id="468" r:id="rId20"/>
    <p:sldId id="463" r:id="rId21"/>
    <p:sldId id="464" r:id="rId22"/>
    <p:sldId id="472" r:id="rId23"/>
    <p:sldId id="473" r:id="rId24"/>
    <p:sldId id="500" r:id="rId25"/>
    <p:sldId id="476" r:id="rId26"/>
    <p:sldId id="474" r:id="rId27"/>
  </p:sldIdLst>
  <p:sldSz cx="12192000" cy="6858000"/>
  <p:notesSz cx="6889750" cy="100218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9963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86813" autoAdjust="0"/>
  </p:normalViewPr>
  <p:slideViewPr>
    <p:cSldViewPr snapToGrid="0">
      <p:cViewPr varScale="1">
        <p:scale>
          <a:sx n="61" d="100"/>
          <a:sy n="61" d="100"/>
        </p:scale>
        <p:origin x="838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5558" cy="502835"/>
          </a:xfrm>
          <a:prstGeom prst="rect">
            <a:avLst/>
          </a:prstGeom>
        </p:spPr>
        <p:txBody>
          <a:bodyPr vert="horz" lIns="92455" tIns="46227" rIns="92455" bIns="4622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9" y="0"/>
            <a:ext cx="2985558" cy="502835"/>
          </a:xfrm>
          <a:prstGeom prst="rect">
            <a:avLst/>
          </a:prstGeom>
        </p:spPr>
        <p:txBody>
          <a:bodyPr vert="horz" lIns="92455" tIns="46227" rIns="92455" bIns="46227" rtlCol="0"/>
          <a:lstStyle>
            <a:lvl1pPr algn="r">
              <a:defRPr sz="1200"/>
            </a:lvl1pPr>
          </a:lstStyle>
          <a:p>
            <a:fld id="{E79231D4-974A-4ECE-B881-FD6B3CD962B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0950"/>
            <a:ext cx="6013450" cy="33829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55" tIns="46227" rIns="92455" bIns="4622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6" y="4823033"/>
            <a:ext cx="5511800" cy="3946120"/>
          </a:xfrm>
          <a:prstGeom prst="rect">
            <a:avLst/>
          </a:prstGeom>
        </p:spPr>
        <p:txBody>
          <a:bodyPr vert="horz" lIns="92455" tIns="46227" rIns="92455" bIns="4622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519057"/>
            <a:ext cx="2985558" cy="502833"/>
          </a:xfrm>
          <a:prstGeom prst="rect">
            <a:avLst/>
          </a:prstGeom>
        </p:spPr>
        <p:txBody>
          <a:bodyPr vert="horz" lIns="92455" tIns="46227" rIns="92455" bIns="4622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9" y="9519057"/>
            <a:ext cx="2985558" cy="502833"/>
          </a:xfrm>
          <a:prstGeom prst="rect">
            <a:avLst/>
          </a:prstGeom>
        </p:spPr>
        <p:txBody>
          <a:bodyPr vert="horz" lIns="92455" tIns="46227" rIns="92455" bIns="46227" rtlCol="0" anchor="b"/>
          <a:lstStyle>
            <a:lvl1pPr algn="r">
              <a:defRPr sz="1200"/>
            </a:lvl1pPr>
          </a:lstStyle>
          <a:p>
            <a:fld id="{5F33B53B-E45C-4FAA-A6BB-9F607F9DF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80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24550" fontAlgn="base">
              <a:spcBef>
                <a:spcPct val="0"/>
              </a:spcBef>
              <a:spcAft>
                <a:spcPct val="0"/>
              </a:spcAft>
              <a:defRPr/>
            </a:pPr>
            <a:fld id="{802F5186-457B-48E6-B657-30D0534A8E16}" type="slidenum">
              <a:rPr lang="en-US" alt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924550"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altLang="en-US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459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3B53B-E45C-4FAA-A6BB-9F607F9DFC9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54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3B53B-E45C-4FAA-A6BB-9F607F9DFC9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19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3B53B-E45C-4FAA-A6BB-9F607F9DFC9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4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3B53B-E45C-4FAA-A6BB-9F607F9DFC9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62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3B53B-E45C-4FAA-A6BB-9F607F9DFC9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93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3B53B-E45C-4FAA-A6BB-9F607F9DFC9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588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BCBB81-D996-45DD-B471-B5CCC20B796D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091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1" y="320676"/>
            <a:ext cx="8228013" cy="1055688"/>
          </a:xfrm>
        </p:spPr>
        <p:txBody>
          <a:bodyPr>
            <a:normAutofit/>
          </a:bodyPr>
          <a:lstStyle>
            <a:lvl1pPr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  <a:tab pos="7878763" algn="l"/>
              </a:tabLst>
              <a:def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6475CC-4C3C-4985-9A0D-0AD10955CBC3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3328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488CEE-0121-4ADB-B8FD-CCEF6914BF7E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3563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9683C-4871-4C8F-BEEA-10AF86B392BF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8081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40BE36-488E-4863-BE8B-D3A83D23C034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893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8F92F1-570F-44E4-BBF4-1F8F64D4D95A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5015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753877-7FD5-4441-908E-24202D23D682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9051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33D58C-3E0D-4875-BD18-5F8E67BFAEE4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1848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FD6FDA-026B-4FDA-86C9-6656EB6D6CC7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559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C6BA19-72E9-4837-A60C-1743973BF13D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75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B9EA39-B878-4919-926D-201D49DB2F06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4883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733455" y="6266890"/>
            <a:ext cx="2280102" cy="4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588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4A9C500-9223-4344-96DC-191F7A373D3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38200" y="1219200"/>
            <a:ext cx="10210800" cy="307022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Fundamentals of Programming &amp; Computer Science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CS 15-112</a:t>
            </a:r>
            <a:br>
              <a:rPr lang="en-US" dirty="0">
                <a:solidFill>
                  <a:srgbClr val="0070C0"/>
                </a:solidFill>
              </a:rPr>
            </a:br>
            <a:endParaRPr lang="en-US" altLang="en-US" dirty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71D7BF2B-621A-4ADC-ADB2-E0847240761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47800" y="3810000"/>
            <a:ext cx="9144000" cy="2133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en-US" sz="4800" b="1" dirty="0"/>
              <a:t>Recursion</a:t>
            </a:r>
          </a:p>
          <a:p>
            <a:endParaRPr lang="en-US" altLang="en-US" sz="3200" dirty="0"/>
          </a:p>
          <a:p>
            <a:pPr>
              <a:lnSpc>
                <a:spcPct val="100000"/>
              </a:lnSpc>
            </a:pPr>
            <a:r>
              <a:rPr lang="en-US" altLang="en-US" sz="3200" dirty="0"/>
              <a:t>Dr. Hend Gedawy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62153-D7B2-E241-579E-84CA703F5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Example: Sum Of Digits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1414D-3F1A-36C1-9E28-2E4AF22BB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07B9DD-2276-CF72-C027-C38905821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900" y="1895475"/>
            <a:ext cx="6223000" cy="3178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b="1" dirty="0"/>
              <a:t>Goal: </a:t>
            </a:r>
            <a:r>
              <a:rPr dirty="0"/>
              <a:t>Add all digits of a number</a:t>
            </a:r>
            <a:r>
              <a:rPr lang="en-US" dirty="0"/>
              <a:t> (n)</a:t>
            </a:r>
            <a:r>
              <a:rPr dirty="0"/>
              <a:t>.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Example:</a:t>
            </a:r>
          </a:p>
          <a:p>
            <a:pPr lvl="1"/>
            <a:r>
              <a:rPr dirty="0"/>
              <a:t>n = 1234</a:t>
            </a:r>
          </a:p>
          <a:p>
            <a:pPr lvl="1"/>
            <a:r>
              <a:rPr dirty="0"/>
              <a:t>1 + 2 + 3 + 4 = 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AB73F7-8321-775A-29E6-4EF35A107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184" y="2669893"/>
            <a:ext cx="3770916" cy="28056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83C5FD-A460-6C0F-62A5-0AC493DFF7C9}"/>
              </a:ext>
            </a:extLst>
          </p:cNvPr>
          <p:cNvSpPr txBox="1"/>
          <p:nvPr/>
        </p:nvSpPr>
        <p:spPr>
          <a:xfrm>
            <a:off x="7569200" y="1981200"/>
            <a:ext cx="4000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Iterative Approach:</a:t>
            </a:r>
          </a:p>
        </p:txBody>
      </p:sp>
    </p:spTree>
    <p:extLst>
      <p:ext uri="{BB962C8B-B14F-4D97-AF65-F5344CB8AC3E}">
        <p14:creationId xmlns:p14="http://schemas.microsoft.com/office/powerpoint/2010/main" val="1833843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9ABA9-925E-837A-9A8C-5E91031D8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09938-B5E5-4932-8D34-60277794D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Recursive </a:t>
            </a:r>
            <a:r>
              <a:rPr lang="en-US" b="1" dirty="0" err="1">
                <a:solidFill>
                  <a:srgbClr val="C00000"/>
                </a:solidFill>
              </a:rPr>
              <a:t>sumDigits</a:t>
            </a:r>
            <a:r>
              <a:rPr lang="en-US" b="1" dirty="0">
                <a:solidFill>
                  <a:srgbClr val="C00000"/>
                </a:solidFill>
              </a:rPr>
              <a:t>(n)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Phase 1: The Call Phase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99868-6786-0D9C-4D28-EB558D170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3">
            <a:extLst>
              <a:ext uri="{FF2B5EF4-FFF2-40B4-BE49-F238E27FC236}">
                <a16:creationId xmlns:a16="http://schemas.microsoft.com/office/drawing/2014/main" id="{E6819957-51B6-CBF9-9DAA-29DAD1726920}"/>
              </a:ext>
            </a:extLst>
          </p:cNvPr>
          <p:cNvSpPr/>
          <p:nvPr/>
        </p:nvSpPr>
        <p:spPr>
          <a:xfrm>
            <a:off x="1524007" y="2576304"/>
            <a:ext cx="4114800" cy="658368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">
            <a:extLst>
              <a:ext uri="{FF2B5EF4-FFF2-40B4-BE49-F238E27FC236}">
                <a16:creationId xmlns:a16="http://schemas.microsoft.com/office/drawing/2014/main" id="{198CD6CB-FF4F-EA3A-7BDF-302C50F30036}"/>
              </a:ext>
            </a:extLst>
          </p:cNvPr>
          <p:cNvSpPr/>
          <p:nvPr/>
        </p:nvSpPr>
        <p:spPr>
          <a:xfrm>
            <a:off x="1487431" y="2539728"/>
            <a:ext cx="4114800" cy="658368"/>
          </a:xfrm>
          <a:prstGeom prst="rect">
            <a:avLst/>
          </a:prstGeom>
          <a:solidFill>
            <a:srgbClr val="EBF5FF"/>
          </a:solidFill>
          <a:ln w="15240">
            <a:solidFill>
              <a:srgbClr val="AAC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5">
            <a:extLst>
              <a:ext uri="{FF2B5EF4-FFF2-40B4-BE49-F238E27FC236}">
                <a16:creationId xmlns:a16="http://schemas.microsoft.com/office/drawing/2014/main" id="{6CE11072-8BAB-6284-ED33-88441D33402D}"/>
              </a:ext>
            </a:extLst>
          </p:cNvPr>
          <p:cNvSpPr/>
          <p:nvPr/>
        </p:nvSpPr>
        <p:spPr>
          <a:xfrm>
            <a:off x="1487431" y="2539728"/>
            <a:ext cx="502920" cy="65836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9BC62964-4397-8D32-DFD5-B55BA232E0FA}"/>
              </a:ext>
            </a:extLst>
          </p:cNvPr>
          <p:cNvSpPr/>
          <p:nvPr/>
        </p:nvSpPr>
        <p:spPr>
          <a:xfrm>
            <a:off x="1487431" y="2539728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1</a:t>
            </a:r>
            <a:endParaRPr lang="en-US" sz="1100" dirty="0"/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400D0A10-F438-0280-AFD2-9407645D6808}"/>
              </a:ext>
            </a:extLst>
          </p:cNvPr>
          <p:cNvSpPr/>
          <p:nvPr/>
        </p:nvSpPr>
        <p:spPr>
          <a:xfrm>
            <a:off x="2081791" y="257630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sumDigits(1234)</a:t>
            </a:r>
            <a:endParaRPr lang="en-US" sz="1100" dirty="0"/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34F1F688-7618-C557-AC92-30E68AD976FA}"/>
              </a:ext>
            </a:extLst>
          </p:cNvPr>
          <p:cNvSpPr/>
          <p:nvPr/>
        </p:nvSpPr>
        <p:spPr>
          <a:xfrm>
            <a:off x="2081791" y="28689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000" dirty="0" err="1">
                <a:solidFill>
                  <a:srgbClr val="80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sumDigits</a:t>
            </a:r>
            <a:r>
              <a:rPr lang="en-US" sz="1000" dirty="0">
                <a:solidFill>
                  <a:srgbClr val="80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(123) + 4</a:t>
            </a:r>
            <a:endParaRPr lang="en-US" sz="1000" dirty="0"/>
          </a:p>
        </p:txBody>
      </p:sp>
      <p:sp>
        <p:nvSpPr>
          <p:cNvPr id="49" name="Shape 9">
            <a:extLst>
              <a:ext uri="{FF2B5EF4-FFF2-40B4-BE49-F238E27FC236}">
                <a16:creationId xmlns:a16="http://schemas.microsoft.com/office/drawing/2014/main" id="{FFAC4ACC-0161-A42D-2037-71A25642437F}"/>
              </a:ext>
            </a:extLst>
          </p:cNvPr>
          <p:cNvSpPr/>
          <p:nvPr/>
        </p:nvSpPr>
        <p:spPr>
          <a:xfrm>
            <a:off x="1688599" y="3371832"/>
            <a:ext cx="4114800" cy="658368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10">
            <a:extLst>
              <a:ext uri="{FF2B5EF4-FFF2-40B4-BE49-F238E27FC236}">
                <a16:creationId xmlns:a16="http://schemas.microsoft.com/office/drawing/2014/main" id="{1B67089D-E488-F01B-184F-AC38B4851BFE}"/>
              </a:ext>
            </a:extLst>
          </p:cNvPr>
          <p:cNvSpPr/>
          <p:nvPr/>
        </p:nvSpPr>
        <p:spPr>
          <a:xfrm>
            <a:off x="1652023" y="3335256"/>
            <a:ext cx="4114800" cy="658368"/>
          </a:xfrm>
          <a:prstGeom prst="rect">
            <a:avLst/>
          </a:prstGeom>
          <a:solidFill>
            <a:srgbClr val="EBF5FF"/>
          </a:solidFill>
          <a:ln w="15240">
            <a:solidFill>
              <a:srgbClr val="AAC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1C06843B-C844-D9A8-7B2C-FE7100474CC2}"/>
              </a:ext>
            </a:extLst>
          </p:cNvPr>
          <p:cNvSpPr/>
          <p:nvPr/>
        </p:nvSpPr>
        <p:spPr>
          <a:xfrm>
            <a:off x="1652023" y="3335256"/>
            <a:ext cx="502920" cy="65836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18765AA8-6CD9-8E76-E954-D5DEA6EA2EE2}"/>
              </a:ext>
            </a:extLst>
          </p:cNvPr>
          <p:cNvSpPr/>
          <p:nvPr/>
        </p:nvSpPr>
        <p:spPr>
          <a:xfrm>
            <a:off x="1652023" y="3335256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2</a:t>
            </a:r>
            <a:endParaRPr lang="en-US" sz="1100" dirty="0"/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E3A35B31-2BDE-3AFC-7815-50868B89A339}"/>
              </a:ext>
            </a:extLst>
          </p:cNvPr>
          <p:cNvSpPr/>
          <p:nvPr/>
        </p:nvSpPr>
        <p:spPr>
          <a:xfrm>
            <a:off x="2246383" y="33718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sumDigits(123)</a:t>
            </a:r>
            <a:endParaRPr lang="en-US" sz="1100" dirty="0"/>
          </a:p>
        </p:txBody>
      </p:sp>
      <p:sp>
        <p:nvSpPr>
          <p:cNvPr id="54" name="Text 14">
            <a:extLst>
              <a:ext uri="{FF2B5EF4-FFF2-40B4-BE49-F238E27FC236}">
                <a16:creationId xmlns:a16="http://schemas.microsoft.com/office/drawing/2014/main" id="{013E3133-E504-E9E1-9913-07E11D6ADE0B}"/>
              </a:ext>
            </a:extLst>
          </p:cNvPr>
          <p:cNvSpPr/>
          <p:nvPr/>
        </p:nvSpPr>
        <p:spPr>
          <a:xfrm>
            <a:off x="2246383" y="3664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000" dirty="0" err="1">
                <a:solidFill>
                  <a:srgbClr val="80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sumDigits</a:t>
            </a:r>
            <a:r>
              <a:rPr lang="en-US" sz="1000" dirty="0">
                <a:solidFill>
                  <a:srgbClr val="80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(12) + 3</a:t>
            </a:r>
            <a:endParaRPr lang="en-US" sz="1000" dirty="0"/>
          </a:p>
        </p:txBody>
      </p:sp>
      <p:sp>
        <p:nvSpPr>
          <p:cNvPr id="55" name="Shape 15">
            <a:extLst>
              <a:ext uri="{FF2B5EF4-FFF2-40B4-BE49-F238E27FC236}">
                <a16:creationId xmlns:a16="http://schemas.microsoft.com/office/drawing/2014/main" id="{655358FF-8E59-501E-4DA2-36D6DCEDA37B}"/>
              </a:ext>
            </a:extLst>
          </p:cNvPr>
          <p:cNvSpPr/>
          <p:nvPr/>
        </p:nvSpPr>
        <p:spPr>
          <a:xfrm>
            <a:off x="1853191" y="4167360"/>
            <a:ext cx="4114800" cy="658368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16">
            <a:extLst>
              <a:ext uri="{FF2B5EF4-FFF2-40B4-BE49-F238E27FC236}">
                <a16:creationId xmlns:a16="http://schemas.microsoft.com/office/drawing/2014/main" id="{4C44BCC3-1950-472C-9D7E-11DF6D65C3AA}"/>
              </a:ext>
            </a:extLst>
          </p:cNvPr>
          <p:cNvSpPr/>
          <p:nvPr/>
        </p:nvSpPr>
        <p:spPr>
          <a:xfrm>
            <a:off x="1816615" y="4130784"/>
            <a:ext cx="4114800" cy="658368"/>
          </a:xfrm>
          <a:prstGeom prst="rect">
            <a:avLst/>
          </a:prstGeom>
          <a:solidFill>
            <a:srgbClr val="EBF5FF"/>
          </a:solidFill>
          <a:ln w="15240">
            <a:solidFill>
              <a:srgbClr val="AAC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17">
            <a:extLst>
              <a:ext uri="{FF2B5EF4-FFF2-40B4-BE49-F238E27FC236}">
                <a16:creationId xmlns:a16="http://schemas.microsoft.com/office/drawing/2014/main" id="{E899F056-9DF5-9762-59E3-9CEC1282A991}"/>
              </a:ext>
            </a:extLst>
          </p:cNvPr>
          <p:cNvSpPr/>
          <p:nvPr/>
        </p:nvSpPr>
        <p:spPr>
          <a:xfrm>
            <a:off x="1816615" y="4130784"/>
            <a:ext cx="502920" cy="65836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533C6594-8DF6-1A7E-B891-13902E63E700}"/>
              </a:ext>
            </a:extLst>
          </p:cNvPr>
          <p:cNvSpPr/>
          <p:nvPr/>
        </p:nvSpPr>
        <p:spPr>
          <a:xfrm>
            <a:off x="1816615" y="413078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3</a:t>
            </a:r>
            <a:endParaRPr lang="en-US" sz="1100" dirty="0"/>
          </a:p>
        </p:txBody>
      </p:sp>
      <p:sp>
        <p:nvSpPr>
          <p:cNvPr id="59" name="Text 19">
            <a:extLst>
              <a:ext uri="{FF2B5EF4-FFF2-40B4-BE49-F238E27FC236}">
                <a16:creationId xmlns:a16="http://schemas.microsoft.com/office/drawing/2014/main" id="{1AE5C255-3176-9ED0-832E-69793F7F01EB}"/>
              </a:ext>
            </a:extLst>
          </p:cNvPr>
          <p:cNvSpPr/>
          <p:nvPr/>
        </p:nvSpPr>
        <p:spPr>
          <a:xfrm>
            <a:off x="2410975" y="41673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sumDigits(12)</a:t>
            </a:r>
            <a:endParaRPr lang="en-US" sz="1100" dirty="0"/>
          </a:p>
        </p:txBody>
      </p:sp>
      <p:sp>
        <p:nvSpPr>
          <p:cNvPr id="60" name="Text 20">
            <a:extLst>
              <a:ext uri="{FF2B5EF4-FFF2-40B4-BE49-F238E27FC236}">
                <a16:creationId xmlns:a16="http://schemas.microsoft.com/office/drawing/2014/main" id="{9CD6CCFA-36C1-14A0-3C2E-3060350FDAA7}"/>
              </a:ext>
            </a:extLst>
          </p:cNvPr>
          <p:cNvSpPr/>
          <p:nvPr/>
        </p:nvSpPr>
        <p:spPr>
          <a:xfrm>
            <a:off x="2410975" y="44599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000" dirty="0" err="1">
                <a:solidFill>
                  <a:srgbClr val="80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sumDigits</a:t>
            </a:r>
            <a:r>
              <a:rPr lang="en-US" sz="1000" dirty="0">
                <a:solidFill>
                  <a:srgbClr val="80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 + 2</a:t>
            </a:r>
            <a:endParaRPr lang="en-US" sz="1000" dirty="0"/>
          </a:p>
        </p:txBody>
      </p:sp>
      <p:sp>
        <p:nvSpPr>
          <p:cNvPr id="64" name="Text 24">
            <a:extLst>
              <a:ext uri="{FF2B5EF4-FFF2-40B4-BE49-F238E27FC236}">
                <a16:creationId xmlns:a16="http://schemas.microsoft.com/office/drawing/2014/main" id="{6AB0B3B9-B860-C553-0F3C-0E84C5592D0F}"/>
              </a:ext>
            </a:extLst>
          </p:cNvPr>
          <p:cNvSpPr/>
          <p:nvPr/>
        </p:nvSpPr>
        <p:spPr>
          <a:xfrm>
            <a:off x="1981207" y="492631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4</a:t>
            </a:r>
            <a:endParaRPr lang="en-US" sz="1100" dirty="0"/>
          </a:p>
        </p:txBody>
      </p:sp>
      <p:sp>
        <p:nvSpPr>
          <p:cNvPr id="67" name="Shape 27">
            <a:extLst>
              <a:ext uri="{FF2B5EF4-FFF2-40B4-BE49-F238E27FC236}">
                <a16:creationId xmlns:a16="http://schemas.microsoft.com/office/drawing/2014/main" id="{DE0A07CD-C923-4F1E-BCB7-8B97576B1A25}"/>
              </a:ext>
            </a:extLst>
          </p:cNvPr>
          <p:cNvSpPr/>
          <p:nvPr/>
        </p:nvSpPr>
        <p:spPr>
          <a:xfrm>
            <a:off x="2026927" y="4962888"/>
            <a:ext cx="4114800" cy="658368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28">
            <a:extLst>
              <a:ext uri="{FF2B5EF4-FFF2-40B4-BE49-F238E27FC236}">
                <a16:creationId xmlns:a16="http://schemas.microsoft.com/office/drawing/2014/main" id="{218E90B3-857A-9B07-CB46-14231A640D56}"/>
              </a:ext>
            </a:extLst>
          </p:cNvPr>
          <p:cNvSpPr/>
          <p:nvPr/>
        </p:nvSpPr>
        <p:spPr>
          <a:xfrm>
            <a:off x="1990351" y="4926312"/>
            <a:ext cx="4114800" cy="658368"/>
          </a:xfrm>
          <a:prstGeom prst="rect">
            <a:avLst/>
          </a:prstGeom>
          <a:solidFill>
            <a:srgbClr val="FFF3E0"/>
          </a:solidFill>
          <a:ln w="1524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29">
            <a:extLst>
              <a:ext uri="{FF2B5EF4-FFF2-40B4-BE49-F238E27FC236}">
                <a16:creationId xmlns:a16="http://schemas.microsoft.com/office/drawing/2014/main" id="{B6702568-067E-0AB0-3F3B-160266B27019}"/>
              </a:ext>
            </a:extLst>
          </p:cNvPr>
          <p:cNvSpPr/>
          <p:nvPr/>
        </p:nvSpPr>
        <p:spPr>
          <a:xfrm>
            <a:off x="1990351" y="4926312"/>
            <a:ext cx="502920" cy="658368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30">
            <a:extLst>
              <a:ext uri="{FF2B5EF4-FFF2-40B4-BE49-F238E27FC236}">
                <a16:creationId xmlns:a16="http://schemas.microsoft.com/office/drawing/2014/main" id="{C793FF46-2992-50C7-90B1-7C7F5D746963}"/>
              </a:ext>
            </a:extLst>
          </p:cNvPr>
          <p:cNvSpPr/>
          <p:nvPr/>
        </p:nvSpPr>
        <p:spPr>
          <a:xfrm>
            <a:off x="1990351" y="492631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4</a:t>
            </a:r>
            <a:endParaRPr lang="en-US" sz="1100" dirty="0"/>
          </a:p>
        </p:txBody>
      </p:sp>
      <p:sp>
        <p:nvSpPr>
          <p:cNvPr id="71" name="Text 31">
            <a:extLst>
              <a:ext uri="{FF2B5EF4-FFF2-40B4-BE49-F238E27FC236}">
                <a16:creationId xmlns:a16="http://schemas.microsoft.com/office/drawing/2014/main" id="{E495B2E2-9090-C0C0-B106-E92792FB4B53}"/>
              </a:ext>
            </a:extLst>
          </p:cNvPr>
          <p:cNvSpPr/>
          <p:nvPr/>
        </p:nvSpPr>
        <p:spPr>
          <a:xfrm>
            <a:off x="2584711" y="496288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sumDigits</a:t>
            </a:r>
            <a:r>
              <a:rPr lang="en-US" sz="11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</a:t>
            </a:r>
            <a:endParaRPr lang="en-US" sz="1100" dirty="0"/>
          </a:p>
        </p:txBody>
      </p:sp>
      <p:sp>
        <p:nvSpPr>
          <p:cNvPr id="72" name="Text 32">
            <a:extLst>
              <a:ext uri="{FF2B5EF4-FFF2-40B4-BE49-F238E27FC236}">
                <a16:creationId xmlns:a16="http://schemas.microsoft.com/office/drawing/2014/main" id="{972BEBBF-2673-DE6A-DDD8-5D9609F0EB32}"/>
              </a:ext>
            </a:extLst>
          </p:cNvPr>
          <p:cNvSpPr/>
          <p:nvPr/>
        </p:nvSpPr>
        <p:spPr>
          <a:xfrm>
            <a:off x="2584711" y="52554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  ← BASE CASE</a:t>
            </a:r>
            <a:endParaRPr lang="en-US" sz="1000" dirty="0"/>
          </a:p>
        </p:txBody>
      </p:sp>
      <p:sp>
        <p:nvSpPr>
          <p:cNvPr id="73" name="Shape 33">
            <a:extLst>
              <a:ext uri="{FF2B5EF4-FFF2-40B4-BE49-F238E27FC236}">
                <a16:creationId xmlns:a16="http://schemas.microsoft.com/office/drawing/2014/main" id="{5E1D813D-C202-48D3-64D6-A84FC9C7DCAE}"/>
              </a:ext>
            </a:extLst>
          </p:cNvPr>
          <p:cNvSpPr/>
          <p:nvPr/>
        </p:nvSpPr>
        <p:spPr>
          <a:xfrm>
            <a:off x="2356111" y="3198096"/>
            <a:ext cx="0" cy="137160"/>
          </a:xfrm>
          <a:prstGeom prst="line">
            <a:avLst/>
          </a:prstGeom>
          <a:noFill/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34">
            <a:extLst>
              <a:ext uri="{FF2B5EF4-FFF2-40B4-BE49-F238E27FC236}">
                <a16:creationId xmlns:a16="http://schemas.microsoft.com/office/drawing/2014/main" id="{2D2D35E7-8542-4F06-556C-CFA0FC500980}"/>
              </a:ext>
            </a:extLst>
          </p:cNvPr>
          <p:cNvSpPr/>
          <p:nvPr/>
        </p:nvSpPr>
        <p:spPr>
          <a:xfrm>
            <a:off x="2218951" y="328953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75" name="Shape 35">
            <a:extLst>
              <a:ext uri="{FF2B5EF4-FFF2-40B4-BE49-F238E27FC236}">
                <a16:creationId xmlns:a16="http://schemas.microsoft.com/office/drawing/2014/main" id="{1F27A374-1CC1-EDA0-2FD9-74064C29FAC2}"/>
              </a:ext>
            </a:extLst>
          </p:cNvPr>
          <p:cNvSpPr/>
          <p:nvPr/>
        </p:nvSpPr>
        <p:spPr>
          <a:xfrm>
            <a:off x="2520703" y="3993624"/>
            <a:ext cx="0" cy="137160"/>
          </a:xfrm>
          <a:prstGeom prst="line">
            <a:avLst/>
          </a:prstGeom>
          <a:noFill/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36">
            <a:extLst>
              <a:ext uri="{FF2B5EF4-FFF2-40B4-BE49-F238E27FC236}">
                <a16:creationId xmlns:a16="http://schemas.microsoft.com/office/drawing/2014/main" id="{FC44E78D-51BE-994B-67C1-CE1580848481}"/>
              </a:ext>
            </a:extLst>
          </p:cNvPr>
          <p:cNvSpPr/>
          <p:nvPr/>
        </p:nvSpPr>
        <p:spPr>
          <a:xfrm>
            <a:off x="2383543" y="408506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79" name="Shape 39">
            <a:extLst>
              <a:ext uri="{FF2B5EF4-FFF2-40B4-BE49-F238E27FC236}">
                <a16:creationId xmlns:a16="http://schemas.microsoft.com/office/drawing/2014/main" id="{014E6347-3658-3F4E-14AB-9043CE34E5A5}"/>
              </a:ext>
            </a:extLst>
          </p:cNvPr>
          <p:cNvSpPr/>
          <p:nvPr/>
        </p:nvSpPr>
        <p:spPr>
          <a:xfrm>
            <a:off x="2694439" y="4789152"/>
            <a:ext cx="0" cy="137160"/>
          </a:xfrm>
          <a:prstGeom prst="line">
            <a:avLst/>
          </a:prstGeom>
          <a:noFill/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40">
            <a:extLst>
              <a:ext uri="{FF2B5EF4-FFF2-40B4-BE49-F238E27FC236}">
                <a16:creationId xmlns:a16="http://schemas.microsoft.com/office/drawing/2014/main" id="{89B61494-6B34-0C41-5D86-3A5104E011B9}"/>
              </a:ext>
            </a:extLst>
          </p:cNvPr>
          <p:cNvSpPr/>
          <p:nvPr/>
        </p:nvSpPr>
        <p:spPr>
          <a:xfrm>
            <a:off x="2557279" y="488059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81" name="Shape 3">
            <a:extLst>
              <a:ext uri="{FF2B5EF4-FFF2-40B4-BE49-F238E27FC236}">
                <a16:creationId xmlns:a16="http://schemas.microsoft.com/office/drawing/2014/main" id="{86B39D9A-52F0-3C73-4CDB-FA961B86CC03}"/>
              </a:ext>
            </a:extLst>
          </p:cNvPr>
          <p:cNvSpPr/>
          <p:nvPr/>
        </p:nvSpPr>
        <p:spPr>
          <a:xfrm>
            <a:off x="7303180" y="2105841"/>
            <a:ext cx="3447109" cy="140353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4">
            <a:extLst>
              <a:ext uri="{FF2B5EF4-FFF2-40B4-BE49-F238E27FC236}">
                <a16:creationId xmlns:a16="http://schemas.microsoft.com/office/drawing/2014/main" id="{186F4AA4-BFAC-CDBE-24E1-DBF8F8FF3CF3}"/>
              </a:ext>
            </a:extLst>
          </p:cNvPr>
          <p:cNvSpPr/>
          <p:nvPr/>
        </p:nvSpPr>
        <p:spPr>
          <a:xfrm>
            <a:off x="7257460" y="2050977"/>
            <a:ext cx="3447109" cy="1378023"/>
          </a:xfrm>
          <a:prstGeom prst="rect">
            <a:avLst/>
          </a:prstGeom>
          <a:solidFill>
            <a:schemeClr val="bg1"/>
          </a:solidFill>
          <a:ln w="254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5" name="Text 7">
            <a:extLst>
              <a:ext uri="{FF2B5EF4-FFF2-40B4-BE49-F238E27FC236}">
                <a16:creationId xmlns:a16="http://schemas.microsoft.com/office/drawing/2014/main" id="{35064394-9A04-8C89-896E-4DD0E30FE7E6}"/>
              </a:ext>
            </a:extLst>
          </p:cNvPr>
          <p:cNvSpPr/>
          <p:nvPr/>
        </p:nvSpPr>
        <p:spPr>
          <a:xfrm>
            <a:off x="7851820" y="2188137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stack grows first</a:t>
            </a:r>
            <a:endParaRPr lang="en-US" sz="1400" dirty="0"/>
          </a:p>
        </p:txBody>
      </p:sp>
      <p:sp>
        <p:nvSpPr>
          <p:cNvPr id="86" name="Text 8">
            <a:extLst>
              <a:ext uri="{FF2B5EF4-FFF2-40B4-BE49-F238E27FC236}">
                <a16:creationId xmlns:a16="http://schemas.microsoft.com/office/drawing/2014/main" id="{1310DF35-E8C4-8534-8EEA-FA83BB622FE6}"/>
              </a:ext>
            </a:extLst>
          </p:cNvPr>
          <p:cNvSpPr/>
          <p:nvPr/>
        </p:nvSpPr>
        <p:spPr>
          <a:xfrm>
            <a:off x="7851820" y="2615034"/>
            <a:ext cx="2505280" cy="608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1234 → 123 → 12 → 1 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Each call waits for the next.</a:t>
            </a:r>
            <a:endParaRPr lang="en-US" sz="1100" dirty="0"/>
          </a:p>
        </p:txBody>
      </p:sp>
      <p:sp>
        <p:nvSpPr>
          <p:cNvPr id="87" name="Shape 9">
            <a:extLst>
              <a:ext uri="{FF2B5EF4-FFF2-40B4-BE49-F238E27FC236}">
                <a16:creationId xmlns:a16="http://schemas.microsoft.com/office/drawing/2014/main" id="{F9647211-9090-18D6-CA32-D3842D2821FC}"/>
              </a:ext>
            </a:extLst>
          </p:cNvPr>
          <p:cNvSpPr/>
          <p:nvPr/>
        </p:nvSpPr>
        <p:spPr>
          <a:xfrm>
            <a:off x="7315675" y="3905292"/>
            <a:ext cx="3447105" cy="1349823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10">
            <a:extLst>
              <a:ext uri="{FF2B5EF4-FFF2-40B4-BE49-F238E27FC236}">
                <a16:creationId xmlns:a16="http://schemas.microsoft.com/office/drawing/2014/main" id="{C640F936-36FF-004A-628E-57C98903197C}"/>
              </a:ext>
            </a:extLst>
          </p:cNvPr>
          <p:cNvSpPr/>
          <p:nvPr/>
        </p:nvSpPr>
        <p:spPr>
          <a:xfrm>
            <a:off x="7257464" y="3826691"/>
            <a:ext cx="3447105" cy="1349823"/>
          </a:xfrm>
          <a:prstGeom prst="rect">
            <a:avLst/>
          </a:prstGeom>
          <a:solidFill>
            <a:schemeClr val="bg1"/>
          </a:solidFill>
          <a:ln w="254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13">
            <a:extLst>
              <a:ext uri="{FF2B5EF4-FFF2-40B4-BE49-F238E27FC236}">
                <a16:creationId xmlns:a16="http://schemas.microsoft.com/office/drawing/2014/main" id="{CFA8DB60-EFEE-8171-FD2C-13015840056C}"/>
              </a:ext>
            </a:extLst>
          </p:cNvPr>
          <p:cNvSpPr/>
          <p:nvPr/>
        </p:nvSpPr>
        <p:spPr>
          <a:xfrm>
            <a:off x="7806104" y="3993624"/>
            <a:ext cx="253288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86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Nothing gets computed yet</a:t>
            </a:r>
            <a:endParaRPr lang="en-US" sz="1400" dirty="0"/>
          </a:p>
        </p:txBody>
      </p:sp>
      <p:sp>
        <p:nvSpPr>
          <p:cNvPr id="92" name="Text 14">
            <a:extLst>
              <a:ext uri="{FF2B5EF4-FFF2-40B4-BE49-F238E27FC236}">
                <a16:creationId xmlns:a16="http://schemas.microsoft.com/office/drawing/2014/main" id="{09C73F28-88AF-CC34-3E2D-32961A3685DD}"/>
              </a:ext>
            </a:extLst>
          </p:cNvPr>
          <p:cNvSpPr/>
          <p:nvPr/>
        </p:nvSpPr>
        <p:spPr>
          <a:xfrm>
            <a:off x="7335187" y="4484730"/>
            <a:ext cx="3474720" cy="4261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Everyone is waiting.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No addition happens during the call phase.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9080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9" grpId="0" animBg="1"/>
      <p:bldP spid="80" grpId="0" animBg="1"/>
      <p:bldP spid="81" grpId="0" animBg="1"/>
      <p:bldP spid="82" grpId="0" animBg="1"/>
      <p:bldP spid="85" grpId="0" animBg="1"/>
      <p:bldP spid="86" grpId="0" animBg="1"/>
      <p:bldP spid="87" grpId="0" animBg="1"/>
      <p:bldP spid="88" grpId="0" animBg="1"/>
      <p:bldP spid="91" grpId="0" animBg="1"/>
      <p:bldP spid="9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89429-6DCC-D2EB-4E72-6C8FE9BDB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558FB-DA6D-8767-6625-D095B6359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Recursive </a:t>
            </a:r>
            <a:r>
              <a:rPr lang="en-US" b="1" dirty="0" err="1">
                <a:solidFill>
                  <a:srgbClr val="C00000"/>
                </a:solidFill>
              </a:rPr>
              <a:t>sumDigits</a:t>
            </a:r>
            <a:r>
              <a:rPr lang="en-US" b="1" dirty="0">
                <a:solidFill>
                  <a:srgbClr val="C00000"/>
                </a:solidFill>
              </a:rPr>
              <a:t>(n)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Phase 2: The Unwinding Phase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7D017-035C-841D-FFCB-75E046A63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A4D99804-6605-47FA-3450-DD58A14ACF15}"/>
              </a:ext>
            </a:extLst>
          </p:cNvPr>
          <p:cNvSpPr/>
          <p:nvPr/>
        </p:nvSpPr>
        <p:spPr>
          <a:xfrm>
            <a:off x="1881941" y="2379322"/>
            <a:ext cx="4114800" cy="658368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DA31215C-6454-1933-CB65-484FE506A417}"/>
              </a:ext>
            </a:extLst>
          </p:cNvPr>
          <p:cNvSpPr/>
          <p:nvPr/>
        </p:nvSpPr>
        <p:spPr>
          <a:xfrm>
            <a:off x="1845365" y="2342746"/>
            <a:ext cx="4114800" cy="658368"/>
          </a:xfrm>
          <a:prstGeom prst="rect">
            <a:avLst/>
          </a:prstGeom>
          <a:solidFill>
            <a:srgbClr val="FFF3E0"/>
          </a:solidFill>
          <a:ln w="1905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01A3992E-51E4-E759-58E6-02C1BEFFACD3}"/>
              </a:ext>
            </a:extLst>
          </p:cNvPr>
          <p:cNvSpPr/>
          <p:nvPr/>
        </p:nvSpPr>
        <p:spPr>
          <a:xfrm>
            <a:off x="1845365" y="2342746"/>
            <a:ext cx="502920" cy="658368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99D570D5-40AF-F346-9F34-EFB904B80F57}"/>
              </a:ext>
            </a:extLst>
          </p:cNvPr>
          <p:cNvSpPr/>
          <p:nvPr/>
        </p:nvSpPr>
        <p:spPr>
          <a:xfrm>
            <a:off x="1845365" y="2342746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4</a:t>
            </a:r>
            <a:endParaRPr lang="en-US" sz="11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0B530A2-48A4-2526-4AD8-BC8FC3C7CF00}"/>
              </a:ext>
            </a:extLst>
          </p:cNvPr>
          <p:cNvSpPr/>
          <p:nvPr/>
        </p:nvSpPr>
        <p:spPr>
          <a:xfrm>
            <a:off x="2439725" y="237932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sumDigits</a:t>
            </a:r>
            <a:r>
              <a:rPr lang="en-US" sz="10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(1)</a:t>
            </a:r>
            <a:endParaRPr lang="en-US" sz="105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33CBB377-BE19-6148-3832-9BF6FF3C31C4}"/>
              </a:ext>
            </a:extLst>
          </p:cNvPr>
          <p:cNvSpPr/>
          <p:nvPr/>
        </p:nvSpPr>
        <p:spPr>
          <a:xfrm>
            <a:off x="2439725" y="267193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1000" b="1" dirty="0">
                <a:solidFill>
                  <a:srgbClr val="80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b="1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A4E91159-26BF-F3B7-CB5C-566F5BC9B715}"/>
              </a:ext>
            </a:extLst>
          </p:cNvPr>
          <p:cNvSpPr/>
          <p:nvPr/>
        </p:nvSpPr>
        <p:spPr>
          <a:xfrm>
            <a:off x="4908605" y="2507338"/>
            <a:ext cx="1097280" cy="31089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D74BC4D4-A923-BE76-0F6B-07DC30A2DF96}"/>
              </a:ext>
            </a:extLst>
          </p:cNvPr>
          <p:cNvSpPr/>
          <p:nvPr/>
        </p:nvSpPr>
        <p:spPr>
          <a:xfrm>
            <a:off x="4908605" y="250733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→ 1</a:t>
            </a:r>
            <a:endParaRPr lang="en-US" sz="900" dirty="0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F2AB998B-0BEC-F583-73DB-4EAD0BB1E3E1}"/>
              </a:ext>
            </a:extLst>
          </p:cNvPr>
          <p:cNvSpPr/>
          <p:nvPr/>
        </p:nvSpPr>
        <p:spPr>
          <a:xfrm>
            <a:off x="1724207" y="3178779"/>
            <a:ext cx="4114800" cy="658368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EEB0F854-4D80-E2F9-27C3-B9761C0538E4}"/>
              </a:ext>
            </a:extLst>
          </p:cNvPr>
          <p:cNvSpPr/>
          <p:nvPr/>
        </p:nvSpPr>
        <p:spPr>
          <a:xfrm>
            <a:off x="1687631" y="3142203"/>
            <a:ext cx="4114800" cy="658368"/>
          </a:xfrm>
          <a:prstGeom prst="rect">
            <a:avLst/>
          </a:prstGeom>
          <a:solidFill>
            <a:srgbClr val="EBF5FF"/>
          </a:solidFill>
          <a:ln w="19050">
            <a:solidFill>
              <a:srgbClr val="AAC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42EA3DD4-7E7D-9E0F-9DD4-875F540D9F52}"/>
              </a:ext>
            </a:extLst>
          </p:cNvPr>
          <p:cNvSpPr/>
          <p:nvPr/>
        </p:nvSpPr>
        <p:spPr>
          <a:xfrm>
            <a:off x="1687631" y="3142203"/>
            <a:ext cx="502920" cy="65836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F13C2369-1ADC-0568-C811-F46236FAA478}"/>
              </a:ext>
            </a:extLst>
          </p:cNvPr>
          <p:cNvSpPr/>
          <p:nvPr/>
        </p:nvSpPr>
        <p:spPr>
          <a:xfrm>
            <a:off x="1687631" y="3142203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3</a:t>
            </a:r>
            <a:endParaRPr lang="en-US" sz="110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81F23DA6-F89C-45A8-2E84-FBA29D72B5CD}"/>
              </a:ext>
            </a:extLst>
          </p:cNvPr>
          <p:cNvSpPr/>
          <p:nvPr/>
        </p:nvSpPr>
        <p:spPr>
          <a:xfrm>
            <a:off x="2281991" y="3178779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sumDigits(12)</a:t>
            </a:r>
            <a:endParaRPr lang="en-US" sz="1050" dirty="0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58FEEF70-E5A1-4FE1-77E3-33FA70D1370D}"/>
              </a:ext>
            </a:extLst>
          </p:cNvPr>
          <p:cNvSpPr/>
          <p:nvPr/>
        </p:nvSpPr>
        <p:spPr>
          <a:xfrm>
            <a:off x="2281991" y="3471387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 + 2 = </a:t>
            </a:r>
            <a:r>
              <a:rPr lang="en-US" sz="1000" b="1" dirty="0">
                <a:solidFill>
                  <a:srgbClr val="80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b="1" dirty="0"/>
          </a:p>
        </p:txBody>
      </p:sp>
      <p:sp>
        <p:nvSpPr>
          <p:cNvPr id="26" name="Shape 25">
            <a:extLst>
              <a:ext uri="{FF2B5EF4-FFF2-40B4-BE49-F238E27FC236}">
                <a16:creationId xmlns:a16="http://schemas.microsoft.com/office/drawing/2014/main" id="{B7DFB783-7332-AB8F-9AB8-E5B93E8540E7}"/>
              </a:ext>
            </a:extLst>
          </p:cNvPr>
          <p:cNvSpPr/>
          <p:nvPr/>
        </p:nvSpPr>
        <p:spPr>
          <a:xfrm>
            <a:off x="4750871" y="3306795"/>
            <a:ext cx="1097280" cy="31089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1ED83716-5B1F-31FB-E8B5-A914CCA5CE18}"/>
              </a:ext>
            </a:extLst>
          </p:cNvPr>
          <p:cNvSpPr/>
          <p:nvPr/>
        </p:nvSpPr>
        <p:spPr>
          <a:xfrm>
            <a:off x="4750871" y="3306795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→ 3</a:t>
            </a:r>
            <a:endParaRPr lang="en-US" sz="900" dirty="0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25984E37-E3B2-8101-4D4A-314F6947F675}"/>
              </a:ext>
            </a:extLst>
          </p:cNvPr>
          <p:cNvSpPr/>
          <p:nvPr/>
        </p:nvSpPr>
        <p:spPr>
          <a:xfrm>
            <a:off x="1559615" y="3974307"/>
            <a:ext cx="4114800" cy="658368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6F8D65F1-3701-2F52-1C51-0A36E0B081E2}"/>
              </a:ext>
            </a:extLst>
          </p:cNvPr>
          <p:cNvSpPr/>
          <p:nvPr/>
        </p:nvSpPr>
        <p:spPr>
          <a:xfrm>
            <a:off x="1523039" y="3937731"/>
            <a:ext cx="4114800" cy="658368"/>
          </a:xfrm>
          <a:prstGeom prst="rect">
            <a:avLst/>
          </a:prstGeom>
          <a:solidFill>
            <a:srgbClr val="EBF5FF"/>
          </a:solidFill>
          <a:ln w="19050">
            <a:solidFill>
              <a:srgbClr val="AAC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C9BEFE6C-7883-129A-5278-22E2B5C9007A}"/>
              </a:ext>
            </a:extLst>
          </p:cNvPr>
          <p:cNvSpPr/>
          <p:nvPr/>
        </p:nvSpPr>
        <p:spPr>
          <a:xfrm>
            <a:off x="1523039" y="3937731"/>
            <a:ext cx="502920" cy="658368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DFC4EF21-646B-80C9-66A2-EBCBDF12FC12}"/>
              </a:ext>
            </a:extLst>
          </p:cNvPr>
          <p:cNvSpPr/>
          <p:nvPr/>
        </p:nvSpPr>
        <p:spPr>
          <a:xfrm>
            <a:off x="1523039" y="3937731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2</a:t>
            </a:r>
            <a:endParaRPr lang="en-US" sz="1100" dirty="0"/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AFB1D3E6-EBC5-B096-B85C-B561388334AE}"/>
              </a:ext>
            </a:extLst>
          </p:cNvPr>
          <p:cNvSpPr/>
          <p:nvPr/>
        </p:nvSpPr>
        <p:spPr>
          <a:xfrm>
            <a:off x="2117399" y="3974307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sumDigits(123)</a:t>
            </a:r>
            <a:endParaRPr lang="en-US" sz="1050" dirty="0"/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5DCA8A33-02CB-35D9-84DC-9CA849924C9B}"/>
              </a:ext>
            </a:extLst>
          </p:cNvPr>
          <p:cNvSpPr/>
          <p:nvPr/>
        </p:nvSpPr>
        <p:spPr>
          <a:xfrm>
            <a:off x="2117399" y="4266915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 + 3 = </a:t>
            </a:r>
            <a:r>
              <a:rPr lang="en-US" sz="1000" b="1" dirty="0">
                <a:solidFill>
                  <a:srgbClr val="80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b="1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07E07350-FB79-285F-B8C5-B9EF17789E44}"/>
              </a:ext>
            </a:extLst>
          </p:cNvPr>
          <p:cNvSpPr/>
          <p:nvPr/>
        </p:nvSpPr>
        <p:spPr>
          <a:xfrm>
            <a:off x="4586279" y="4102323"/>
            <a:ext cx="1097280" cy="31089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68C62229-4721-E36A-2F7E-B98AAE07CD6D}"/>
              </a:ext>
            </a:extLst>
          </p:cNvPr>
          <p:cNvSpPr/>
          <p:nvPr/>
        </p:nvSpPr>
        <p:spPr>
          <a:xfrm>
            <a:off x="4586279" y="4102323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→ 6</a:t>
            </a:r>
            <a:endParaRPr lang="en-US" sz="900" dirty="0"/>
          </a:p>
        </p:txBody>
      </p:sp>
      <p:sp>
        <p:nvSpPr>
          <p:cNvPr id="36" name="Shape 35">
            <a:extLst>
              <a:ext uri="{FF2B5EF4-FFF2-40B4-BE49-F238E27FC236}">
                <a16:creationId xmlns:a16="http://schemas.microsoft.com/office/drawing/2014/main" id="{E171C32A-41A7-F046-9418-8079EB6143EF}"/>
              </a:ext>
            </a:extLst>
          </p:cNvPr>
          <p:cNvSpPr/>
          <p:nvPr/>
        </p:nvSpPr>
        <p:spPr>
          <a:xfrm>
            <a:off x="1395023" y="4769835"/>
            <a:ext cx="4114800" cy="658368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C11E9D27-C95E-10C2-7442-C471D0C56729}"/>
              </a:ext>
            </a:extLst>
          </p:cNvPr>
          <p:cNvSpPr/>
          <p:nvPr/>
        </p:nvSpPr>
        <p:spPr>
          <a:xfrm>
            <a:off x="1358447" y="4733259"/>
            <a:ext cx="4114800" cy="658368"/>
          </a:xfrm>
          <a:prstGeom prst="rect">
            <a:avLst/>
          </a:prstGeom>
          <a:solidFill>
            <a:srgbClr val="E6F9EE"/>
          </a:solidFill>
          <a:ln w="19050">
            <a:solidFill>
              <a:srgbClr val="3CB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7">
            <a:extLst>
              <a:ext uri="{FF2B5EF4-FFF2-40B4-BE49-F238E27FC236}">
                <a16:creationId xmlns:a16="http://schemas.microsoft.com/office/drawing/2014/main" id="{A396C967-A178-2D16-7032-F5516AE905D2}"/>
              </a:ext>
            </a:extLst>
          </p:cNvPr>
          <p:cNvSpPr/>
          <p:nvPr/>
        </p:nvSpPr>
        <p:spPr>
          <a:xfrm>
            <a:off x="1358447" y="4733259"/>
            <a:ext cx="502920" cy="658368"/>
          </a:xfrm>
          <a:prstGeom prst="rect">
            <a:avLst/>
          </a:prstGeom>
          <a:solidFill>
            <a:srgbClr val="3CB87A"/>
          </a:solidFill>
          <a:ln w="12700">
            <a:solidFill>
              <a:srgbClr val="3CB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8">
            <a:extLst>
              <a:ext uri="{FF2B5EF4-FFF2-40B4-BE49-F238E27FC236}">
                <a16:creationId xmlns:a16="http://schemas.microsoft.com/office/drawing/2014/main" id="{661EFE50-30D8-EC6C-D3F1-B2340512C379}"/>
              </a:ext>
            </a:extLst>
          </p:cNvPr>
          <p:cNvSpPr/>
          <p:nvPr/>
        </p:nvSpPr>
        <p:spPr>
          <a:xfrm>
            <a:off x="1358447" y="4733259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1</a:t>
            </a:r>
            <a:endParaRPr lang="en-US" sz="1100" dirty="0"/>
          </a:p>
        </p:txBody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C4AA38DD-A212-8933-C014-FE39FB047723}"/>
              </a:ext>
            </a:extLst>
          </p:cNvPr>
          <p:cNvSpPr/>
          <p:nvPr/>
        </p:nvSpPr>
        <p:spPr>
          <a:xfrm>
            <a:off x="1952807" y="4769835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sumDigits(1234)</a:t>
            </a:r>
            <a:endParaRPr lang="en-US" sz="1050" dirty="0"/>
          </a:p>
        </p:txBody>
      </p:sp>
      <p:sp>
        <p:nvSpPr>
          <p:cNvPr id="41" name="Text 40">
            <a:extLst>
              <a:ext uri="{FF2B5EF4-FFF2-40B4-BE49-F238E27FC236}">
                <a16:creationId xmlns:a16="http://schemas.microsoft.com/office/drawing/2014/main" id="{6CEBB256-D392-98A4-126B-294C9F42F2BC}"/>
              </a:ext>
            </a:extLst>
          </p:cNvPr>
          <p:cNvSpPr/>
          <p:nvPr/>
        </p:nvSpPr>
        <p:spPr>
          <a:xfrm>
            <a:off x="1952807" y="5062443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6 + 4 = </a:t>
            </a:r>
            <a:r>
              <a:rPr lang="en-US" sz="1000" b="1" dirty="0">
                <a:solidFill>
                  <a:srgbClr val="8090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b="1" dirty="0"/>
          </a:p>
        </p:txBody>
      </p:sp>
      <p:sp>
        <p:nvSpPr>
          <p:cNvPr id="42" name="Shape 41">
            <a:extLst>
              <a:ext uri="{FF2B5EF4-FFF2-40B4-BE49-F238E27FC236}">
                <a16:creationId xmlns:a16="http://schemas.microsoft.com/office/drawing/2014/main" id="{09737D2B-E8ED-42A2-A96C-CA135F02E476}"/>
              </a:ext>
            </a:extLst>
          </p:cNvPr>
          <p:cNvSpPr/>
          <p:nvPr/>
        </p:nvSpPr>
        <p:spPr>
          <a:xfrm>
            <a:off x="4421687" y="4897851"/>
            <a:ext cx="1097280" cy="310896"/>
          </a:xfrm>
          <a:prstGeom prst="rect">
            <a:avLst/>
          </a:prstGeom>
          <a:solidFill>
            <a:srgbClr val="3CB87A"/>
          </a:solidFill>
          <a:ln w="12700">
            <a:solidFill>
              <a:srgbClr val="3CB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42">
            <a:extLst>
              <a:ext uri="{FF2B5EF4-FFF2-40B4-BE49-F238E27FC236}">
                <a16:creationId xmlns:a16="http://schemas.microsoft.com/office/drawing/2014/main" id="{B6A1A67C-6824-41EB-05A3-64C25D831D60}"/>
              </a:ext>
            </a:extLst>
          </p:cNvPr>
          <p:cNvSpPr/>
          <p:nvPr/>
        </p:nvSpPr>
        <p:spPr>
          <a:xfrm>
            <a:off x="4421687" y="4897851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= 10 ✓</a:t>
            </a:r>
            <a:endParaRPr lang="en-US" sz="900" dirty="0"/>
          </a:p>
        </p:txBody>
      </p:sp>
      <p:sp>
        <p:nvSpPr>
          <p:cNvPr id="82" name="Text 43">
            <a:extLst>
              <a:ext uri="{FF2B5EF4-FFF2-40B4-BE49-F238E27FC236}">
                <a16:creationId xmlns:a16="http://schemas.microsoft.com/office/drawing/2014/main" id="{0169FD57-5E6C-862F-2337-B3159E9708B4}"/>
              </a:ext>
            </a:extLst>
          </p:cNvPr>
          <p:cNvSpPr/>
          <p:nvPr/>
        </p:nvSpPr>
        <p:spPr>
          <a:xfrm rot="10800000">
            <a:off x="2576885" y="3008887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C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900" dirty="0"/>
          </a:p>
        </p:txBody>
      </p:sp>
      <p:sp>
        <p:nvSpPr>
          <p:cNvPr id="83" name="Text 44">
            <a:extLst>
              <a:ext uri="{FF2B5EF4-FFF2-40B4-BE49-F238E27FC236}">
                <a16:creationId xmlns:a16="http://schemas.microsoft.com/office/drawing/2014/main" id="{0213D050-8FF9-770B-36C1-1D02433DBAF9}"/>
              </a:ext>
            </a:extLst>
          </p:cNvPr>
          <p:cNvSpPr/>
          <p:nvPr/>
        </p:nvSpPr>
        <p:spPr>
          <a:xfrm rot="10800000">
            <a:off x="2583743" y="3008887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C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900" dirty="0"/>
          </a:p>
        </p:txBody>
      </p:sp>
      <p:sp>
        <p:nvSpPr>
          <p:cNvPr id="84" name="Text 45">
            <a:extLst>
              <a:ext uri="{FF2B5EF4-FFF2-40B4-BE49-F238E27FC236}">
                <a16:creationId xmlns:a16="http://schemas.microsoft.com/office/drawing/2014/main" id="{F40B491C-30DC-591A-C01B-F1371D98BA9A}"/>
              </a:ext>
            </a:extLst>
          </p:cNvPr>
          <p:cNvSpPr/>
          <p:nvPr/>
        </p:nvSpPr>
        <p:spPr>
          <a:xfrm rot="10800000">
            <a:off x="2419151" y="3816193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C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900" dirty="0"/>
          </a:p>
        </p:txBody>
      </p:sp>
      <p:sp>
        <p:nvSpPr>
          <p:cNvPr id="85" name="Text 46">
            <a:extLst>
              <a:ext uri="{FF2B5EF4-FFF2-40B4-BE49-F238E27FC236}">
                <a16:creationId xmlns:a16="http://schemas.microsoft.com/office/drawing/2014/main" id="{370D99AB-C1BD-31E5-00A8-584582116DF7}"/>
              </a:ext>
            </a:extLst>
          </p:cNvPr>
          <p:cNvSpPr/>
          <p:nvPr/>
        </p:nvSpPr>
        <p:spPr>
          <a:xfrm rot="10800000">
            <a:off x="2254559" y="4599947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C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900" dirty="0"/>
          </a:p>
        </p:txBody>
      </p:sp>
      <p:sp>
        <p:nvSpPr>
          <p:cNvPr id="98" name="Shape 15">
            <a:extLst>
              <a:ext uri="{FF2B5EF4-FFF2-40B4-BE49-F238E27FC236}">
                <a16:creationId xmlns:a16="http://schemas.microsoft.com/office/drawing/2014/main" id="{6BC3A430-ED1F-7753-73B9-BB88FC28E8D8}"/>
              </a:ext>
            </a:extLst>
          </p:cNvPr>
          <p:cNvSpPr/>
          <p:nvPr/>
        </p:nvSpPr>
        <p:spPr>
          <a:xfrm>
            <a:off x="7478069" y="2260450"/>
            <a:ext cx="3648457" cy="1374621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16">
            <a:extLst>
              <a:ext uri="{FF2B5EF4-FFF2-40B4-BE49-F238E27FC236}">
                <a16:creationId xmlns:a16="http://schemas.microsoft.com/office/drawing/2014/main" id="{B54D11E7-C8D8-058A-4519-9C0A8124330C}"/>
              </a:ext>
            </a:extLst>
          </p:cNvPr>
          <p:cNvSpPr/>
          <p:nvPr/>
        </p:nvSpPr>
        <p:spPr>
          <a:xfrm>
            <a:off x="7432349" y="2205586"/>
            <a:ext cx="3648457" cy="1374621"/>
          </a:xfrm>
          <a:prstGeom prst="rect">
            <a:avLst/>
          </a:prstGeom>
          <a:solidFill>
            <a:schemeClr val="bg1"/>
          </a:solidFill>
          <a:ln w="25400">
            <a:solidFill>
              <a:srgbClr val="E88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9">
            <a:extLst>
              <a:ext uri="{FF2B5EF4-FFF2-40B4-BE49-F238E27FC236}">
                <a16:creationId xmlns:a16="http://schemas.microsoft.com/office/drawing/2014/main" id="{62F6F886-E930-CA6E-C1AD-7CB771E6FEA0}"/>
              </a:ext>
            </a:extLst>
          </p:cNvPr>
          <p:cNvSpPr/>
          <p:nvPr/>
        </p:nvSpPr>
        <p:spPr>
          <a:xfrm>
            <a:off x="7583533" y="234274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3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base case unlocks everything</a:t>
            </a:r>
            <a:endParaRPr lang="en-US" sz="1400" dirty="0"/>
          </a:p>
        </p:txBody>
      </p:sp>
      <p:sp>
        <p:nvSpPr>
          <p:cNvPr id="103" name="Text 20">
            <a:extLst>
              <a:ext uri="{FF2B5EF4-FFF2-40B4-BE49-F238E27FC236}">
                <a16:creationId xmlns:a16="http://schemas.microsoft.com/office/drawing/2014/main" id="{F5BC932C-B5BF-6C2A-34C3-078FB9441F78}"/>
              </a:ext>
            </a:extLst>
          </p:cNvPr>
          <p:cNvSpPr/>
          <p:nvPr/>
        </p:nvSpPr>
        <p:spPr>
          <a:xfrm>
            <a:off x="7583533" y="2754226"/>
            <a:ext cx="3474720" cy="7436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sumDigits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(1) = 1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the trigger that starts unwinding.</a:t>
            </a:r>
            <a:endParaRPr lang="en-US" sz="1100" dirty="0"/>
          </a:p>
        </p:txBody>
      </p:sp>
      <p:sp>
        <p:nvSpPr>
          <p:cNvPr id="104" name="Shape 21">
            <a:extLst>
              <a:ext uri="{FF2B5EF4-FFF2-40B4-BE49-F238E27FC236}">
                <a16:creationId xmlns:a16="http://schemas.microsoft.com/office/drawing/2014/main" id="{322248E8-B45C-AEDE-AA0C-A387246AE417}"/>
              </a:ext>
            </a:extLst>
          </p:cNvPr>
          <p:cNvSpPr/>
          <p:nvPr/>
        </p:nvSpPr>
        <p:spPr>
          <a:xfrm>
            <a:off x="7478069" y="4045041"/>
            <a:ext cx="3694176" cy="1289304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22">
            <a:extLst>
              <a:ext uri="{FF2B5EF4-FFF2-40B4-BE49-F238E27FC236}">
                <a16:creationId xmlns:a16="http://schemas.microsoft.com/office/drawing/2014/main" id="{5F61B413-6A57-5A3F-545A-AF0F9DBC16B2}"/>
              </a:ext>
            </a:extLst>
          </p:cNvPr>
          <p:cNvSpPr/>
          <p:nvPr/>
        </p:nvSpPr>
        <p:spPr>
          <a:xfrm>
            <a:off x="7432349" y="3990177"/>
            <a:ext cx="3694176" cy="1289304"/>
          </a:xfrm>
          <a:prstGeom prst="rect">
            <a:avLst/>
          </a:prstGeom>
          <a:solidFill>
            <a:schemeClr val="bg1"/>
          </a:solidFill>
          <a:ln w="25400">
            <a:solidFill>
              <a:srgbClr val="3CB8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25">
            <a:extLst>
              <a:ext uri="{FF2B5EF4-FFF2-40B4-BE49-F238E27FC236}">
                <a16:creationId xmlns:a16="http://schemas.microsoft.com/office/drawing/2014/main" id="{C086F418-3F32-ED19-CEF7-ED426A02834C}"/>
              </a:ext>
            </a:extLst>
          </p:cNvPr>
          <p:cNvSpPr/>
          <p:nvPr/>
        </p:nvSpPr>
        <p:spPr>
          <a:xfrm>
            <a:off x="7583533" y="4127337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B8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travel back up</a:t>
            </a:r>
            <a:endParaRPr lang="en-US" sz="1400" dirty="0"/>
          </a:p>
        </p:txBody>
      </p:sp>
      <p:sp>
        <p:nvSpPr>
          <p:cNvPr id="109" name="Text 26">
            <a:extLst>
              <a:ext uri="{FF2B5EF4-FFF2-40B4-BE49-F238E27FC236}">
                <a16:creationId xmlns:a16="http://schemas.microsoft.com/office/drawing/2014/main" id="{EDECEE65-6D63-D034-543C-EC1239588C29}"/>
              </a:ext>
            </a:extLst>
          </p:cNvPr>
          <p:cNvSpPr/>
          <p:nvPr/>
        </p:nvSpPr>
        <p:spPr>
          <a:xfrm>
            <a:off x="7590737" y="4538817"/>
            <a:ext cx="3694176" cy="6379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1 → 3 → 6 → 10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Each return adds its digit and passes it up.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8095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98" grpId="0" animBg="1"/>
      <p:bldP spid="99" grpId="0" animBg="1"/>
      <p:bldP spid="102" grpId="0" animBg="1"/>
      <p:bldP spid="103" grpId="0" animBg="1"/>
      <p:bldP spid="104" grpId="0" animBg="1"/>
      <p:bldP spid="105" grpId="0" animBg="1"/>
      <p:bldP spid="108" grpId="0" animBg="1"/>
      <p:bldP spid="10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cursion explained: to understand ...">
            <a:extLst>
              <a:ext uri="{FF2B5EF4-FFF2-40B4-BE49-F238E27FC236}">
                <a16:creationId xmlns:a16="http://schemas.microsoft.com/office/drawing/2014/main" id="{7E580D47-6CAC-BFD6-CD81-885E59EC8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486" y="3621550"/>
            <a:ext cx="4135870" cy="231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33743-9BB1-60FE-E15B-41ED9C34A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635" y="5810533"/>
            <a:ext cx="10546016" cy="100321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"Recursion is like asking someone else to solve a smaller version of your problem. Once the smallest problem is solved, the answers travel back up."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E10E4-7CE6-C43F-197A-8C98F5F35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C276775-3F20-B8DD-8972-FDF849EEA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20675"/>
            <a:ext cx="8228013" cy="105568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Recursion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35A292-759D-CB41-FBA9-BCF29A3527B5}"/>
              </a:ext>
            </a:extLst>
          </p:cNvPr>
          <p:cNvSpPr>
            <a:spLocks noGrp="1"/>
          </p:cNvSpPr>
          <p:nvPr/>
        </p:nvSpPr>
        <p:spPr>
          <a:xfrm>
            <a:off x="992234" y="1598212"/>
            <a:ext cx="10546016" cy="4046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Recursion is </a:t>
            </a:r>
            <a:r>
              <a:rPr lang="en-US" dirty="0"/>
              <a:t>a programming style </a:t>
            </a:r>
            <a:r>
              <a:rPr dirty="0"/>
              <a:t>whe</a:t>
            </a:r>
            <a:r>
              <a:rPr lang="en-US" dirty="0"/>
              <a:t>re</a:t>
            </a:r>
            <a:r>
              <a:rPr dirty="0"/>
              <a:t> a function solves a problem by calling itself.</a:t>
            </a:r>
            <a:endParaRPr lang="en-US" dirty="0"/>
          </a:p>
          <a:p>
            <a:pPr lvl="1"/>
            <a:r>
              <a:rPr lang="en-US" dirty="0"/>
              <a:t> Some programming languages are built with </a:t>
            </a:r>
            <a:r>
              <a:rPr lang="en-US" dirty="0" err="1"/>
              <a:t>recusion</a:t>
            </a:r>
            <a:r>
              <a:rPr lang="en-US" dirty="0"/>
              <a:t> (no loops)</a:t>
            </a:r>
            <a:endParaRPr dirty="0"/>
          </a:p>
          <a:p>
            <a:r>
              <a:rPr dirty="0"/>
              <a:t>Each call works on a smaller version of the same problem.</a:t>
            </a:r>
          </a:p>
          <a:p>
            <a:r>
              <a:rPr dirty="0"/>
              <a:t>Two key parts:</a:t>
            </a:r>
          </a:p>
          <a:p>
            <a:pPr lvl="1"/>
            <a:r>
              <a:rPr dirty="0"/>
              <a:t>Base Case (when to stop)</a:t>
            </a:r>
            <a:endParaRPr lang="en-US" dirty="0"/>
          </a:p>
          <a:p>
            <a:pPr lvl="1"/>
            <a:r>
              <a:rPr dirty="0"/>
              <a:t>Recursive Case (the smaller problem)</a:t>
            </a:r>
          </a:p>
        </p:txBody>
      </p:sp>
    </p:spTree>
    <p:extLst>
      <p:ext uri="{BB962C8B-B14F-4D97-AF65-F5344CB8AC3E}">
        <p14:creationId xmlns:p14="http://schemas.microsoft.com/office/powerpoint/2010/main" val="2834711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D7034-B331-38D3-19B6-C6F28FE5B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403DB-E0A6-7570-FFAE-66F5F5AE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C00000"/>
                </a:solidFill>
              </a:rPr>
              <a:t>sumDigits</a:t>
            </a:r>
            <a:r>
              <a:rPr lang="en-US" b="1" dirty="0">
                <a:solidFill>
                  <a:srgbClr val="C00000"/>
                </a:solidFill>
              </a:rPr>
              <a:t>(n)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53D36-AFB8-ACAD-CB16-FF8E6EE5E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D94A7A-2E44-69EB-53EC-8884D5567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317" y="1604087"/>
            <a:ext cx="6546633" cy="18249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459175-DC3D-2896-C48C-5F213A4567F7}"/>
              </a:ext>
            </a:extLst>
          </p:cNvPr>
          <p:cNvSpPr txBox="1"/>
          <p:nvPr/>
        </p:nvSpPr>
        <p:spPr>
          <a:xfrm>
            <a:off x="2226257" y="3851264"/>
            <a:ext cx="6631994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000" b="1" u="sng" dirty="0"/>
              <a:t>Two parts to define for a recursive function:</a:t>
            </a:r>
          </a:p>
          <a:p>
            <a:pPr lvl="1"/>
            <a:endParaRPr lang="en-US" sz="2000" b="1" u="sng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Recursive Case </a:t>
            </a:r>
            <a:r>
              <a:rPr lang="en-US" sz="2000" dirty="0"/>
              <a:t>(the smaller problem) </a:t>
            </a:r>
            <a:r>
              <a:rPr lang="en-US" sz="2000" b="1" dirty="0"/>
              <a:t>: </a:t>
            </a:r>
          </a:p>
          <a:p>
            <a:pPr lvl="2"/>
            <a:r>
              <a:rPr lang="en-US" sz="2000" dirty="0"/>
              <a:t>The function does a little bit of work and calls itself on smaller input</a:t>
            </a:r>
          </a:p>
          <a:p>
            <a:pPr lvl="2"/>
            <a:endParaRPr lang="en-US" sz="9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b="1" dirty="0"/>
              <a:t>Base Case </a:t>
            </a:r>
            <a:r>
              <a:rPr lang="en-US" sz="2000" dirty="0"/>
              <a:t>(when to stop)</a:t>
            </a:r>
            <a:r>
              <a:rPr lang="en-US" sz="2000" b="1" dirty="0"/>
              <a:t>: </a:t>
            </a:r>
          </a:p>
          <a:p>
            <a:pPr lvl="2"/>
            <a:r>
              <a:rPr lang="en-US" sz="2000" dirty="0"/>
              <a:t>The simplest situation (subproblem) where the answer can be found instantly/superfast</a:t>
            </a:r>
          </a:p>
        </p:txBody>
      </p:sp>
    </p:spTree>
    <p:extLst>
      <p:ext uri="{BB962C8B-B14F-4D97-AF65-F5344CB8AC3E}">
        <p14:creationId xmlns:p14="http://schemas.microsoft.com/office/powerpoint/2010/main" val="2501901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3282D-224B-E68F-BD20-9343D9DC9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9F77-D679-1744-C9FD-DE081DC75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C00000"/>
                </a:solidFill>
              </a:rPr>
              <a:t>sumDigits</a:t>
            </a:r>
            <a:r>
              <a:rPr lang="en-US" b="1" dirty="0">
                <a:solidFill>
                  <a:srgbClr val="C00000"/>
                </a:solidFill>
              </a:rPr>
              <a:t>(n)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6C5C8-E790-A192-A981-E7B924E97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73CEDD-7753-A6AB-DA77-16B8CAC4AA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493"/>
          <a:stretch>
            <a:fillRect/>
          </a:stretch>
        </p:blipFill>
        <p:spPr>
          <a:xfrm>
            <a:off x="5092180" y="3831639"/>
            <a:ext cx="4499230" cy="223261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5D7745A-8151-E460-E2B4-945A075D97CB}"/>
              </a:ext>
            </a:extLst>
          </p:cNvPr>
          <p:cNvSpPr txBox="1"/>
          <p:nvPr/>
        </p:nvSpPr>
        <p:spPr>
          <a:xfrm>
            <a:off x="1469270" y="3958803"/>
            <a:ext cx="32643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379963"/>
                </a:solidFill>
              </a:rPr>
              <a:t>Recursion works by solving a </a:t>
            </a:r>
            <a:r>
              <a:rPr lang="en-US" sz="2400" b="1" dirty="0">
                <a:solidFill>
                  <a:srgbClr val="379963"/>
                </a:solidFill>
              </a:rPr>
              <a:t>smaller version of the same problem</a:t>
            </a:r>
            <a:r>
              <a:rPr lang="en-US" sz="2400" dirty="0">
                <a:solidFill>
                  <a:srgbClr val="379963"/>
                </a:solidFill>
              </a:rPr>
              <a:t> </a:t>
            </a:r>
            <a:r>
              <a:rPr lang="en-US" sz="2400" dirty="0">
                <a:solidFill>
                  <a:schemeClr val="accent2"/>
                </a:solidFill>
              </a:rPr>
              <a:t>until it reaches a </a:t>
            </a:r>
            <a:r>
              <a:rPr lang="en-US" sz="2400" b="1" dirty="0">
                <a:solidFill>
                  <a:schemeClr val="accent2"/>
                </a:solidFill>
              </a:rPr>
              <a:t>base case</a:t>
            </a:r>
            <a:r>
              <a:rPr lang="en-US" sz="2400" dirty="0">
                <a:solidFill>
                  <a:schemeClr val="accent2"/>
                </a:solidFill>
              </a:rPr>
              <a:t>, and then the answers </a:t>
            </a:r>
            <a:r>
              <a:rPr lang="en-US" sz="2400" b="1" dirty="0">
                <a:solidFill>
                  <a:schemeClr val="accent2"/>
                </a:solidFill>
              </a:rPr>
              <a:t>build back up</a:t>
            </a:r>
            <a:r>
              <a:rPr lang="en-US" sz="2400" dirty="0">
                <a:solidFill>
                  <a:schemeClr val="accent2"/>
                </a:solidFill>
              </a:rPr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5261256-2D5A-4CE3-3914-89C321D64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1317" y="1604087"/>
            <a:ext cx="6546633" cy="182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751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9CD44-709E-5C34-3125-A0A9769B1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Tips for defining a recursive function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C4AF2-9DF2-5B54-49E7-28BE2937B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12888"/>
            <a:ext cx="1082675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u="sng" dirty="0"/>
              <a:t>When designing a recursive function, ask yourself these three questions:</a:t>
            </a:r>
          </a:p>
          <a:p>
            <a:pPr marL="0" indent="0">
              <a:buNone/>
            </a:pPr>
            <a:r>
              <a:rPr lang="en-US" sz="2400" b="1" dirty="0"/>
              <a:t>1️⃣ What is a smaller problem </a:t>
            </a:r>
            <a:r>
              <a:rPr lang="en-US" sz="2400" dirty="0"/>
              <a:t>that looks exactly like the original problem but is easier to solve?</a:t>
            </a:r>
          </a:p>
          <a:p>
            <a:pPr marL="0" indent="0">
              <a:buNone/>
            </a:pPr>
            <a:r>
              <a:rPr lang="en-US" sz="2400" b="1" dirty="0"/>
              <a:t>2️⃣</a:t>
            </a:r>
            <a:r>
              <a:rPr lang="en-US" sz="2400" dirty="0"/>
              <a:t>Assume magic: if I already have the answer to the smaller problem, </a:t>
            </a:r>
            <a:r>
              <a:rPr lang="en-US" sz="2400" b="1" dirty="0"/>
              <a:t>how could I use it to solve the current problem?</a:t>
            </a:r>
            <a:br>
              <a:rPr lang="en-US" sz="2400" dirty="0"/>
            </a:br>
            <a:r>
              <a:rPr lang="en-US" sz="2400" dirty="0"/>
              <a:t>	- In other words, how does the recursive result help me compute the final 	answer?</a:t>
            </a:r>
          </a:p>
          <a:p>
            <a:pPr marL="0" indent="0">
              <a:buNone/>
            </a:pPr>
            <a:r>
              <a:rPr lang="en-US" sz="2400" b="1" dirty="0"/>
              <a:t>3️⃣ What is the simplest possible case of the problem?</a:t>
            </a:r>
            <a:br>
              <a:rPr lang="en-US" sz="2400" dirty="0"/>
            </a:br>
            <a:r>
              <a:rPr lang="en-US" sz="2400" dirty="0"/>
              <a:t>	- This is the </a:t>
            </a:r>
            <a:r>
              <a:rPr lang="en-US" sz="2400" b="1" dirty="0"/>
              <a:t>base case</a:t>
            </a:r>
            <a:r>
              <a:rPr lang="en-US" sz="2400" dirty="0"/>
              <a:t> — the smallest input where the answer is obvious and 	no recursion is needed.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5E41B-EFFE-BF24-3A67-40C9DC60C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B22CCD-494F-EEF3-87C4-D5AF6E0356CF}"/>
              </a:ext>
            </a:extLst>
          </p:cNvPr>
          <p:cNvSpPr txBox="1"/>
          <p:nvPr/>
        </p:nvSpPr>
        <p:spPr>
          <a:xfrm>
            <a:off x="1841500" y="5795227"/>
            <a:ext cx="7848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Make sure every recursive call is </a:t>
            </a:r>
            <a:r>
              <a:rPr lang="en-US" sz="2400" b="1" i="1" dirty="0">
                <a:solidFill>
                  <a:srgbClr val="FF0000"/>
                </a:solidFill>
              </a:rPr>
              <a:t>strictly closer to the base case than the original.</a:t>
            </a:r>
            <a:r>
              <a:rPr lang="en-US" sz="2400" dirty="0">
                <a:solidFill>
                  <a:srgbClr val="FF0000"/>
                </a:solidFill>
              </a:rPr>
              <a:t> If not, you have infinite recursion.</a:t>
            </a:r>
          </a:p>
        </p:txBody>
      </p:sp>
    </p:spTree>
    <p:extLst>
      <p:ext uri="{BB962C8B-B14F-4D97-AF65-F5344CB8AC3E}">
        <p14:creationId xmlns:p14="http://schemas.microsoft.com/office/powerpoint/2010/main" val="4017247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FA9AB-C048-EBEE-A6E7-4D735D97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07E29-C4F5-C11F-05B5-1F1154CA9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Recursion Practice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080B4-7708-C391-DFEC-C471F0131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5057"/>
            <a:ext cx="10515600" cy="37819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/>
              <a:t>Write recursive function </a:t>
            </a:r>
            <a:r>
              <a:rPr lang="en-US" sz="4400" b="1" dirty="0"/>
              <a:t>sum1ToN</a:t>
            </a:r>
            <a:r>
              <a:rPr lang="en-US" sz="4400" dirty="0"/>
              <a:t>(n) that  sums all the numbers from 1 to n.</a:t>
            </a:r>
          </a:p>
          <a:p>
            <a:pPr marL="0" indent="0">
              <a:buNone/>
            </a:pPr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D6F4C-DCDD-78F5-9DAE-403C17A5A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2327E4-D7B6-AE68-902F-A74A4353E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851" y="4945000"/>
            <a:ext cx="5791498" cy="1231963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338027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F8F2C-CECE-2807-BA9A-4A8A4638E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Recursion Practice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C6F11-896C-C153-0017-3AE6465B0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5057"/>
            <a:ext cx="10515600" cy="37819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/>
              <a:t>Write recursive function </a:t>
            </a:r>
            <a:r>
              <a:rPr lang="en-US" sz="4400" b="1" dirty="0" err="1"/>
              <a:t>maxDigit</a:t>
            </a:r>
            <a:r>
              <a:rPr lang="en-US" sz="4400" dirty="0"/>
              <a:t>(n) that  returns the largest digit in n.</a:t>
            </a:r>
          </a:p>
          <a:p>
            <a:pPr marL="0" indent="0">
              <a:buNone/>
            </a:pPr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0DC6F-4A0C-1455-DA65-784C001CB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0114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F8F2C-CECE-2807-BA9A-4A8A4638E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Recursion Practice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C6F11-896C-C153-0017-3AE6465B0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5057"/>
            <a:ext cx="10515600" cy="37819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/>
              <a:t>Write recursive function </a:t>
            </a:r>
            <a:r>
              <a:rPr lang="en-US" sz="4400" b="1" dirty="0" err="1"/>
              <a:t>sumList</a:t>
            </a:r>
            <a:r>
              <a:rPr lang="en-US" sz="4400" dirty="0"/>
              <a:t>(L) that  returns the sum of all elements in L.</a:t>
            </a:r>
          </a:p>
          <a:p>
            <a:pPr marL="0" indent="0">
              <a:buNone/>
            </a:pPr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0DC6F-4A0C-1455-DA65-784C001CB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1797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F8F2C-CECE-2807-BA9A-4A8A4638E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Recursion Practice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C6F11-896C-C153-0017-3AE6465B0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5057"/>
            <a:ext cx="10515600" cy="37819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/>
              <a:t>Write recursive function </a:t>
            </a:r>
            <a:r>
              <a:rPr lang="en-US" sz="4400" b="1" dirty="0" err="1"/>
              <a:t>maxValue</a:t>
            </a:r>
            <a:r>
              <a:rPr lang="en-US" sz="4400" dirty="0"/>
              <a:t>(L) that  returns the largest number in L.</a:t>
            </a:r>
          </a:p>
          <a:p>
            <a:pPr marL="0" indent="0">
              <a:buNone/>
            </a:pPr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0DC6F-4A0C-1455-DA65-784C001CB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358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151DA-84A4-EF12-8D45-4D6F7DB81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Recursion Practice – Exam2 S24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86D3B-B307-1778-FE2B-A934BE3C5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D2F46-EB89-3DF8-0E45-0F1CC4BD5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9DA4B3-8354-4862-BBF0-16AD62139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91" y="1639949"/>
            <a:ext cx="10761631" cy="462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405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06785-3BF1-4C54-6BAB-C291331AF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491"/>
            <a:ext cx="6796942" cy="511942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different programming style where a function calls itself on a subproblem</a:t>
            </a:r>
          </a:p>
          <a:p>
            <a:r>
              <a:rPr lang="en-US" dirty="0"/>
              <a:t>Two things to define for a recursive function:</a:t>
            </a:r>
          </a:p>
          <a:p>
            <a:pPr lvl="1"/>
            <a:r>
              <a:rPr lang="en-US" dirty="0"/>
              <a:t>Recursive Case: the function does a little bit of work and calls itself on smaller input</a:t>
            </a:r>
          </a:p>
          <a:p>
            <a:pPr lvl="1"/>
            <a:r>
              <a:rPr lang="en-US" dirty="0"/>
              <a:t>Base Case: the simplest situation (subproblem) where the answer can be found instantly/superfast</a:t>
            </a:r>
          </a:p>
          <a:p>
            <a:r>
              <a:rPr lang="en-US" dirty="0"/>
              <a:t>Acts like Magic</a:t>
            </a:r>
          </a:p>
          <a:p>
            <a:pPr lvl="1"/>
            <a:r>
              <a:rPr lang="en-US" dirty="0"/>
              <a:t>You assume the function called on the subproblem works</a:t>
            </a:r>
          </a:p>
          <a:p>
            <a:pPr lvl="1"/>
            <a:r>
              <a:rPr lang="en-US" dirty="0"/>
              <a:t>Integrate this answer to find the solution of the main problem</a:t>
            </a:r>
          </a:p>
          <a:p>
            <a:r>
              <a:rPr lang="en-US" dirty="0"/>
              <a:t>Each function waits for the ones it called to finish before it proceeds</a:t>
            </a:r>
          </a:p>
          <a:p>
            <a:r>
              <a:rPr lang="en-US" dirty="0"/>
              <a:t>Variables are local to each function</a:t>
            </a:r>
          </a:p>
          <a:p>
            <a:r>
              <a:rPr lang="en-US" dirty="0"/>
              <a:t>Recursive Functions should be short and contained</a:t>
            </a:r>
          </a:p>
          <a:p>
            <a:pPr lvl="1"/>
            <a:r>
              <a:rPr lang="en-US" dirty="0" err="1"/>
              <a:t>Autograder</a:t>
            </a:r>
            <a:r>
              <a:rPr lang="en-US" dirty="0"/>
              <a:t> checks if you use loops or use built-in functions that use loops (e.g. sum(L))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B26FE-8819-483C-7230-D0586189E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72E0411-2862-6BC8-A7D6-8ED1CD65F219}"/>
              </a:ext>
            </a:extLst>
          </p:cNvPr>
          <p:cNvSpPr txBox="1">
            <a:spLocks/>
          </p:cNvSpPr>
          <p:nvPr/>
        </p:nvSpPr>
        <p:spPr>
          <a:xfrm>
            <a:off x="1295400" y="374183"/>
            <a:ext cx="8228013" cy="10556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  <a:tab pos="7878763" algn="l"/>
              </a:tabLst>
              <a:def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C00000"/>
                </a:solidFill>
              </a:rPr>
              <a:t>Last Lecture - Recursion</a:t>
            </a:r>
          </a:p>
        </p:txBody>
      </p:sp>
      <p:pic>
        <p:nvPicPr>
          <p:cNvPr id="6" name="Picture 2" descr="Recap Clip Art Image - ClipSafari">
            <a:extLst>
              <a:ext uri="{FF2B5EF4-FFF2-40B4-BE49-F238E27FC236}">
                <a16:creationId xmlns:a16="http://schemas.microsoft.com/office/drawing/2014/main" id="{294F09C4-BA22-DF98-7935-C8A744173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4954" y="1510040"/>
            <a:ext cx="4219575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43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64552-32D1-0D64-3F27-27DD7D25E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6A392-C482-2357-87E4-6AB15506B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36475" y="146898"/>
            <a:ext cx="8228013" cy="1055688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Variables In Recursive Calls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99A7D-5780-0374-95B2-B5CE654AE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AE3593-8A8D-1A92-6EB6-8738BA634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94" y="1557206"/>
            <a:ext cx="3802874" cy="33741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4461F22-1964-8C2C-BB62-2175BAD81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341" y="146898"/>
            <a:ext cx="4479583" cy="646271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6D2AB12-516E-09EF-5322-C366E3026674}"/>
              </a:ext>
            </a:extLst>
          </p:cNvPr>
          <p:cNvSpPr/>
          <p:nvPr/>
        </p:nvSpPr>
        <p:spPr>
          <a:xfrm>
            <a:off x="6824663" y="1145737"/>
            <a:ext cx="3895725" cy="6021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1168A7-4B0B-2C02-14AC-46BA3BED5314}"/>
              </a:ext>
            </a:extLst>
          </p:cNvPr>
          <p:cNvSpPr/>
          <p:nvPr/>
        </p:nvSpPr>
        <p:spPr>
          <a:xfrm>
            <a:off x="6824662" y="1785938"/>
            <a:ext cx="3895725" cy="6021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B80251-EE31-0A15-8BE3-8B291C2C8406}"/>
              </a:ext>
            </a:extLst>
          </p:cNvPr>
          <p:cNvSpPr/>
          <p:nvPr/>
        </p:nvSpPr>
        <p:spPr>
          <a:xfrm>
            <a:off x="6886569" y="2410220"/>
            <a:ext cx="3895725" cy="6021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393B0A-E084-4903-9DF3-39600C2E0488}"/>
              </a:ext>
            </a:extLst>
          </p:cNvPr>
          <p:cNvSpPr/>
          <p:nvPr/>
        </p:nvSpPr>
        <p:spPr>
          <a:xfrm>
            <a:off x="6886569" y="3012321"/>
            <a:ext cx="3895725" cy="9988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771C95-74B5-2C92-3DD9-8E34DF4085EB}"/>
              </a:ext>
            </a:extLst>
          </p:cNvPr>
          <p:cNvSpPr/>
          <p:nvPr/>
        </p:nvSpPr>
        <p:spPr>
          <a:xfrm>
            <a:off x="6977056" y="4010496"/>
            <a:ext cx="3895725" cy="6021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26B8AC-991C-6BC1-66A9-2A79FE025DB8}"/>
              </a:ext>
            </a:extLst>
          </p:cNvPr>
          <p:cNvSpPr/>
          <p:nvPr/>
        </p:nvSpPr>
        <p:spPr>
          <a:xfrm>
            <a:off x="6919907" y="4630340"/>
            <a:ext cx="3895725" cy="6021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977A10-E66E-D4AA-B9BA-13260968D868}"/>
              </a:ext>
            </a:extLst>
          </p:cNvPr>
          <p:cNvSpPr/>
          <p:nvPr/>
        </p:nvSpPr>
        <p:spPr>
          <a:xfrm>
            <a:off x="6919907" y="5250184"/>
            <a:ext cx="3895725" cy="6021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11DC08-EC10-2BFF-9397-E51C4DF092AB}"/>
              </a:ext>
            </a:extLst>
          </p:cNvPr>
          <p:cNvSpPr/>
          <p:nvPr/>
        </p:nvSpPr>
        <p:spPr>
          <a:xfrm>
            <a:off x="6681789" y="5870028"/>
            <a:ext cx="4133844" cy="7776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94DECB-6E80-FC0A-E44E-A7F2B158B59E}"/>
              </a:ext>
            </a:extLst>
          </p:cNvPr>
          <p:cNvSpPr txBox="1"/>
          <p:nvPr/>
        </p:nvSpPr>
        <p:spPr>
          <a:xfrm>
            <a:off x="876438" y="5300794"/>
            <a:ext cx="38860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</a:rPr>
              <a:t>maxV</a:t>
            </a:r>
            <a:r>
              <a:rPr lang="en-US" dirty="0"/>
              <a:t> represents: </a:t>
            </a:r>
            <a:r>
              <a:rPr lang="en-US" b="1" dirty="0"/>
              <a:t>the maximum value of the remaining </a:t>
            </a:r>
            <a:r>
              <a:rPr lang="en-US" b="1" dirty="0" err="1"/>
              <a:t>sublist</a:t>
            </a:r>
            <a:r>
              <a:rPr lang="en-US" b="1" dirty="0"/>
              <a:t> </a:t>
            </a:r>
            <a:r>
              <a:rPr lang="en-US" b="1" dirty="0">
                <a:latin typeface="Courier New" panose="02070309020205020404" pitchFamily="49" charset="0"/>
              </a:rPr>
              <a:t>L[1:]</a:t>
            </a:r>
          </a:p>
        </p:txBody>
      </p:sp>
    </p:spTree>
    <p:extLst>
      <p:ext uri="{BB962C8B-B14F-4D97-AF65-F5344CB8AC3E}">
        <p14:creationId xmlns:p14="http://schemas.microsoft.com/office/powerpoint/2010/main" val="3281109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5E359A9C-2F56-5A3E-D9E4-120AA36F6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359" y="425715"/>
            <a:ext cx="5036608" cy="6295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C226F2-2F1F-FC5B-7AC5-8EFE58639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98309" y="282381"/>
            <a:ext cx="8228013" cy="1055688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Variables In Recursive Calls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11BCF-5025-E3A8-4DEF-E7FA91E0C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EB8ABF-0E05-BBB3-8B85-BF77792F4D99}"/>
              </a:ext>
            </a:extLst>
          </p:cNvPr>
          <p:cNvSpPr/>
          <p:nvPr/>
        </p:nvSpPr>
        <p:spPr>
          <a:xfrm>
            <a:off x="7312787" y="452375"/>
            <a:ext cx="4393438" cy="11123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AF95E3-734E-0C64-33F2-05FE210CDDE8}"/>
              </a:ext>
            </a:extLst>
          </p:cNvPr>
          <p:cNvSpPr/>
          <p:nvPr/>
        </p:nvSpPr>
        <p:spPr>
          <a:xfrm>
            <a:off x="7397054" y="1383006"/>
            <a:ext cx="4117219" cy="8229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289672-5211-E2D8-4691-DFFD68021CAF}"/>
              </a:ext>
            </a:extLst>
          </p:cNvPr>
          <p:cNvSpPr/>
          <p:nvPr/>
        </p:nvSpPr>
        <p:spPr>
          <a:xfrm>
            <a:off x="7646048" y="2104957"/>
            <a:ext cx="3631551" cy="8229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C4884B-1989-9FB1-7721-EC52ADA7BFD9}"/>
              </a:ext>
            </a:extLst>
          </p:cNvPr>
          <p:cNvSpPr/>
          <p:nvPr/>
        </p:nvSpPr>
        <p:spPr>
          <a:xfrm>
            <a:off x="7529703" y="2932529"/>
            <a:ext cx="3747895" cy="407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6AF2E1-9EE6-1488-583E-867E9D4DF7BF}"/>
              </a:ext>
            </a:extLst>
          </p:cNvPr>
          <p:cNvSpPr/>
          <p:nvPr/>
        </p:nvSpPr>
        <p:spPr>
          <a:xfrm>
            <a:off x="7703181" y="3339583"/>
            <a:ext cx="3504964" cy="9561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43E0EC-8587-E679-1494-14652D8F13C7}"/>
              </a:ext>
            </a:extLst>
          </p:cNvPr>
          <p:cNvSpPr/>
          <p:nvPr/>
        </p:nvSpPr>
        <p:spPr>
          <a:xfrm>
            <a:off x="7646048" y="4295775"/>
            <a:ext cx="3667237" cy="495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D771D6-B6FA-D332-A208-89B906EE5882}"/>
              </a:ext>
            </a:extLst>
          </p:cNvPr>
          <p:cNvSpPr/>
          <p:nvPr/>
        </p:nvSpPr>
        <p:spPr>
          <a:xfrm>
            <a:off x="7622044" y="4791075"/>
            <a:ext cx="3667237" cy="6383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97574A0-4A07-CBD1-556D-5751926DF613}"/>
              </a:ext>
            </a:extLst>
          </p:cNvPr>
          <p:cNvSpPr/>
          <p:nvPr/>
        </p:nvSpPr>
        <p:spPr>
          <a:xfrm>
            <a:off x="7529703" y="5317308"/>
            <a:ext cx="3667237" cy="8416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51A0A39-CAFE-1B8E-FA9F-A41D202CB1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"/>
          <a:stretch>
            <a:fillRect/>
          </a:stretch>
        </p:blipFill>
        <p:spPr>
          <a:xfrm>
            <a:off x="763453" y="1974223"/>
            <a:ext cx="4619004" cy="273072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8BFABF4-244C-ECB1-50AA-64958CD6A134}"/>
              </a:ext>
            </a:extLst>
          </p:cNvPr>
          <p:cNvSpPr txBox="1"/>
          <p:nvPr/>
        </p:nvSpPr>
        <p:spPr>
          <a:xfrm>
            <a:off x="545111" y="5132642"/>
            <a:ext cx="6443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err="1">
                <a:latin typeface="Courier New" panose="02070309020205020404" pitchFamily="49" charset="0"/>
              </a:rPr>
              <a:t>maxV</a:t>
            </a:r>
            <a:r>
              <a:rPr lang="en-US" dirty="0"/>
              <a:t> represents: </a:t>
            </a:r>
            <a:r>
              <a:rPr lang="en-US" b="1" dirty="0"/>
              <a:t>the maximum value seen so far</a:t>
            </a:r>
          </a:p>
        </p:txBody>
      </p:sp>
    </p:spTree>
    <p:extLst>
      <p:ext uri="{BB962C8B-B14F-4D97-AF65-F5344CB8AC3E}">
        <p14:creationId xmlns:p14="http://schemas.microsoft.com/office/powerpoint/2010/main" val="2455953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5513A-9A3B-1D45-7D3B-A8A9619B5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AC903-B04C-9DC0-4A3C-7BFB7E397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Variables In Recursive Calls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2C6A2-0FDC-508E-3ADD-A012ADF53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786813-1B6C-A23F-E895-7C4CD06DA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852738"/>
            <a:ext cx="3149786" cy="27947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10A725-FA97-B83E-AC8D-E4278F9255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"/>
          <a:stretch>
            <a:fillRect/>
          </a:stretch>
        </p:blipFill>
        <p:spPr>
          <a:xfrm>
            <a:off x="6339619" y="1819714"/>
            <a:ext cx="4541961" cy="26851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AFC0C04-27FC-3A0B-A3E5-257D75B815DA}"/>
              </a:ext>
            </a:extLst>
          </p:cNvPr>
          <p:cNvSpPr txBox="1"/>
          <p:nvPr/>
        </p:nvSpPr>
        <p:spPr>
          <a:xfrm>
            <a:off x="822388" y="5219956"/>
            <a:ext cx="527281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</a:rPr>
              <a:t>maxV</a:t>
            </a:r>
            <a:r>
              <a:rPr lang="en-US" dirty="0"/>
              <a:t> represents: </a:t>
            </a:r>
            <a:r>
              <a:rPr lang="en-US" b="1" dirty="0"/>
              <a:t>the maximum value of the remaining </a:t>
            </a:r>
            <a:r>
              <a:rPr lang="en-US" b="1" dirty="0" err="1"/>
              <a:t>sublist</a:t>
            </a:r>
            <a:r>
              <a:rPr lang="en-US" b="1" dirty="0"/>
              <a:t> </a:t>
            </a:r>
            <a:r>
              <a:rPr lang="en-US" b="1" dirty="0">
                <a:latin typeface="Courier New" panose="02070309020205020404" pitchFamily="49" charset="0"/>
              </a:rPr>
              <a:t>L[1:]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Works </a:t>
            </a:r>
            <a:r>
              <a:rPr lang="en-US" b="1" dirty="0"/>
              <a:t>backwards</a:t>
            </a:r>
            <a:r>
              <a:rPr lang="en-US" dirty="0"/>
              <a:t> (information flows up):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 compute max of smaller list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return it upward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34BE70-0C08-D567-73D6-78969AD971CB}"/>
              </a:ext>
            </a:extLst>
          </p:cNvPr>
          <p:cNvSpPr txBox="1"/>
          <p:nvPr/>
        </p:nvSpPr>
        <p:spPr>
          <a:xfrm>
            <a:off x="6429375" y="508145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err="1">
                <a:latin typeface="Courier New" panose="02070309020205020404" pitchFamily="49" charset="0"/>
              </a:rPr>
              <a:t>maxV</a:t>
            </a:r>
            <a:r>
              <a:rPr lang="en-US" dirty="0"/>
              <a:t> represents: </a:t>
            </a:r>
            <a:r>
              <a:rPr lang="en-US" b="1" dirty="0"/>
              <a:t>the maximum value seen so far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Recursion keeps </a:t>
            </a:r>
            <a:r>
              <a:rPr lang="en-US" b="1" dirty="0"/>
              <a:t>carrying the current maximum forward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Works </a:t>
            </a:r>
            <a:r>
              <a:rPr lang="en-US" b="1" dirty="0"/>
              <a:t>forwards</a:t>
            </a:r>
            <a:r>
              <a:rPr lang="en-US" dirty="0"/>
              <a:t> (information flows down):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carry the current max forward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update as we go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200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C5016-BB7D-770C-386D-63703592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Variables In Recursive Calls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CA468-AB77-572A-644E-B6958F1F7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Functions Parameters:</a:t>
            </a:r>
          </a:p>
          <a:p>
            <a:pPr lvl="1"/>
            <a:r>
              <a:rPr lang="en-US" dirty="0"/>
              <a:t>For Immutable data types (e.g. integers), </a:t>
            </a:r>
          </a:p>
          <a:p>
            <a:pPr lvl="2"/>
            <a:r>
              <a:rPr lang="en-US" dirty="0"/>
              <a:t>You </a:t>
            </a:r>
            <a:r>
              <a:rPr lang="en-US" b="1" dirty="0"/>
              <a:t>can still pass their values to other recursive calls</a:t>
            </a:r>
            <a:r>
              <a:rPr lang="en-US" dirty="0"/>
              <a:t>. </a:t>
            </a:r>
          </a:p>
          <a:p>
            <a:pPr lvl="3"/>
            <a:r>
              <a:rPr lang="en-US" dirty="0"/>
              <a:t>This creates new values for each call</a:t>
            </a:r>
          </a:p>
          <a:p>
            <a:pPr lvl="2"/>
            <a:r>
              <a:rPr lang="en-US" dirty="0"/>
              <a:t>You cannot </a:t>
            </a:r>
            <a:r>
              <a:rPr lang="en-US" b="1" dirty="0"/>
              <a:t>share and mutate the same them across calls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For Mutable data types (e.g. Lists)</a:t>
            </a:r>
          </a:p>
          <a:p>
            <a:pPr lvl="2"/>
            <a:r>
              <a:rPr lang="en-US" dirty="0"/>
              <a:t>Recursive calls </a:t>
            </a:r>
            <a:r>
              <a:rPr lang="en-US" b="1" dirty="0"/>
              <a:t>share references to the same mutable object</a:t>
            </a:r>
            <a:r>
              <a:rPr lang="en-US" dirty="0"/>
              <a:t>,</a:t>
            </a:r>
          </a:p>
          <a:p>
            <a:pPr lvl="3"/>
            <a:r>
              <a:rPr lang="en-US" dirty="0"/>
              <a:t>The parameters are aliases</a:t>
            </a:r>
          </a:p>
          <a:p>
            <a:pPr lvl="2"/>
            <a:r>
              <a:rPr lang="en-US" dirty="0"/>
              <a:t>Changes are reflected</a:t>
            </a:r>
          </a:p>
          <a:p>
            <a:r>
              <a:rPr lang="en-US" dirty="0"/>
              <a:t>Every function call gets its </a:t>
            </a:r>
            <a:r>
              <a:rPr lang="en-US" b="1" dirty="0"/>
              <a:t>own local variables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34334-553B-7AD8-4C35-9591E09C6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9468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F8F2C-CECE-2807-BA9A-4A8A4638E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Recursion Practice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C6F11-896C-C153-0017-3AE6465B0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5057"/>
            <a:ext cx="10515600" cy="3781906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4400" dirty="0"/>
              <a:t>Write recursive function </a:t>
            </a:r>
            <a:r>
              <a:rPr lang="en-US" sz="4400" b="1" dirty="0" err="1"/>
              <a:t>oddValues</a:t>
            </a:r>
            <a:r>
              <a:rPr lang="en-US" sz="4400" dirty="0"/>
              <a:t>(L) that  returns a list of only the odd values in L in the same order they appear.</a:t>
            </a:r>
          </a:p>
          <a:p>
            <a:pPr marL="0" indent="0" algn="ctr">
              <a:buNone/>
            </a:pPr>
            <a:endParaRPr lang="en-US" sz="4400" dirty="0"/>
          </a:p>
          <a:p>
            <a:pPr marL="0" indent="0" algn="ctr">
              <a:buNone/>
            </a:pPr>
            <a:r>
              <a:rPr lang="en-US" sz="4400" dirty="0"/>
              <a:t> Note: Don’t make a list of odd values, build it in the return</a:t>
            </a:r>
          </a:p>
          <a:p>
            <a:pPr marL="0" indent="0">
              <a:buNone/>
            </a:pPr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0DC6F-4A0C-1455-DA65-784C001CB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7402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ABE61-3ACB-C27E-F4CA-6C73D4C1C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745E9B-F81C-D0C8-19E8-C769B7083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94" y="2676651"/>
            <a:ext cx="5474500" cy="189856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D070F3B-4180-552E-290F-C7C070F1A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3500" y="386556"/>
            <a:ext cx="6476999" cy="105568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Recursion: 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23430B-DDAA-88C7-9DF3-88C696995741}"/>
              </a:ext>
            </a:extLst>
          </p:cNvPr>
          <p:cNvSpPr txBox="1"/>
          <p:nvPr/>
        </p:nvSpPr>
        <p:spPr>
          <a:xfrm>
            <a:off x="416469" y="1507238"/>
            <a:ext cx="67601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With every recursive call, we are </a:t>
            </a:r>
            <a:r>
              <a:rPr lang="en-US" b="1" dirty="0"/>
              <a:t>not modifying the same </a:t>
            </a:r>
            <a:r>
              <a:rPr lang="en-US" b="1" dirty="0">
                <a:latin typeface="Courier New" panose="02070309020205020404" pitchFamily="49" charset="0"/>
              </a:rPr>
              <a:t>d</a:t>
            </a:r>
            <a:r>
              <a:rPr lang="en-US" dirty="0"/>
              <a:t>.</a:t>
            </a:r>
          </a:p>
          <a:p>
            <a:r>
              <a:rPr lang="en-US" dirty="0"/>
              <a:t>- Instead we are </a:t>
            </a:r>
            <a:r>
              <a:rPr lang="en-US" b="1" dirty="0"/>
              <a:t>creating a new value</a:t>
            </a:r>
            <a:r>
              <a:rPr lang="en-US" dirty="0"/>
              <a:t> and passing it to the next call.</a:t>
            </a:r>
          </a:p>
          <a:p>
            <a:r>
              <a:rPr lang="en-US" dirty="0"/>
              <a:t>- Each call has </a:t>
            </a:r>
            <a:r>
              <a:rPr lang="en-US" b="1" dirty="0"/>
              <a:t>its own local variable d</a:t>
            </a:r>
          </a:p>
        </p:txBody>
      </p:sp>
    </p:spTree>
    <p:extLst>
      <p:ext uri="{BB962C8B-B14F-4D97-AF65-F5344CB8AC3E}">
        <p14:creationId xmlns:p14="http://schemas.microsoft.com/office/powerpoint/2010/main" val="385605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3BB14-F0D4-FB9D-DE9C-A944476C8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425E15-E876-6B7F-CA7D-5CCFFFB0C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61" y="1607274"/>
            <a:ext cx="4077655" cy="330028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74EEC64-0DE2-09D1-7300-B9014FB23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3500" y="386556"/>
            <a:ext cx="6476999" cy="105568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Recursion: CT</a:t>
            </a:r>
          </a:p>
        </p:txBody>
      </p:sp>
    </p:spTree>
    <p:extLst>
      <p:ext uri="{BB962C8B-B14F-4D97-AF65-F5344CB8AC3E}">
        <p14:creationId xmlns:p14="http://schemas.microsoft.com/office/powerpoint/2010/main" val="29606816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F8F2C-CECE-2807-BA9A-4A8A4638E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Recursion Practice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C6F11-896C-C153-0017-3AE6465B0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5057"/>
            <a:ext cx="10515600" cy="37819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/>
              <a:t>Write recursive function </a:t>
            </a:r>
            <a:r>
              <a:rPr lang="en-US" sz="4400" b="1" dirty="0"/>
              <a:t>interleave</a:t>
            </a:r>
            <a:r>
              <a:rPr lang="en-US" sz="4400" dirty="0"/>
              <a:t>(L1, L2) that returns a new list where elements from L1 and L2 alternate.</a:t>
            </a:r>
          </a:p>
          <a:p>
            <a:pPr marL="0" indent="0" algn="ctr">
              <a:buNone/>
            </a:pPr>
            <a:endParaRPr lang="en-US" sz="4400" dirty="0"/>
          </a:p>
          <a:p>
            <a:pPr marL="0" indent="0" algn="ctr">
              <a:buNone/>
            </a:pPr>
            <a:r>
              <a:rPr lang="en-US" sz="4400" dirty="0"/>
              <a:t>Note: Assuming Lists have the same length</a:t>
            </a:r>
          </a:p>
          <a:p>
            <a:pPr marL="0" indent="0">
              <a:buNone/>
            </a:pPr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0DC6F-4A0C-1455-DA65-784C001CB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6428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F8F2C-CECE-2807-BA9A-4A8A4638E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Recursion Practice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C6F11-896C-C153-0017-3AE6465B0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5057"/>
            <a:ext cx="10515600" cy="37819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/>
              <a:t>Write recursive function </a:t>
            </a:r>
            <a:r>
              <a:rPr lang="en-US" sz="4400" b="1" dirty="0"/>
              <a:t>interleave</a:t>
            </a:r>
            <a:r>
              <a:rPr lang="en-US" sz="4400" dirty="0"/>
              <a:t>(L1, L2) that returns a new list where elements from L1 and L2 alternate.</a:t>
            </a:r>
          </a:p>
          <a:p>
            <a:pPr marL="0" indent="0" algn="ctr">
              <a:buNone/>
            </a:pPr>
            <a:endParaRPr lang="en-US" sz="4400" dirty="0"/>
          </a:p>
          <a:p>
            <a:pPr marL="0" indent="0" algn="ctr">
              <a:buNone/>
            </a:pPr>
            <a:r>
              <a:rPr lang="en-US" sz="4400" dirty="0"/>
              <a:t>Note: Assuming Lists have DIFFERENT lengths</a:t>
            </a:r>
          </a:p>
          <a:p>
            <a:pPr marL="0" indent="0">
              <a:buNone/>
            </a:pPr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0DC6F-4A0C-1455-DA65-784C001CB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054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8BD3D-3874-BBBD-E41F-AC2E054B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Interleave Call Stack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4FDA5-D04D-E918-B04C-F055EC37E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F4E79E-21A5-B4E9-FDED-4B4E78AF9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609" y="2407122"/>
            <a:ext cx="3329209" cy="3790949"/>
          </a:xfrm>
          <a:prstGeom prst="rect">
            <a:avLst/>
          </a:prstGeom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A4B65FCE-BA43-DE23-EE60-762756CED2F2}"/>
              </a:ext>
            </a:extLst>
          </p:cNvPr>
          <p:cNvSpPr/>
          <p:nvPr/>
        </p:nvSpPr>
        <p:spPr>
          <a:xfrm>
            <a:off x="2904653" y="3259515"/>
            <a:ext cx="244444" cy="23539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1878D78E-F7BF-09BA-2F27-D893C7083943}"/>
              </a:ext>
            </a:extLst>
          </p:cNvPr>
          <p:cNvSpPr/>
          <p:nvPr/>
        </p:nvSpPr>
        <p:spPr>
          <a:xfrm>
            <a:off x="2904653" y="4252380"/>
            <a:ext cx="244444" cy="23539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E96FFE51-8EEF-F1E2-0054-C7DB74CF2B5B}"/>
              </a:ext>
            </a:extLst>
          </p:cNvPr>
          <p:cNvSpPr/>
          <p:nvPr/>
        </p:nvSpPr>
        <p:spPr>
          <a:xfrm>
            <a:off x="2904653" y="5277224"/>
            <a:ext cx="244444" cy="23539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9BA9CD-A7EC-9AB8-C2F2-80120853AD93}"/>
              </a:ext>
            </a:extLst>
          </p:cNvPr>
          <p:cNvSpPr txBox="1"/>
          <p:nvPr/>
        </p:nvSpPr>
        <p:spPr>
          <a:xfrm>
            <a:off x="1641144" y="1689520"/>
            <a:ext cx="4171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Stack Growing (Recursive Calls)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05E2E2-977C-B83E-CAEA-33F8047DA7DE}"/>
              </a:ext>
            </a:extLst>
          </p:cNvPr>
          <p:cNvSpPr txBox="1"/>
          <p:nvPr/>
        </p:nvSpPr>
        <p:spPr>
          <a:xfrm>
            <a:off x="6899698" y="1689520"/>
            <a:ext cx="4171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Stack Collapsing (Unwinding Phase)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2EFA0A3-3353-EE69-2BEC-4BF9B59DD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719" y="2372008"/>
            <a:ext cx="3788672" cy="362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88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CEC05-D210-B190-643A-F757B4B3A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Recursion Practice – Exam2 S24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A39FA-7026-AC58-9D3D-20F659704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705BCE-8D45-8BDB-94A3-5EDD75C3A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51" y="1920452"/>
            <a:ext cx="10586113" cy="301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2548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F8F2C-CECE-2807-BA9A-4A8A4638E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Recursion Practice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C6F11-896C-C153-0017-3AE6465B0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5057"/>
            <a:ext cx="10515600" cy="37819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/>
              <a:t>Write recursive function </a:t>
            </a:r>
            <a:r>
              <a:rPr lang="en-US" sz="4400" b="1" dirty="0" err="1"/>
              <a:t>stringReverse</a:t>
            </a:r>
            <a:r>
              <a:rPr lang="en-US" sz="4400" dirty="0"/>
              <a:t>(s) that returns a new string where characters of s are reversed.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0DC6F-4A0C-1455-DA65-784C001CB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92489D-B01C-440F-AEFD-22E5E33E55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99575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7202</TotalTime>
  <Words>1192</Words>
  <Application>Microsoft Office PowerPoint</Application>
  <PresentationFormat>Widescreen</PresentationFormat>
  <Paragraphs>186</Paragraphs>
  <Slides>26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Aptos</vt:lpstr>
      <vt:lpstr>Arial</vt:lpstr>
      <vt:lpstr>Calibri</vt:lpstr>
      <vt:lpstr>Calibri Light</vt:lpstr>
      <vt:lpstr>Consolas</vt:lpstr>
      <vt:lpstr>Courier New</vt:lpstr>
      <vt:lpstr>Trebuchet MS</vt:lpstr>
      <vt:lpstr>1_Office Theme</vt:lpstr>
      <vt:lpstr>Fundamentals of Programming &amp; Computer Science CS 15-112 </vt:lpstr>
      <vt:lpstr>Example: Sum Of Digits</vt:lpstr>
      <vt:lpstr>Recursive sumDigits(n) Phase 1: The Call Phase</vt:lpstr>
      <vt:lpstr>Recursive sumDigits(n) Phase 2: The Unwinding Phase</vt:lpstr>
      <vt:lpstr>Recursion</vt:lpstr>
      <vt:lpstr>sumDigits(n)</vt:lpstr>
      <vt:lpstr>sumDigits(n)</vt:lpstr>
      <vt:lpstr>Tips for defining a recursive function</vt:lpstr>
      <vt:lpstr>Recursion Practice</vt:lpstr>
      <vt:lpstr>Recursion Practice</vt:lpstr>
      <vt:lpstr>Recursion Practice</vt:lpstr>
      <vt:lpstr>Recursion Practice</vt:lpstr>
      <vt:lpstr>Recursion Practice – Exam2 S24</vt:lpstr>
      <vt:lpstr>PowerPoint Presentation</vt:lpstr>
      <vt:lpstr>Variables In Recursive Calls</vt:lpstr>
      <vt:lpstr>Variables In Recursive Calls</vt:lpstr>
      <vt:lpstr>Variables In Recursive Calls</vt:lpstr>
      <vt:lpstr>Variables In Recursive Calls</vt:lpstr>
      <vt:lpstr>Recursion Practice</vt:lpstr>
      <vt:lpstr>Recursion: CT</vt:lpstr>
      <vt:lpstr>Recursion: CT</vt:lpstr>
      <vt:lpstr>Recursion Practice</vt:lpstr>
      <vt:lpstr>Recursion Practice</vt:lpstr>
      <vt:lpstr>Interleave Call Stack</vt:lpstr>
      <vt:lpstr>Recursion Practice – Exam2 S24</vt:lpstr>
      <vt:lpstr>Recursion 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Midterms – For Demos</dc:title>
  <dc:creator>Hend Gedawy</dc:creator>
  <cp:lastModifiedBy>Hend Gedawy</cp:lastModifiedBy>
  <cp:revision>38</cp:revision>
  <cp:lastPrinted>2026-03-10T07:52:48Z</cp:lastPrinted>
  <dcterms:created xsi:type="dcterms:W3CDTF">2024-05-18T14:40:58Z</dcterms:created>
  <dcterms:modified xsi:type="dcterms:W3CDTF">2026-03-12T14:15:12Z</dcterms:modified>
</cp:coreProperties>
</file>