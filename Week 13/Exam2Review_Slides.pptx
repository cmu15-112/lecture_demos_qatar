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61" r:id="rId4"/>
    <p:sldId id="268" r:id="rId5"/>
    <p:sldId id="258" r:id="rId6"/>
    <p:sldId id="264" r:id="rId7"/>
    <p:sldId id="259" r:id="rId8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52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451F1-7913-6BE8-3DC8-58C8E6CA8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819487-FC9F-6743-ACA5-7541D57E29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C65D5-0393-F8BD-1247-7D8F2EB8F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33B7-0CC1-4C1B-8205-7ABD19E69D1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628E8-2073-010F-58E9-DC086D4C1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8B7EF-F1FB-291F-18B0-86C25497D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4D9D-0C33-4E1E-B58F-A288D0FDE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980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68C2C-8765-08E3-2E6E-771EA45FB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65624-7A6A-62D4-A029-452410125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A33C3-CBC6-2FE4-CADF-3FE92C7A4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33B7-0CC1-4C1B-8205-7ABD19E69D1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65C5E-0A21-3619-7ADD-DED449D76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22DDA-CA5C-0E80-5E31-BD8BE51C8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4D9D-0C33-4E1E-B58F-A288D0FDE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39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C6723-0AC4-DC69-237A-FF5874F0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31304-FD3A-0DD6-7F4A-3BC236A12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4AA6C-988B-FE40-9D3B-55EC1F11C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33B7-0CC1-4C1B-8205-7ABD19E69D1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150C7-97E7-700B-2321-CDB39DCE4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53ABE-7E28-2C07-037F-EDA43F1D2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4D9D-0C33-4E1E-B58F-A288D0FDE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282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61A6-B96B-44FA-31BF-24C4832B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D7F08-024A-DF05-1BB6-125989370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DC590-67A9-5F96-5F16-1E382B8E9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7B362-1870-B2A3-D8E2-414BD59DB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33B7-0CC1-4C1B-8205-7ABD19E69D1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2D9BB-6DF6-AE29-228F-45F70C31C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CD774-1A06-1D17-47E5-EF9AD4D2C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4D9D-0C33-4E1E-B58F-A288D0FDE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70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3C010-3180-10C9-2F1E-4DE7C746E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D1B45-7254-0591-85F7-5EBA0266B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E55CAA-3EAC-A830-3F9C-D31D0CF98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4E111C-50D9-3EE8-09A3-2AF1074815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D47BB1-A792-CC87-AAA5-5EB893B306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1D2BF0-D3BA-02F9-D446-C15F0935F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33B7-0CC1-4C1B-8205-7ABD19E69D1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0F7992-00D5-F3F3-07BD-6E6BEE5AB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525326-5FF5-443A-7A3F-9A023DA6C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4D9D-0C33-4E1E-B58F-A288D0FDE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347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581BE-9168-523A-DC75-5E9AA93BB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8ECC02-F2A1-1741-051A-D30EE98FC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33B7-0CC1-4C1B-8205-7ABD19E69D1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FAFEC3-7E8E-EACC-3BCD-154398159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BD9F1D-1A7B-985B-EA14-A3C12FCDD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4D9D-0C33-4E1E-B58F-A288D0FDE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475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10B04D-1268-A7ED-9D52-514AB2D49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33B7-0CC1-4C1B-8205-7ABD19E69D1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BB1D33-5648-F5D7-DAF3-B146B57E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08E71-3866-8987-D488-AEDEFF0F7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4D9D-0C33-4E1E-B58F-A288D0FDE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97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BB2C8-A79D-0924-521F-CE46049A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73EA7-6DED-4009-9145-3FD0335F0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B468FB-5F2A-20F0-FF88-4131252C39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742C3-1558-C144-9736-02F66AEDE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33B7-0CC1-4C1B-8205-7ABD19E69D1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01824-8EBE-9613-F247-26ECDE1A0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8C3A9-8372-5EBA-2957-9DC8F03F6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4D9D-0C33-4E1E-B58F-A288D0FDE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42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00C9F-5413-A4F8-F46D-3A67BC779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31D746-22AB-2C96-E595-6634A0C6C3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96CCAD-8F3B-7FEF-980C-2A0FBEBDA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9978E-4FA6-2542-619E-AD9C22A3A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33B7-0CC1-4C1B-8205-7ABD19E69D1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72950-E3F0-8A99-8CFE-A999CD81C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664D1-BAB8-D6BF-4DB5-F4E1BB7CF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4D9D-0C33-4E1E-B58F-A288D0FDE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04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93380-32AE-90E0-72EF-A78BA8D74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182765-FDA9-DA54-8FFA-A7F781715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DCD35-5B6A-A3B0-5488-EF1EFCA3F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33B7-0CC1-4C1B-8205-7ABD19E69D1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2829A-E364-6917-B6E3-F43F6A91D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5BC9C-C18F-3E3B-463F-A61D7E85E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4D9D-0C33-4E1E-B58F-A288D0FDE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845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8BFA96-0B1B-DDA8-EC1D-E4C45FF671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44830-A38B-F095-5438-EFA86FF45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932EA-1AC8-E37D-014E-537D856D0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33B7-0CC1-4C1B-8205-7ABD19E69D1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B7729-D45A-EF00-4067-643F655F1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446C7-2FDA-0471-5A94-EC48C82FF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74D9D-0C33-4E1E-B58F-A288D0FDE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94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C1A1CF-E2A9-F0EA-CFB0-7CE266D3B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CC09B-D012-D556-B78C-34B928AFD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49A0A-456F-45B3-B66C-8FFDE83B81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F33B7-0CC1-4C1B-8205-7ABD19E69D1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3025-F6CF-E864-1706-3192FCCD7C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77D5F-FB30-8558-C336-6F212FBB2F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074D9D-0C33-4E1E-B58F-A288D0FDE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98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A4E4A-BF7F-4373-2637-A41F1A31C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BFF12-E26A-0FCE-BB54-E622B0289E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D764A4-1E2F-6DCB-F688-4BC02198C1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59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221FA-6FD7-42D0-3BCF-6561926A4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F71C887-EEB9-7824-842F-0E56247B9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Will update Gradebook when Quiz6 and Quiz7 are out so you decide on Quiz8</a:t>
            </a:r>
          </a:p>
          <a:p>
            <a:r>
              <a:rPr lang="en-US" dirty="0"/>
              <a:t>Feedback about the online?</a:t>
            </a:r>
          </a:p>
          <a:p>
            <a:pPr lvl="1"/>
            <a:r>
              <a:rPr lang="en-US" dirty="0"/>
              <a:t>I tried to include Shorter CT</a:t>
            </a:r>
          </a:p>
          <a:p>
            <a:pPr lvl="1"/>
            <a:r>
              <a:rPr lang="en-US" dirty="0"/>
              <a:t>Will make it also short for upcoming assessments</a:t>
            </a:r>
          </a:p>
          <a:p>
            <a:r>
              <a:rPr lang="en-US" dirty="0"/>
              <a:t>Quizzes posted online - practice and reach to us if you have questions</a:t>
            </a:r>
          </a:p>
          <a:p>
            <a:r>
              <a:rPr lang="en-US" dirty="0"/>
              <a:t>I will include Guide sheets for you in the demo repo for graphics, animations, and strings</a:t>
            </a:r>
          </a:p>
          <a:p>
            <a:pPr lvl="1"/>
            <a:r>
              <a:rPr lang="en-US" dirty="0"/>
              <a:t>I believe some students have guide sheets for string from 110 -I will post this also for the ones who don't have it</a:t>
            </a:r>
          </a:p>
          <a:p>
            <a:r>
              <a:rPr lang="en-US" dirty="0"/>
              <a:t>Cheat Sheet for graphics will be included</a:t>
            </a:r>
          </a:p>
        </p:txBody>
      </p:sp>
    </p:spTree>
    <p:extLst>
      <p:ext uri="{BB962C8B-B14F-4D97-AF65-F5344CB8AC3E}">
        <p14:creationId xmlns:p14="http://schemas.microsoft.com/office/powerpoint/2010/main" val="2717058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38FA7-282B-DC5A-F417-4F6572C51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53A6-1571-4A88-A971-430F9D09D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04584-710C-BB18-2D5D-6DC5B84F1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Cheat Sheet will be given</a:t>
            </a:r>
          </a:p>
          <a:p>
            <a:r>
              <a:rPr lang="en-US" dirty="0"/>
              <a:t>Questions:</a:t>
            </a:r>
          </a:p>
          <a:p>
            <a:pPr lvl="1"/>
            <a:r>
              <a:rPr lang="en-US" dirty="0"/>
              <a:t>CT</a:t>
            </a:r>
          </a:p>
          <a:p>
            <a:pPr lvl="1"/>
            <a:r>
              <a:rPr lang="en-US" dirty="0"/>
              <a:t>FIB</a:t>
            </a:r>
          </a:p>
          <a:p>
            <a:pPr lvl="1"/>
            <a:r>
              <a:rPr lang="en-US" dirty="0"/>
              <a:t>FR</a:t>
            </a:r>
          </a:p>
          <a:p>
            <a:r>
              <a:rPr lang="en-US" dirty="0"/>
              <a:t>Get familiar with converting between (</a:t>
            </a:r>
            <a:r>
              <a:rPr lang="en-US" dirty="0" err="1"/>
              <a:t>rowID</a:t>
            </a:r>
            <a:r>
              <a:rPr lang="en-US" dirty="0"/>
              <a:t> to Y) and (</a:t>
            </a:r>
            <a:r>
              <a:rPr lang="en-US" dirty="0" err="1"/>
              <a:t>colID</a:t>
            </a:r>
            <a:r>
              <a:rPr lang="en-US" dirty="0"/>
              <a:t> to X)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221B1F-0BC3-F59C-C99B-8933A9799E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298"/>
          <a:stretch>
            <a:fillRect/>
          </a:stretch>
        </p:blipFill>
        <p:spPr>
          <a:xfrm>
            <a:off x="4500542" y="4546242"/>
            <a:ext cx="7592719" cy="204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634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40AB9-5997-D32A-D16B-113646183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C4AE1-B588-E69F-4A07-2AA42586D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996"/>
            <a:ext cx="10515600" cy="1325563"/>
          </a:xfrm>
        </p:spPr>
        <p:txBody>
          <a:bodyPr/>
          <a:lstStyle/>
          <a:p>
            <a:r>
              <a:rPr lang="en-US" dirty="0"/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4B7D6-024C-10D2-F1D0-30D9AC43A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3523C8-8312-35E4-AB76-9F083DE1ABFC}"/>
              </a:ext>
            </a:extLst>
          </p:cNvPr>
          <p:cNvSpPr txBox="1"/>
          <p:nvPr/>
        </p:nvSpPr>
        <p:spPr>
          <a:xfrm>
            <a:off x="940158" y="1223494"/>
            <a:ext cx="10556383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Lists properties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Ordered, mutable, allow duplicates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Tuples properties: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Immutable lists: ordered and allow duplicates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List methods &amp; Operations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Slicing, indexing, and iterating work as you did with Strings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L+=[e], count, sum, </a:t>
            </a:r>
            <a:r>
              <a:rPr lang="en-US" sz="1400" dirty="0" err="1"/>
              <a:t>len</a:t>
            </a:r>
            <a:r>
              <a:rPr lang="en-US" sz="1400" dirty="0"/>
              <a:t>, insert, append, del, remove, pop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Lists&lt;&gt; Strings: split and join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Merging lists: + , extends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(is vs ==)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Destruction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Understand the difference between: modifying a mutable object (Destructive) VS rebinding a variable name to a new object that a non-destructive operation created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Destructive Vs Non-Destructive Operations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C00000"/>
                </a:solidFill>
              </a:rPr>
              <a:t>l.f</a:t>
            </a:r>
            <a:r>
              <a:rPr lang="en-US" sz="1400" dirty="0">
                <a:solidFill>
                  <a:srgbClr val="C00000"/>
                </a:solidFill>
              </a:rPr>
              <a:t>() </a:t>
            </a:r>
            <a:r>
              <a:rPr lang="en-US" sz="1400" dirty="0"/>
              <a:t>are usually destructive ...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l.append</a:t>
            </a:r>
            <a:r>
              <a:rPr lang="en-US" sz="1400" dirty="0"/>
              <a:t>, </a:t>
            </a:r>
            <a:r>
              <a:rPr lang="en-US" sz="1400" dirty="0" err="1"/>
              <a:t>l.sort</a:t>
            </a:r>
            <a:r>
              <a:rPr lang="en-US" sz="1400" dirty="0"/>
              <a:t>, </a:t>
            </a:r>
            <a:r>
              <a:rPr lang="en-US" sz="1400" dirty="0" err="1"/>
              <a:t>l.extend</a:t>
            </a:r>
            <a:r>
              <a:rPr lang="en-US" sz="1400" dirty="0"/>
              <a:t>, </a:t>
            </a:r>
            <a:r>
              <a:rPr lang="en-US" sz="1400" dirty="0" err="1"/>
              <a:t>l.remove</a:t>
            </a:r>
            <a:r>
              <a:rPr lang="en-US" sz="1400" dirty="0"/>
              <a:t>, </a:t>
            </a:r>
            <a:r>
              <a:rPr lang="en-US" sz="1400" dirty="0" err="1"/>
              <a:t>l.reverse</a:t>
            </a:r>
            <a:r>
              <a:rPr lang="en-US" sz="1400" dirty="0"/>
              <a:t>()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/>
              <a:t>Adding: L1+=L2 (updates L1),  L1+=[e]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/>
              <a:t>Updating Elements:  L[:]= [1,2,3,4]  slide assignment,      L[1] = 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f(l)</a:t>
            </a:r>
            <a:r>
              <a:rPr lang="en-US" sz="1400" dirty="0"/>
              <a:t> are not destructive, original doesn't change and a new copy is created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/>
              <a:t>sorted(l), sum(l), </a:t>
            </a:r>
            <a:r>
              <a:rPr lang="en-US" sz="1400" dirty="0" err="1"/>
              <a:t>len</a:t>
            </a:r>
            <a:r>
              <a:rPr lang="en-US" sz="1400" dirty="0"/>
              <a:t>(l)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/>
              <a:t>L1 = L1+L2 creates a new list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/>
              <a:t>L[::-1] new list reversed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How do you create a destructive vs a non-destructive function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Should never modify the list as you iterate over it</a:t>
            </a:r>
          </a:p>
        </p:txBody>
      </p:sp>
    </p:spTree>
    <p:extLst>
      <p:ext uri="{BB962C8B-B14F-4D97-AF65-F5344CB8AC3E}">
        <p14:creationId xmlns:p14="http://schemas.microsoft.com/office/powerpoint/2010/main" val="346670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E36A6-628F-A36D-226F-CC7EB71ED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B74EB-9F53-A2D7-DA80-570B48B83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D912FD-C3FC-6628-CC19-009C048155F3}"/>
              </a:ext>
            </a:extLst>
          </p:cNvPr>
          <p:cNvSpPr txBox="1"/>
          <p:nvPr/>
        </p:nvSpPr>
        <p:spPr>
          <a:xfrm>
            <a:off x="948744" y="1455313"/>
            <a:ext cx="1055638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Aliasing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Two names for the same object in memory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Any modifications made to the list using one alias will affect the list when accessed through any other alias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Two Cases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L1 = L2,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function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Creating Proper copy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L2 = </a:t>
            </a:r>
            <a:r>
              <a:rPr lang="en-US" sz="1600" dirty="0" err="1"/>
              <a:t>copy.copy</a:t>
            </a:r>
            <a:r>
              <a:rPr lang="en-US" sz="1600" dirty="0"/>
              <a:t>(L1)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L2 = L1[::]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You have to Draw in 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Allocated memory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This is the memory where objects (values) are stored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Lists, strings, numbers, etc. live here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Objects stay in allocated memory as long as something refers to them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Think: the actual data lives here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Local memory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This is where variable names inside a function live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Names are local to the function and disappear when the function ends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Local variables point to objects in allocated memory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Think: labels pointing to the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15717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E16FB-4727-CA52-A5EA-FD2E0C201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9CA05-E90A-D0F1-5895-2F1386D01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349F5-0BF6-41CB-77ED-E64DD0EB2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4AC83-E74E-3FA8-FBF4-E5B1E4C1642F}"/>
              </a:ext>
            </a:extLst>
          </p:cNvPr>
          <p:cNvSpPr txBox="1"/>
          <p:nvPr/>
        </p:nvSpPr>
        <p:spPr>
          <a:xfrm>
            <a:off x="884349" y="1657082"/>
            <a:ext cx="105563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Aliasing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Shallow Copy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L2 = L1[::]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L2 = </a:t>
            </a:r>
            <a:r>
              <a:rPr lang="en-US" dirty="0" err="1"/>
              <a:t>copy.copy</a:t>
            </a:r>
            <a:r>
              <a:rPr lang="en-US" dirty="0"/>
              <a:t>(L1)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Deeopcopy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L2 = </a:t>
            </a:r>
            <a:r>
              <a:rPr lang="en-US" dirty="0" err="1"/>
              <a:t>copy.deepcopy</a:t>
            </a:r>
            <a:r>
              <a:rPr lang="en-US" dirty="0"/>
              <a:t>(L1)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have to draw on 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08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85C93-26DC-9CE7-FA0A-9D545A2F8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BEB99-8064-1FEE-592F-F343288D6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Animations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7CC2F-14EB-D083-3C9D-D34857F7E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8F58A1-9837-C92A-EF4A-C08AFCE7AD52}"/>
              </a:ext>
            </a:extLst>
          </p:cNvPr>
          <p:cNvSpPr txBox="1"/>
          <p:nvPr/>
        </p:nvSpPr>
        <p:spPr>
          <a:xfrm>
            <a:off x="918694" y="1690688"/>
            <a:ext cx="105563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Animations guide Sheet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MVC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Take notes of what needs to be done in each function as you read the question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979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540</Words>
  <Application>Microsoft Office PowerPoint</Application>
  <PresentationFormat>Widescreen</PresentationFormat>
  <Paragraphs>82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Review</vt:lpstr>
      <vt:lpstr>Announcements</vt:lpstr>
      <vt:lpstr>Graphics</vt:lpstr>
      <vt:lpstr>Lists</vt:lpstr>
      <vt:lpstr>Lists</vt:lpstr>
      <vt:lpstr>2D Lists</vt:lpstr>
      <vt:lpstr>Animations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Hend Gedawy</dc:creator>
  <cp:lastModifiedBy>Hend Gedawy</cp:lastModifiedBy>
  <cp:revision>6</cp:revision>
  <cp:lastPrinted>2026-04-14T09:57:08Z</cp:lastPrinted>
  <dcterms:created xsi:type="dcterms:W3CDTF">2026-04-14T06:09:56Z</dcterms:created>
  <dcterms:modified xsi:type="dcterms:W3CDTF">2026-04-14T10:00:47Z</dcterms:modified>
</cp:coreProperties>
</file>