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72" r:id="rId2"/>
  </p:sldMasterIdLst>
  <p:notesMasterIdLst>
    <p:notesMasterId r:id="rId37"/>
  </p:notesMasterIdLst>
  <p:sldIdLst>
    <p:sldId id="421" r:id="rId3"/>
    <p:sldId id="457" r:id="rId4"/>
    <p:sldId id="455" r:id="rId5"/>
    <p:sldId id="489" r:id="rId6"/>
    <p:sldId id="456" r:id="rId7"/>
    <p:sldId id="458" r:id="rId8"/>
    <p:sldId id="459" r:id="rId9"/>
    <p:sldId id="461" r:id="rId10"/>
    <p:sldId id="460" r:id="rId11"/>
    <p:sldId id="462" r:id="rId12"/>
    <p:sldId id="503" r:id="rId13"/>
    <p:sldId id="464" r:id="rId14"/>
    <p:sldId id="498" r:id="rId15"/>
    <p:sldId id="499" r:id="rId16"/>
    <p:sldId id="477" r:id="rId17"/>
    <p:sldId id="473" r:id="rId18"/>
    <p:sldId id="480" r:id="rId19"/>
    <p:sldId id="492" r:id="rId20"/>
    <p:sldId id="465" r:id="rId21"/>
    <p:sldId id="478" r:id="rId22"/>
    <p:sldId id="491" r:id="rId23"/>
    <p:sldId id="463" r:id="rId24"/>
    <p:sldId id="468" r:id="rId25"/>
    <p:sldId id="488" r:id="rId26"/>
    <p:sldId id="469" r:id="rId27"/>
    <p:sldId id="485" r:id="rId28"/>
    <p:sldId id="482" r:id="rId29"/>
    <p:sldId id="578" r:id="rId30"/>
    <p:sldId id="496" r:id="rId31"/>
    <p:sldId id="581" r:id="rId32"/>
    <p:sldId id="579" r:id="rId33"/>
    <p:sldId id="501" r:id="rId34"/>
    <p:sldId id="582" r:id="rId35"/>
    <p:sldId id="486" r:id="rId36"/>
  </p:sldIdLst>
  <p:sldSz cx="12192000" cy="6858000"/>
  <p:notesSz cx="6889750" cy="100218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26E"/>
    <a:srgbClr val="FBE5D6"/>
    <a:srgbClr val="C00000"/>
    <a:srgbClr val="A50021"/>
    <a:srgbClr val="0000FF"/>
    <a:srgbClr val="000000"/>
    <a:srgbClr val="808080"/>
    <a:srgbClr val="C41230"/>
    <a:srgbClr val="5F5F5F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79638" autoAdjust="0"/>
  </p:normalViewPr>
  <p:slideViewPr>
    <p:cSldViewPr>
      <p:cViewPr varScale="1">
        <p:scale>
          <a:sx n="56" d="100"/>
          <a:sy n="56" d="100"/>
        </p:scale>
        <p:origin x="1062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4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23:54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3417,'0'3'400,"1"-2"376,0-1-776,2-1-736,-1-8 432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23:55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11562,'2'1'112,"1"1"-2544,0-1 1632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25:52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3545,'-3'2'152,"-1"0"120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09:30:38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1 184,'4'4'16,"4"1"16,1-1-32,6 0-8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D10B35-9BA1-4EFA-A97F-0211293A2C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5558" cy="501094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32ABD-858A-4141-BD3D-167BF0670D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599" y="1"/>
            <a:ext cx="2985558" cy="501094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C3A2AF2-EAB5-42F2-843B-AA3BF1E3EBBC}" type="datetimeFigureOut">
              <a:rPr lang="en-US"/>
              <a:pPr>
                <a:defRPr/>
              </a:pPr>
              <a:t>3/5/2026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80E8C9-A5BB-4031-B299-4CCF520C1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55" tIns="46227" rIns="92455" bIns="4622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436C3B-EB8A-427C-BE86-4D0071B52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6" y="4760398"/>
            <a:ext cx="5511800" cy="4509849"/>
          </a:xfrm>
          <a:prstGeom prst="rect">
            <a:avLst/>
          </a:prstGeom>
        </p:spPr>
        <p:txBody>
          <a:bodyPr vert="horz" lIns="92455" tIns="46227" rIns="92455" bIns="46227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F2E70-4588-480E-ADA4-514F61F8A7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5558" cy="501094"/>
          </a:xfrm>
          <a:prstGeom prst="rect">
            <a:avLst/>
          </a:prstGeom>
        </p:spPr>
        <p:txBody>
          <a:bodyPr vert="horz" lIns="92455" tIns="46227" rIns="92455" bIns="46227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909F0-F412-4739-A97E-A81CDD501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599" y="9519055"/>
            <a:ext cx="2985558" cy="501094"/>
          </a:xfrm>
          <a:prstGeom prst="rect">
            <a:avLst/>
          </a:prstGeom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2F5186-457B-48E6-B657-30D0534A8E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5006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745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5424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2185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7B71-46BC-B0B2-B8BA-F1CA5F48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72DE3-D46B-3759-7F72-4A0DDF67F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87B84-8BA2-E4FD-AE0F-ECA8AF9C4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AA0D5-EC3A-6108-3870-B3CD2E9D7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8720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656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3D35-47E5-F7B0-A3EF-85834BB0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56E42-9B50-2566-A511-BB22584F6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4DF65-3D77-7C22-2590-2263215DE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91A7-62F8-B7B6-1478-AAD15833F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793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105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922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4885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496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3462-31A9-8515-3C2E-115FA9EC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D8A08-E921-7209-9B64-089A4CB5F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55ACB-4150-6C00-B8D3-147F743B9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8FD22-5AB1-7E89-E4A6-64D5F93C6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5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9CB5-EE06-3038-1747-92202012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C1537-4478-48A6-180E-FD72C4FAC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C2F11-807B-B03A-1447-93C71309E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71349-D9A5-BF11-175D-C0538A1CB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447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A04A-3042-7907-80D3-085AF6C5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48D00-1F65-40E4-248F-61D42FFA9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2CC47-0D44-31DC-87DE-456D49EE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F2BBF-C616-D2D2-DF8B-F60B287B3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569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3696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D48C1-F360-4EC0-9AB3-5B1249FA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05177-ACAE-C0DA-52C9-9D84C911F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C7D05-8431-C6F9-7163-03765B864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38481-F1C6-845D-8DF1-1134C309C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548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449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4E59-F67A-0894-5131-B652D898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24FE5-3258-0209-3F5D-EA67B79A7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0D7A2-357D-F0CD-FD66-76555AF3E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81603-3BD4-CEE7-98BD-F3038F0B8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827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438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B1ED-2B27-DB56-DD69-9F3B85CE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8AEAB-13A3-D673-F049-36BADCD4F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A3C7F-78AB-9279-253E-3ABCEE04F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C948-E177-2663-DFFE-B9CA52659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454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247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339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5277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F81B-B3D8-81A9-58D4-2C28F8D8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3F257-0501-ABB8-DFC0-A2647AE69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1585B-23C9-1272-0D27-A33347D98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5CDC1-6A4B-0DA2-4D98-F962C55AC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6998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201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2F50-9672-E474-C4B5-F6B6C7A4E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21870-F106-D3C8-E9E2-D257D9EF6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540EC-39B0-774B-4AB0-3A93DDF17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550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076D3-5540-0DD7-260A-7B4DEA6AF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564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4550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126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37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2717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2F5186-457B-48E6-B657-30D0534A8E16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50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CBB81-D996-45DD-B471-B5CCC20B796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12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320676"/>
            <a:ext cx="8228013" cy="1055688"/>
          </a:xfrm>
        </p:spPr>
        <p:txBody>
          <a:bodyPr>
            <a:normAutofit/>
          </a:bodyPr>
          <a:lstStyle>
            <a:lvl1pPr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6475CC-4C3C-4985-9A0D-0AD10955CBC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32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488CEE-0121-4ADB-B8FD-CCEF6914BF7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23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9683C-4871-4C8F-BEEA-10AF86B392B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92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0BE36-488E-4863-BE8B-D3A83D23C03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7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F92F1-570F-44E4-BBF4-1F8F64D4D95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1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53877-7FD5-4441-908E-24202D23D68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950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33D58C-3E0D-4875-BD18-5F8E67BFAEE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64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6FDA-026B-4FDA-86C9-6656EB6D6CC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95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6BA19-72E9-4837-A60C-1743973BF13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33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B9EA39-B878-4919-926D-201D49DB2F06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3/5/2026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724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37BCBB81-D996-45DD-B471-B5CCC20B796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27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FB6475CC-4C3C-4985-9A0D-0AD10955CBC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94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C488CEE-0121-4ADB-B8FD-CCEF6914BF7E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25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48C9683C-4871-4C8F-BEEA-10AF86B392B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26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DB40BE36-488E-4863-BE8B-D3A83D23C034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1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898F92F1-570F-44E4-BBF4-1F8F64D4D95A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63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63753877-7FD5-4441-908E-24202D23D682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1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9733D58C-3E0D-4875-BD18-5F8E67BFAEE4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04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CBFD6FDA-026B-4FDA-86C9-6656EB6D6CC7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632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DDC6BA19-72E9-4837-A60C-1743973BF13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06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68B9EA39-B878-4919-926D-201D49DB2F0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489D-B01C-440F-AEFD-22E5E33E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9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33455" y="6266890"/>
            <a:ext cx="2280102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8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b-NO"/>
              <a:t>M. Hammoud &amp; M. Sakr-- 2011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4018BDF-3348-4C5B-99DA-BEA80FC25D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3457" y="6266890"/>
            <a:ext cx="2280103" cy="46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FD5F6-C870-44FD-A034-5AC46678175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33457" y="6266890"/>
            <a:ext cx="2280103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5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cmu.edu/~112q/notes/efficiency.html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www.cs.cmu.edu/~112q/notes/efficiency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34" Type="http://schemas.openxmlformats.org/officeDocument/2006/relationships/image" Target="../media/image106.png"/><Relationship Id="rId33" Type="http://schemas.openxmlformats.org/officeDocument/2006/relationships/customXml" Target="../ink/ink3.xml"/><Relationship Id="rId124" Type="http://schemas.openxmlformats.org/officeDocument/2006/relationships/image" Target="../media/image16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120.png"/><Relationship Id="rId31" Type="http://schemas.openxmlformats.org/officeDocument/2006/relationships/customXml" Target="../ink/ink2.xml"/><Relationship Id="rId30" Type="http://schemas.openxmlformats.org/officeDocument/2006/relationships/image" Target="../media/image119.png"/><Relationship Id="rId35" Type="http://schemas.openxmlformats.org/officeDocument/2006/relationships/customXml" Target="../ink/ink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A9C500-9223-4344-96DC-191F7A373D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1219200"/>
            <a:ext cx="10210800" cy="30702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Fundamentals of Programming &amp; Computer Science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CS 15-112</a:t>
            </a:r>
            <a:br>
              <a:rPr lang="en-US" dirty="0">
                <a:solidFill>
                  <a:srgbClr val="0070C0"/>
                </a:solidFill>
              </a:rPr>
            </a:br>
            <a:endParaRPr lang="en-US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1D7BF2B-621A-4ADC-ADB2-E084724076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10000"/>
            <a:ext cx="9144000" cy="2133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4800" b="1" dirty="0"/>
              <a:t>Efficiency</a:t>
            </a:r>
          </a:p>
          <a:p>
            <a:endParaRPr lang="en-US" altLang="en-US" sz="3200" dirty="0"/>
          </a:p>
          <a:p>
            <a:pPr>
              <a:lnSpc>
                <a:spcPct val="100000"/>
              </a:lnSpc>
            </a:pPr>
            <a:r>
              <a:rPr lang="en-US" altLang="en-US" sz="3200" dirty="0"/>
              <a:t>Dr. Hend Gedawy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06FD-DEAC-0496-C3B1-92C6204F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0" y="386556"/>
            <a:ext cx="6476999" cy="1055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There are Many Ways to Solve Any Given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9FBB-0695-6036-9C88-870B6EDA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Our endless search for patterns. How humans have always made decisions… |  by Chelsea Singer | Shopify UX">
            <a:extLst>
              <a:ext uri="{FF2B5EF4-FFF2-40B4-BE49-F238E27FC236}">
                <a16:creationId xmlns:a16="http://schemas.microsoft.com/office/drawing/2014/main" id="{FA8374F9-0389-5EDA-F4DF-E1DC7FC7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799" y="1600200"/>
            <a:ext cx="623570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B21A7-B5F9-5FA3-288A-A8DCD14AF241}"/>
              </a:ext>
            </a:extLst>
          </p:cNvPr>
          <p:cNvSpPr txBox="1"/>
          <p:nvPr/>
        </p:nvSpPr>
        <p:spPr>
          <a:xfrm>
            <a:off x="1936750" y="5597197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Some are Better or more Efficient than Others !</a:t>
            </a:r>
          </a:p>
        </p:txBody>
      </p:sp>
    </p:spTree>
    <p:extLst>
      <p:ext uri="{BB962C8B-B14F-4D97-AF65-F5344CB8AC3E}">
        <p14:creationId xmlns:p14="http://schemas.microsoft.com/office/powerpoint/2010/main" val="57572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270E-8632-7FE6-4C42-8CF5D2C2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Efficiency?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F242E-F8A8-365B-7745-B97AADA6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787667"/>
            <a:ext cx="6096000" cy="105568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Efficiency is a measure of how much of a resource an algorithm uses!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9175C-D10C-7F26-4767-72AE0142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0" name="Picture 6" descr="What's the time?">
            <a:extLst>
              <a:ext uri="{FF2B5EF4-FFF2-40B4-BE49-F238E27FC236}">
                <a16:creationId xmlns:a16="http://schemas.microsoft.com/office/drawing/2014/main" id="{48E75B79-F1E6-42FC-7387-4105B2C02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843355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E08C070-11BC-7AF5-2E9A-7A8FA9B42B76}"/>
              </a:ext>
            </a:extLst>
          </p:cNvPr>
          <p:cNvGrpSpPr/>
          <p:nvPr/>
        </p:nvGrpSpPr>
        <p:grpSpPr>
          <a:xfrm>
            <a:off x="6781800" y="3124200"/>
            <a:ext cx="2362200" cy="2149535"/>
            <a:chOff x="6400800" y="3451185"/>
            <a:chExt cx="2209800" cy="203521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8F20F09-074E-1DBB-3BC4-08018B9FB621}"/>
                </a:ext>
              </a:extLst>
            </p:cNvPr>
            <p:cNvSpPr/>
            <p:nvPr/>
          </p:nvSpPr>
          <p:spPr>
            <a:xfrm>
              <a:off x="6400800" y="3505200"/>
              <a:ext cx="1295400" cy="1219200"/>
            </a:xfrm>
            <a:prstGeom prst="ellipse">
              <a:avLst/>
            </a:prstGeom>
            <a:solidFill>
              <a:srgbClr val="C00000">
                <a:alpha val="21176"/>
              </a:srgbClr>
            </a:solidFill>
            <a:ln w="28575">
              <a:solidFill>
                <a:srgbClr val="A500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4A5D8B0-E475-3AF2-6C22-16D01597383B}"/>
                </a:ext>
              </a:extLst>
            </p:cNvPr>
            <p:cNvSpPr/>
            <p:nvPr/>
          </p:nvSpPr>
          <p:spPr>
            <a:xfrm>
              <a:off x="7315200" y="3451185"/>
              <a:ext cx="1295400" cy="1219200"/>
            </a:xfrm>
            <a:prstGeom prst="ellipse">
              <a:avLst/>
            </a:prstGeom>
            <a:solidFill>
              <a:srgbClr val="C00000">
                <a:alpha val="21176"/>
              </a:srgbClr>
            </a:solidFill>
            <a:ln w="28575">
              <a:solidFill>
                <a:srgbClr val="A500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A64EB0-2751-0BD5-C431-EE17278F5F3C}"/>
                </a:ext>
              </a:extLst>
            </p:cNvPr>
            <p:cNvSpPr/>
            <p:nvPr/>
          </p:nvSpPr>
          <p:spPr>
            <a:xfrm>
              <a:off x="6858000" y="4267200"/>
              <a:ext cx="1295400" cy="1219200"/>
            </a:xfrm>
            <a:prstGeom prst="ellipse">
              <a:avLst/>
            </a:prstGeom>
            <a:solidFill>
              <a:srgbClr val="C00000">
                <a:alpha val="21176"/>
              </a:srgbClr>
            </a:solidFill>
            <a:ln w="28575">
              <a:solidFill>
                <a:srgbClr val="A500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0255291-2DB2-DB27-96A5-C4D7B4D99375}"/>
              </a:ext>
            </a:extLst>
          </p:cNvPr>
          <p:cNvSpPr txBox="1"/>
          <p:nvPr/>
        </p:nvSpPr>
        <p:spPr>
          <a:xfrm>
            <a:off x="2971800" y="5648464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953460-E4C3-8ADC-64BF-994FC1AB4C81}"/>
              </a:ext>
            </a:extLst>
          </p:cNvPr>
          <p:cNvSpPr txBox="1"/>
          <p:nvPr/>
        </p:nvSpPr>
        <p:spPr>
          <a:xfrm>
            <a:off x="6858000" y="5648464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94622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00FC-A8CB-BAA6-1026-F2F478ED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FB79-522C-E596-27A9-A4860A95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Efficiency?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130C-90CC-F76B-1909-744BB01FA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787667"/>
            <a:ext cx="6096000" cy="105568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Efficiency is a measure of how much of a resource an algorithm uses!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2964-58B0-582A-5F92-43217FE4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0" name="Picture 6" descr="What's the time?">
            <a:extLst>
              <a:ext uri="{FF2B5EF4-FFF2-40B4-BE49-F238E27FC236}">
                <a16:creationId xmlns:a16="http://schemas.microsoft.com/office/drawing/2014/main" id="{3AAADFDE-5ED6-EC47-CE41-B1999F0DC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27432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A2B6C3-CA5E-DF5C-AA42-1A3829154860}"/>
              </a:ext>
            </a:extLst>
          </p:cNvPr>
          <p:cNvSpPr txBox="1"/>
          <p:nvPr/>
        </p:nvSpPr>
        <p:spPr>
          <a:xfrm>
            <a:off x="4762500" y="5548309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95578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F7D0-06E8-1F63-E9A0-41500D74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DAC1-7A5F-2273-5C7C-F11C42FE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Care About Time Efficiency?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23341-CA0A-DE28-F273-2BB691E6C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96" y="3287770"/>
            <a:ext cx="4251012" cy="91440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Every </a:t>
            </a:r>
            <a:r>
              <a:rPr lang="en-US" b="1" dirty="0">
                <a:solidFill>
                  <a:srgbClr val="C00000"/>
                </a:solidFill>
              </a:rPr>
              <a:t>100 </a:t>
            </a:r>
            <a:r>
              <a:rPr lang="en-US" b="1" dirty="0" err="1">
                <a:solidFill>
                  <a:srgbClr val="C00000"/>
                </a:solidFill>
              </a:rPr>
              <a:t>ms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of </a:t>
            </a:r>
            <a:r>
              <a:rPr lang="en-US" b="1" dirty="0">
                <a:solidFill>
                  <a:srgbClr val="C00000"/>
                </a:solidFill>
              </a:rPr>
              <a:t>delay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in website loading time</a:t>
            </a:r>
          </a:p>
          <a:p>
            <a:pPr marL="0" indent="0" algn="ctr">
              <a:buNone/>
            </a:pP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CB65-C460-5C91-2EC5-DABAF8ED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42D34FF-F994-D218-6D1E-DE63A4015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822393"/>
            <a:ext cx="3657600" cy="110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0 things that Google has made your life easy with - India Today">
            <a:extLst>
              <a:ext uri="{FF2B5EF4-FFF2-40B4-BE49-F238E27FC236}">
                <a16:creationId xmlns:a16="http://schemas.microsoft.com/office/drawing/2014/main" id="{E986553C-B547-F9FF-6E76-4F9373A63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2" r="5294"/>
          <a:stretch/>
        </p:blipFill>
        <p:spPr bwMode="auto">
          <a:xfrm>
            <a:off x="228600" y="4206007"/>
            <a:ext cx="4648200" cy="260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CDD18DC-615B-7A5A-0ECF-E172A5BEE681}"/>
              </a:ext>
            </a:extLst>
          </p:cNvPr>
          <p:cNvSpPr/>
          <p:nvPr/>
        </p:nvSpPr>
        <p:spPr>
          <a:xfrm rot="10800000">
            <a:off x="6765815" y="4597853"/>
            <a:ext cx="455676" cy="431346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7E718-3595-4575-BC76-0DE7A111A776}"/>
              </a:ext>
            </a:extLst>
          </p:cNvPr>
          <p:cNvSpPr txBox="1"/>
          <p:nvPr/>
        </p:nvSpPr>
        <p:spPr>
          <a:xfrm>
            <a:off x="6993653" y="4564553"/>
            <a:ext cx="3810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</a:rPr>
              <a:t>1% decrease in 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EFACC-126E-3515-FD3E-BDECE560B6EA}"/>
              </a:ext>
            </a:extLst>
          </p:cNvPr>
          <p:cNvSpPr txBox="1"/>
          <p:nvPr/>
        </p:nvSpPr>
        <p:spPr>
          <a:xfrm>
            <a:off x="914400" y="1996276"/>
            <a:ext cx="472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An </a:t>
            </a:r>
            <a:r>
              <a:rPr lang="en-US" sz="2400" b="1" dirty="0">
                <a:solidFill>
                  <a:srgbClr val="C00000"/>
                </a:solidFill>
              </a:rPr>
              <a:t>extra half-second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in search page generation time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6E1694-96BA-7D9D-1DC1-6B121F67E350}"/>
              </a:ext>
            </a:extLst>
          </p:cNvPr>
          <p:cNvSpPr txBox="1"/>
          <p:nvPr/>
        </p:nvSpPr>
        <p:spPr>
          <a:xfrm>
            <a:off x="1371669" y="3133694"/>
            <a:ext cx="3765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 20% decrease in traffic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57B47FB-ED60-1922-993E-09B335B1C641}"/>
              </a:ext>
            </a:extLst>
          </p:cNvPr>
          <p:cNvSpPr/>
          <p:nvPr/>
        </p:nvSpPr>
        <p:spPr>
          <a:xfrm rot="10800000">
            <a:off x="1159610" y="3195935"/>
            <a:ext cx="455676" cy="431346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2A195-2D78-3777-37FE-F525F54BFEC9}"/>
              </a:ext>
            </a:extLst>
          </p:cNvPr>
          <p:cNvSpPr txBox="1"/>
          <p:nvPr/>
        </p:nvSpPr>
        <p:spPr>
          <a:xfrm>
            <a:off x="914400" y="3632305"/>
            <a:ext cx="4542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(less advertising revenue)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01748-25B7-C009-5699-F402DEBCE295}"/>
              </a:ext>
            </a:extLst>
          </p:cNvPr>
          <p:cNvSpPr txBox="1"/>
          <p:nvPr/>
        </p:nvSpPr>
        <p:spPr>
          <a:xfrm>
            <a:off x="7010400" y="5186065"/>
            <a:ext cx="403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C00000"/>
                </a:solidFill>
              </a:rPr>
              <a:t>(billions of dollars)</a:t>
            </a:r>
          </a:p>
        </p:txBody>
      </p:sp>
    </p:spTree>
    <p:extLst>
      <p:ext uri="{BB962C8B-B14F-4D97-AF65-F5344CB8AC3E}">
        <p14:creationId xmlns:p14="http://schemas.microsoft.com/office/powerpoint/2010/main" val="50407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/>
      <p:bldP spid="9" grpId="0"/>
      <p:bldP spid="11" grpId="0"/>
      <p:bldP spid="12" grpId="0" animBg="1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1A49-3D8E-ED22-BA02-DCD54104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44C5-E632-0140-38D9-D25EDBE0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993" y="144778"/>
            <a:ext cx="8228013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Care About Time Efficiency?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63668-B896-0B5C-7F25-0E13FB77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6" name="Picture 10" descr="Foto de Lista De Verificação De Smileys e mais fotos de stock de Ícone de  Computador - Ícone de Computador, Rosto humano sorridente, Sorrindo - iStock">
            <a:extLst>
              <a:ext uri="{FF2B5EF4-FFF2-40B4-BE49-F238E27FC236}">
                <a16:creationId xmlns:a16="http://schemas.microsoft.com/office/drawing/2014/main" id="{0A1AEF24-5708-484C-11F9-AAC299B59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2"/>
          <a:stretch/>
        </p:blipFill>
        <p:spPr bwMode="auto">
          <a:xfrm>
            <a:off x="2227819" y="1883046"/>
            <a:ext cx="3158935" cy="189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Business Loss Concepts 4711098 Vector Art at Vecteezy">
            <a:extLst>
              <a:ext uri="{FF2B5EF4-FFF2-40B4-BE49-F238E27FC236}">
                <a16:creationId xmlns:a16="http://schemas.microsoft.com/office/drawing/2014/main" id="{4332997A-87B8-4343-4A7E-E718585B1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7"/>
          <a:stretch/>
        </p:blipFill>
        <p:spPr bwMode="auto">
          <a:xfrm>
            <a:off x="6846925" y="1447800"/>
            <a:ext cx="2730829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Dos and don'ts for better battery life">
            <a:extLst>
              <a:ext uri="{FF2B5EF4-FFF2-40B4-BE49-F238E27FC236}">
                <a16:creationId xmlns:a16="http://schemas.microsoft.com/office/drawing/2014/main" id="{1876F492-12F5-7903-0666-C75694D32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4"/>
          <a:stretch/>
        </p:blipFill>
        <p:spPr bwMode="auto">
          <a:xfrm>
            <a:off x="6632941" y="4774712"/>
            <a:ext cx="2917825" cy="170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utoShape 18" descr="What is a CPU? | PDQ">
            <a:extLst>
              <a:ext uri="{FF2B5EF4-FFF2-40B4-BE49-F238E27FC236}">
                <a16:creationId xmlns:a16="http://schemas.microsoft.com/office/drawing/2014/main" id="{E1A9E8EA-063C-E233-74BC-66761763D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16" name="Picture 20" descr="What is CPU (Central Processing Unit)?">
            <a:extLst>
              <a:ext uri="{FF2B5EF4-FFF2-40B4-BE49-F238E27FC236}">
                <a16:creationId xmlns:a16="http://schemas.microsoft.com/office/drawing/2014/main" id="{852AF46F-8A4E-35B2-CE6E-03E1DB867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68" y="4758368"/>
            <a:ext cx="1642432" cy="164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7,482 Random Access Memory Images, Stock Photos, 3D objects, &amp; Vectors |  Shutterstock">
            <a:extLst>
              <a:ext uri="{FF2B5EF4-FFF2-40B4-BE49-F238E27FC236}">
                <a16:creationId xmlns:a16="http://schemas.microsoft.com/office/drawing/2014/main" id="{3B4EB8B5-0641-E87C-2EC6-316275290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6" t="20000" r="12307" b="28571"/>
          <a:stretch/>
        </p:blipFill>
        <p:spPr bwMode="auto">
          <a:xfrm>
            <a:off x="3505200" y="4893784"/>
            <a:ext cx="1828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6F25D5-9103-8CF3-AD98-DB8CA4B99223}"/>
              </a:ext>
            </a:extLst>
          </p:cNvPr>
          <p:cNvSpPr txBox="1"/>
          <p:nvPr/>
        </p:nvSpPr>
        <p:spPr>
          <a:xfrm>
            <a:off x="2291538" y="1193879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User Experience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6AE015-6025-A8A7-24C8-0CD1DD8B1BFF}"/>
              </a:ext>
            </a:extLst>
          </p:cNvPr>
          <p:cNvSpPr txBox="1"/>
          <p:nvPr/>
        </p:nvSpPr>
        <p:spPr>
          <a:xfrm>
            <a:off x="2209800" y="4279917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Compute Resources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8E1462-6CF7-BA1A-786E-CEFCAB3FFCEF}"/>
              </a:ext>
            </a:extLst>
          </p:cNvPr>
          <p:cNvSpPr txBox="1"/>
          <p:nvPr/>
        </p:nvSpPr>
        <p:spPr>
          <a:xfrm>
            <a:off x="6781800" y="4328701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Battery Lifetime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AB9D55-257C-1B74-BA2F-95E5ADC95E10}"/>
              </a:ext>
            </a:extLst>
          </p:cNvPr>
          <p:cNvSpPr txBox="1"/>
          <p:nvPr/>
        </p:nvSpPr>
        <p:spPr>
          <a:xfrm>
            <a:off x="6324600" y="1171499"/>
            <a:ext cx="381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Business/Commercial Costs</a:t>
            </a:r>
          </a:p>
        </p:txBody>
      </p:sp>
    </p:spTree>
    <p:extLst>
      <p:ext uri="{BB962C8B-B14F-4D97-AF65-F5344CB8AC3E}">
        <p14:creationId xmlns:p14="http://schemas.microsoft.com/office/powerpoint/2010/main" val="282999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95A8-3E07-AD22-5202-49747DAC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How to Assess Time Efficiency?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2627B-3301-B689-CC78-2445A8DD9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200" y="4988150"/>
            <a:ext cx="7010400" cy="13345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Measure Elapsed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8F32-E437-EFB7-5732-3DDBCC2C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6" descr="What's the time?">
            <a:extLst>
              <a:ext uri="{FF2B5EF4-FFF2-40B4-BE49-F238E27FC236}">
                <a16:creationId xmlns:a16="http://schemas.microsoft.com/office/drawing/2014/main" id="{093B1C4E-22AF-822A-014C-FE330DCD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95400"/>
            <a:ext cx="3529155" cy="352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CC85EA90-5504-2536-4E9C-B44B5EB012DA}"/>
              </a:ext>
            </a:extLst>
          </p:cNvPr>
          <p:cNvSpPr/>
          <p:nvPr/>
        </p:nvSpPr>
        <p:spPr>
          <a:xfrm>
            <a:off x="6934200" y="1143000"/>
            <a:ext cx="5105400" cy="3276600"/>
          </a:xfrm>
          <a:prstGeom prst="irregularSeal2">
            <a:avLst/>
          </a:prstGeom>
          <a:solidFill>
            <a:srgbClr val="F8526E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Download</a:t>
            </a:r>
            <a:r>
              <a:rPr lang="en-US" dirty="0"/>
              <a:t> from code repo </a:t>
            </a:r>
            <a:r>
              <a:rPr lang="en-US" b="1" dirty="0">
                <a:solidFill>
                  <a:srgbClr val="FF0000"/>
                </a:solidFill>
              </a:rPr>
              <a:t>1Mnumbers.txt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elpasedTime.py</a:t>
            </a:r>
          </a:p>
          <a:p>
            <a:pPr algn="ctr"/>
            <a:r>
              <a:rPr lang="en-US" b="1" dirty="0"/>
              <a:t>RUN CODE </a:t>
            </a:r>
          </a:p>
          <a:p>
            <a:pPr algn="ctr"/>
            <a:r>
              <a:rPr lang="en-US" dirty="0"/>
              <a:t>CHECK TIME </a:t>
            </a:r>
          </a:p>
        </p:txBody>
      </p:sp>
    </p:spTree>
    <p:extLst>
      <p:ext uri="{BB962C8B-B14F-4D97-AF65-F5344CB8AC3E}">
        <p14:creationId xmlns:p14="http://schemas.microsoft.com/office/powerpoint/2010/main" val="337906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0BD-4D27-75FE-C410-75519B77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does elapsed-time vary across different devices?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47C47-B0EC-C158-A467-C121407E8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Hardware Differences: </a:t>
            </a:r>
          </a:p>
          <a:p>
            <a:pPr lvl="1"/>
            <a:r>
              <a:rPr lang="en-US" dirty="0"/>
              <a:t>CPU speed, number of cores, memory (RAM), disk speed, etc.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Operating System: </a:t>
            </a:r>
          </a:p>
          <a:p>
            <a:pPr lvl="1"/>
            <a:r>
              <a:rPr lang="en-US" dirty="0"/>
              <a:t>Different OSs may have different scheduling algorithms, memory management strategies, and other system-level optimizations that can impact runtime.</a:t>
            </a:r>
          </a:p>
          <a:p>
            <a:endParaRPr lang="en-US" dirty="0"/>
          </a:p>
          <a:p>
            <a:r>
              <a:rPr lang="en-US" b="1" dirty="0"/>
              <a:t>Resource Utilization: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If the system is under heavy load or if other resource-intensive tasks are running concurrently, the algorithm may experience slower execution times.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C757A-5389-6557-23EB-5005DA09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88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8319-9EBE-0F05-0C13-F508DCBE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How to Assess Time Efficiency?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4E9D9-EF04-2E9A-7544-8853BA254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4E4E4E"/>
                </a:solidFill>
                <a:effectLst/>
                <a:latin typeface="Open Sans" panose="020B0606030504020204" pitchFamily="34" charset="0"/>
              </a:rPr>
              <a:t>We want to measure the efficiency of an algorithm independent of the speed of the computer it is run on.</a:t>
            </a:r>
            <a:endParaRPr lang="en-US" b="1" i="0" dirty="0">
              <a:solidFill>
                <a:srgbClr val="666666"/>
              </a:solidFill>
              <a:effectLst/>
              <a:latin typeface="Open Sans" panose="020B0606030504020204" pitchFamily="34" charset="0"/>
            </a:endParaRPr>
          </a:p>
          <a:p>
            <a:pPr marL="0" indent="0" algn="ctr">
              <a:buNone/>
            </a:pPr>
            <a:endParaRPr lang="en-US" b="1" i="0" dirty="0">
              <a:solidFill>
                <a:srgbClr val="666666"/>
              </a:solidFill>
              <a:effectLst/>
              <a:latin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b="1" i="0" dirty="0">
                <a:solidFill>
                  <a:srgbClr val="666666"/>
                </a:solidFill>
                <a:effectLst/>
                <a:latin typeface="Open Sans" panose="020B0606030504020204" pitchFamily="34" charset="0"/>
              </a:rPr>
              <a:t>A better </a:t>
            </a:r>
            <a:r>
              <a:rPr lang="en-US" b="1" dirty="0">
                <a:solidFill>
                  <a:srgbClr val="666666"/>
                </a:solidFill>
                <a:latin typeface="Open Sans" panose="020B0606030504020204" pitchFamily="34" charset="0"/>
              </a:rPr>
              <a:t>alternative is </a:t>
            </a:r>
            <a:r>
              <a:rPr lang="en-US" b="1" i="0" dirty="0">
                <a:solidFill>
                  <a:srgbClr val="666666"/>
                </a:solidFill>
                <a:effectLst/>
                <a:latin typeface="Open Sans" panose="020B0606030504020204" pitchFamily="34" charset="0"/>
              </a:rPr>
              <a:t>Counting Steps that the code takes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Open Sans" panose="020B0606030504020204" pitchFamily="34" charset="0"/>
              </a:rPr>
              <a:t>… Given input of size (N) …</a:t>
            </a:r>
          </a:p>
          <a:p>
            <a:pPr marL="0" indent="0" algn="ctr">
              <a:buNone/>
            </a:pPr>
            <a:endParaRPr lang="en-US" b="1" dirty="0">
              <a:solidFill>
                <a:srgbClr val="666666"/>
              </a:solidFill>
              <a:latin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Open Sans" panose="020B0606030504020204" pitchFamily="34" charset="0"/>
              </a:rPr>
              <a:t>V</a:t>
            </a:r>
            <a:r>
              <a:rPr lang="en-US" i="0" dirty="0">
                <a:solidFill>
                  <a:srgbClr val="666666"/>
                </a:solidFill>
                <a:effectLst/>
                <a:latin typeface="Open Sans" panose="020B0606030504020204" pitchFamily="34" charset="0"/>
              </a:rPr>
              <a:t>ery good proxy to time performance </a:t>
            </a:r>
          </a:p>
          <a:p>
            <a:pPr marL="0" indent="0" algn="ctr">
              <a:buNone/>
            </a:pPr>
            <a:r>
              <a:rPr lang="en-US" i="0" dirty="0">
                <a:solidFill>
                  <a:srgbClr val="666666"/>
                </a:solidFill>
                <a:effectLst/>
                <a:latin typeface="Open Sans" panose="020B0606030504020204" pitchFamily="34" charset="0"/>
              </a:rPr>
              <a:t>(but always constant)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7FB08-9160-2F36-FDA1-5AFE9901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95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ACB9-7D0D-5F69-704A-E6A3075F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C785A-B781-D5AD-929F-6F84C4C17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2100071"/>
            <a:ext cx="9523414" cy="304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rgbClr val="4E4E4E"/>
                </a:solidFill>
                <a:latin typeface="Open Sans" panose="020B0606030504020204" pitchFamily="34" charset="0"/>
              </a:rPr>
              <a:t>Two rules: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4E4E4E"/>
              </a:solidFill>
              <a:latin typeface="Open Sans" panose="020B0606030504020204" pitchFamily="34" charset="0"/>
            </a:endParaRPr>
          </a:p>
          <a:p>
            <a:pPr algn="ctr"/>
            <a:r>
              <a:rPr lang="en-US" sz="2400" b="1" dirty="0">
                <a:solidFill>
                  <a:srgbClr val="4E4E4E"/>
                </a:solidFill>
                <a:latin typeface="Open Sans" panose="020B0606030504020204" pitchFamily="34" charset="0"/>
              </a:rPr>
              <a:t> A step takes constant amount of time;</a:t>
            </a:r>
          </a:p>
          <a:p>
            <a:pPr marL="457200" lvl="1" indent="0" algn="ctr">
              <a:buNone/>
            </a:pPr>
            <a:r>
              <a:rPr lang="en-US" sz="2000" b="1" dirty="0">
                <a:solidFill>
                  <a:srgbClr val="4E4E4E"/>
                </a:solidFill>
                <a:latin typeface="Open Sans" panose="020B0606030504020204" pitchFamily="34" charset="0"/>
              </a:rPr>
              <a:t> i.e. time doesn’t increase as the input size (called n) increases</a:t>
            </a:r>
          </a:p>
          <a:p>
            <a:pPr algn="ctr"/>
            <a:endParaRPr lang="en-US" sz="2400" b="1" dirty="0">
              <a:solidFill>
                <a:srgbClr val="4E4E4E"/>
              </a:solidFill>
              <a:latin typeface="Open Sans" panose="020B0606030504020204" pitchFamily="34" charset="0"/>
            </a:endParaRPr>
          </a:p>
          <a:p>
            <a:pPr algn="ctr"/>
            <a:r>
              <a:rPr lang="en-US" sz="2400" b="1" dirty="0">
                <a:solidFill>
                  <a:srgbClr val="4E4E4E"/>
                </a:solidFill>
                <a:latin typeface="Open Sans" panose="020B0606030504020204" pitchFamily="34" charset="0"/>
              </a:rPr>
              <a:t>Generally, A line of code is a single step if the whole line runs in constant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AE278-55FC-016C-9641-088E9F0F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73D4-F0A7-B4C1-6BE5-73EE92CA6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3F0C-7CEF-5709-970C-1983AE95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F9A9-835D-AB77-DEA4-9FCE3B97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16F3A6-81DA-141F-3CE5-F9D33D5AC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688" y="2286000"/>
            <a:ext cx="4391037" cy="29406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31675D-C7A4-88F4-FBC2-BB65288FFBEE}"/>
              </a:ext>
            </a:extLst>
          </p:cNvPr>
          <p:cNvSpPr txBox="1"/>
          <p:nvPr/>
        </p:nvSpPr>
        <p:spPr>
          <a:xfrm>
            <a:off x="990600" y="653089"/>
            <a:ext cx="19921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Size (n) is the integer 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3D593E-12E9-AA53-5460-D1E8A349C421}"/>
              </a:ext>
            </a:extLst>
          </p:cNvPr>
          <p:cNvSpPr txBox="1"/>
          <p:nvPr/>
        </p:nvSpPr>
        <p:spPr>
          <a:xfrm>
            <a:off x="7724775" y="32004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48C17-5929-C5C0-DB22-17125BFD2320}"/>
              </a:ext>
            </a:extLst>
          </p:cNvPr>
          <p:cNvSpPr txBox="1"/>
          <p:nvPr/>
        </p:nvSpPr>
        <p:spPr>
          <a:xfrm>
            <a:off x="8086725" y="38862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 step for range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Loop runs for n iterations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BA605-3A11-7ED4-67AC-D186D1BB01C2}"/>
              </a:ext>
            </a:extLst>
          </p:cNvPr>
          <p:cNvSpPr txBox="1"/>
          <p:nvPr/>
        </p:nvSpPr>
        <p:spPr>
          <a:xfrm>
            <a:off x="7045725" y="446508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3968D-72C0-83F9-CC68-1F2D93D9BD71}"/>
              </a:ext>
            </a:extLst>
          </p:cNvPr>
          <p:cNvSpPr txBox="1"/>
          <p:nvPr/>
        </p:nvSpPr>
        <p:spPr>
          <a:xfrm>
            <a:off x="5486400" y="5008045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update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-----1 step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62DA9F2-D85F-C708-DDB2-AC359FC2F9F1}"/>
              </a:ext>
            </a:extLst>
          </p:cNvPr>
          <p:cNvSpPr/>
          <p:nvPr/>
        </p:nvSpPr>
        <p:spPr>
          <a:xfrm>
            <a:off x="5064524" y="4595065"/>
            <a:ext cx="421876" cy="706955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4089EB-F0C3-49B6-281F-CCCAB239D6EA}"/>
              </a:ext>
            </a:extLst>
          </p:cNvPr>
          <p:cNvSpPr txBox="1"/>
          <p:nvPr/>
        </p:nvSpPr>
        <p:spPr>
          <a:xfrm>
            <a:off x="4759724" y="4739533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2 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347EA50D-2FD5-2BCC-12F8-89968C4D7514}"/>
              </a:ext>
            </a:extLst>
          </p:cNvPr>
          <p:cNvSpPr/>
          <p:nvPr/>
        </p:nvSpPr>
        <p:spPr>
          <a:xfrm>
            <a:off x="4226324" y="4093645"/>
            <a:ext cx="421876" cy="128373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B38082-91D6-7C7D-F045-023DC2A0BE16}"/>
              </a:ext>
            </a:extLst>
          </p:cNvPr>
          <p:cNvSpPr txBox="1"/>
          <p:nvPr/>
        </p:nvSpPr>
        <p:spPr>
          <a:xfrm>
            <a:off x="3857424" y="4381568"/>
            <a:ext cx="60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1+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2n 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50B0DAE-B694-B56A-C712-EBAC532AEF88}"/>
              </a:ext>
            </a:extLst>
          </p:cNvPr>
          <p:cNvSpPr/>
          <p:nvPr/>
        </p:nvSpPr>
        <p:spPr>
          <a:xfrm>
            <a:off x="4211248" y="3201534"/>
            <a:ext cx="421876" cy="456066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E48B62-5B9E-2A67-5580-42B6290B11DA}"/>
              </a:ext>
            </a:extLst>
          </p:cNvPr>
          <p:cNvSpPr txBox="1"/>
          <p:nvPr/>
        </p:nvSpPr>
        <p:spPr>
          <a:xfrm>
            <a:off x="3836397" y="3238717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2CE005-7ABF-854F-530C-F16422A40EEC}"/>
              </a:ext>
            </a:extLst>
          </p:cNvPr>
          <p:cNvSpPr/>
          <p:nvPr/>
        </p:nvSpPr>
        <p:spPr>
          <a:xfrm>
            <a:off x="2281237" y="5795692"/>
            <a:ext cx="7848600" cy="58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Total Number of Steps:  1+1+ 2n =  2n + 2</a:t>
            </a:r>
          </a:p>
        </p:txBody>
      </p:sp>
      <p:sp>
        <p:nvSpPr>
          <p:cNvPr id="23" name="Explosion: 14 Points 22">
            <a:extLst>
              <a:ext uri="{FF2B5EF4-FFF2-40B4-BE49-F238E27FC236}">
                <a16:creationId xmlns:a16="http://schemas.microsoft.com/office/drawing/2014/main" id="{122CB5E4-BFB9-3808-9AC5-821EB40F56A4}"/>
              </a:ext>
            </a:extLst>
          </p:cNvPr>
          <p:cNvSpPr/>
          <p:nvPr/>
        </p:nvSpPr>
        <p:spPr>
          <a:xfrm>
            <a:off x="8763000" y="62700"/>
            <a:ext cx="3139984" cy="2743200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BFCBF-2CF2-636C-B677-7A5300371254}"/>
              </a:ext>
            </a:extLst>
          </p:cNvPr>
          <p:cNvSpPr txBox="1"/>
          <p:nvPr/>
        </p:nvSpPr>
        <p:spPr>
          <a:xfrm rot="20118797">
            <a:off x="9226963" y="1055398"/>
            <a:ext cx="2225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C00000"/>
                </a:solidFill>
                <a:effectLst/>
                <a:latin typeface="-apple-system"/>
              </a:rPr>
              <a:t>Number of iterations with range = </a:t>
            </a:r>
          </a:p>
          <a:p>
            <a:r>
              <a:rPr lang="en-US" b="1" i="0" dirty="0">
                <a:solidFill>
                  <a:srgbClr val="C00000"/>
                </a:solidFill>
                <a:effectLst/>
                <a:latin typeface="-apple-system"/>
              </a:rPr>
              <a:t>(end - start)/step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2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  <p:bldP spid="14" grpId="0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C08D-0674-E9FC-F169-6F5D72E45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7FCC-E4B3-6D7F-F412-9ADBF525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9CE51-30D7-9275-8ADE-BC7DAED8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13EB3-D49A-11CF-6157-4B7C0CE96F44}"/>
              </a:ext>
            </a:extLst>
          </p:cNvPr>
          <p:cNvSpPr txBox="1"/>
          <p:nvPr/>
        </p:nvSpPr>
        <p:spPr>
          <a:xfrm>
            <a:off x="990600" y="653089"/>
            <a:ext cx="19921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Size (n) is the size of the list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2E1476-1C4F-179F-9F09-3A30A6A3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49" y="1993096"/>
            <a:ext cx="8758302" cy="28718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923530A-0B74-7E80-D6F7-CC421CDB06F8}"/>
              </a:ext>
            </a:extLst>
          </p:cNvPr>
          <p:cNvSpPr/>
          <p:nvPr/>
        </p:nvSpPr>
        <p:spPr>
          <a:xfrm>
            <a:off x="6177650" y="3445534"/>
            <a:ext cx="3139091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470E7-6397-BB31-6528-6232EDAB9B00}"/>
              </a:ext>
            </a:extLst>
          </p:cNvPr>
          <p:cNvSpPr/>
          <p:nvPr/>
        </p:nvSpPr>
        <p:spPr>
          <a:xfrm>
            <a:off x="3505457" y="3797225"/>
            <a:ext cx="1143000" cy="328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CF1E0-C4FD-3282-9D18-EF43EFAC6391}"/>
              </a:ext>
            </a:extLst>
          </p:cNvPr>
          <p:cNvSpPr/>
          <p:nvPr/>
        </p:nvSpPr>
        <p:spPr>
          <a:xfrm>
            <a:off x="4684144" y="4032404"/>
            <a:ext cx="137338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9FD634-AC2F-B516-4DDD-6E7D1BCB4C35}"/>
              </a:ext>
            </a:extLst>
          </p:cNvPr>
          <p:cNvSpPr/>
          <p:nvPr/>
        </p:nvSpPr>
        <p:spPr>
          <a:xfrm>
            <a:off x="3505457" y="4373823"/>
            <a:ext cx="1143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C18D8-D14B-B9C3-56F0-B5BC26BA3180}"/>
              </a:ext>
            </a:extLst>
          </p:cNvPr>
          <p:cNvSpPr/>
          <p:nvPr/>
        </p:nvSpPr>
        <p:spPr>
          <a:xfrm>
            <a:off x="4343400" y="3505200"/>
            <a:ext cx="1143000" cy="32889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49C95-AE5A-AAE9-A780-D0AFF1262CE2}"/>
              </a:ext>
            </a:extLst>
          </p:cNvPr>
          <p:cNvSpPr txBox="1"/>
          <p:nvPr/>
        </p:nvSpPr>
        <p:spPr>
          <a:xfrm>
            <a:off x="2816701" y="5211754"/>
            <a:ext cx="6095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Why does </a:t>
            </a:r>
            <a:r>
              <a:rPr lang="en-US" b="1" dirty="0" err="1">
                <a:solidFill>
                  <a:srgbClr val="C00000"/>
                </a:solidFill>
              </a:rPr>
              <a:t>len</a:t>
            </a:r>
            <a:r>
              <a:rPr lang="en-US" b="1" dirty="0">
                <a:solidFill>
                  <a:srgbClr val="C00000"/>
                </a:solidFill>
              </a:rPr>
              <a:t>() take a constant amount of time?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8B87-1F7A-CF3B-2C61-4F2D08C2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0FA9-F485-FF3C-143E-728FBC299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461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Why does </a:t>
            </a:r>
            <a:r>
              <a:rPr lang="en-US" b="1" dirty="0" err="1">
                <a:solidFill>
                  <a:srgbClr val="C00000"/>
                </a:solidFill>
              </a:rPr>
              <a:t>len</a:t>
            </a:r>
            <a:r>
              <a:rPr lang="en-US" b="1" dirty="0">
                <a:solidFill>
                  <a:srgbClr val="C00000"/>
                </a:solidFill>
              </a:rPr>
              <a:t>() take a constant amount of time (1 step)???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</a:rPr>
              <a:t>How come it is not affected by List size??</a:t>
            </a:r>
          </a:p>
          <a:p>
            <a:pPr marL="0" indent="0" algn="ctr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220F-5DF4-4C10-B24D-C263DEE9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0A06F-D2B5-F712-926F-0DFB4AC03E05}"/>
              </a:ext>
            </a:extLst>
          </p:cNvPr>
          <p:cNvSpPr txBox="1"/>
          <p:nvPr/>
        </p:nvSpPr>
        <p:spPr>
          <a:xfrm>
            <a:off x="2438400" y="2883973"/>
            <a:ext cx="8153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02124"/>
                </a:solidFill>
                <a:effectLst/>
                <a:latin typeface="Google Sans"/>
              </a:rPr>
              <a:t>Len() takes constant runtime no matter how many elements are in the list. 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E4C7E-DF84-840D-69E9-689966011DD4}"/>
              </a:ext>
            </a:extLst>
          </p:cNvPr>
          <p:cNvSpPr txBox="1"/>
          <p:nvPr/>
        </p:nvSpPr>
        <p:spPr>
          <a:xfrm>
            <a:off x="2971800" y="3383817"/>
            <a:ext cx="6856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Because in Python  the list object maintains an integer counter that increases and decreases as you add and remove list elements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622A38-4F85-AF15-E276-EA6BF13C1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4254399"/>
            <a:ext cx="3948146" cy="24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4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4640-E442-5B28-5EEE-8DE1151F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C350-5C18-AEE9-A9D8-8DFDF9C8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C6CDA-17FC-6305-6C5E-7F77C650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3CED0-F2B2-F57A-1138-D71B9BB5F7FA}"/>
              </a:ext>
            </a:extLst>
          </p:cNvPr>
          <p:cNvSpPr txBox="1"/>
          <p:nvPr/>
        </p:nvSpPr>
        <p:spPr>
          <a:xfrm>
            <a:off x="990600" y="653089"/>
            <a:ext cx="19921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Size (n) is the size of the list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666D75-8201-0AB6-2D65-18BDE3B62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849" y="1993096"/>
            <a:ext cx="8758302" cy="2871808"/>
          </a:xfrm>
          <a:prstGeom prst="rect">
            <a:avLst/>
          </a:prstGeom>
        </p:spPr>
      </p:pic>
      <p:sp>
        <p:nvSpPr>
          <p:cNvPr id="26" name="Left Brace 25">
            <a:extLst>
              <a:ext uri="{FF2B5EF4-FFF2-40B4-BE49-F238E27FC236}">
                <a16:creationId xmlns:a16="http://schemas.microsoft.com/office/drawing/2014/main" id="{3BF6382C-E061-2CE3-C7B0-219BF3F3AE10}"/>
              </a:ext>
            </a:extLst>
          </p:cNvPr>
          <p:cNvSpPr/>
          <p:nvPr/>
        </p:nvSpPr>
        <p:spPr>
          <a:xfrm>
            <a:off x="1569033" y="3157695"/>
            <a:ext cx="609600" cy="381000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E2E7EBDC-EC76-B42B-D951-15C09A8ACBED}"/>
              </a:ext>
            </a:extLst>
          </p:cNvPr>
          <p:cNvSpPr/>
          <p:nvPr/>
        </p:nvSpPr>
        <p:spPr>
          <a:xfrm>
            <a:off x="1563171" y="3657601"/>
            <a:ext cx="609600" cy="686720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7135B205-E8FA-90BB-ADB9-BB7B037DDA46}"/>
              </a:ext>
            </a:extLst>
          </p:cNvPr>
          <p:cNvSpPr/>
          <p:nvPr/>
        </p:nvSpPr>
        <p:spPr>
          <a:xfrm>
            <a:off x="1545371" y="4425352"/>
            <a:ext cx="609600" cy="27794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0F4E33-C91B-05C7-5543-E70CC4EA97F4}"/>
              </a:ext>
            </a:extLst>
          </p:cNvPr>
          <p:cNvSpPr txBox="1"/>
          <p:nvPr/>
        </p:nvSpPr>
        <p:spPr>
          <a:xfrm>
            <a:off x="1193070" y="3160206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7C928-2E7C-3867-5533-B9CC7E173A20}"/>
              </a:ext>
            </a:extLst>
          </p:cNvPr>
          <p:cNvSpPr txBox="1"/>
          <p:nvPr/>
        </p:nvSpPr>
        <p:spPr>
          <a:xfrm>
            <a:off x="1135279" y="3647018"/>
            <a:ext cx="879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2 +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2n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27735B-B7E3-5C31-3034-7F1832C1CC70}"/>
              </a:ext>
            </a:extLst>
          </p:cNvPr>
          <p:cNvSpPr txBox="1"/>
          <p:nvPr/>
        </p:nvSpPr>
        <p:spPr>
          <a:xfrm>
            <a:off x="1153994" y="4354904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64C828-499C-6C77-2D88-DE68B92A97A3}"/>
              </a:ext>
            </a:extLst>
          </p:cNvPr>
          <p:cNvSpPr/>
          <p:nvPr/>
        </p:nvSpPr>
        <p:spPr>
          <a:xfrm>
            <a:off x="2031150" y="5223209"/>
            <a:ext cx="7848600" cy="58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Total Number of Steps: 1+ 2+ 2n + 1=  2n + 4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57C5DB-1B66-C625-8E28-7F29D17B6176}"/>
              </a:ext>
            </a:extLst>
          </p:cNvPr>
          <p:cNvSpPr/>
          <p:nvPr/>
        </p:nvSpPr>
        <p:spPr>
          <a:xfrm>
            <a:off x="3505456" y="3489576"/>
            <a:ext cx="2133343" cy="3288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A64065-8F82-0BBF-7C7F-A1FF3F646445}"/>
              </a:ext>
            </a:extLst>
          </p:cNvPr>
          <p:cNvSpPr/>
          <p:nvPr/>
        </p:nvSpPr>
        <p:spPr>
          <a:xfrm>
            <a:off x="3505200" y="3485416"/>
            <a:ext cx="2133343" cy="33305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9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9AE0496-04C6-786A-5233-4EBE0875A5B8}"/>
              </a:ext>
            </a:extLst>
          </p:cNvPr>
          <p:cNvSpPr/>
          <p:nvPr/>
        </p:nvSpPr>
        <p:spPr>
          <a:xfrm>
            <a:off x="1524000" y="6231163"/>
            <a:ext cx="7848600" cy="58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Total Number of Steps: 4n+ 4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28C0D39-938F-03B0-92AF-CA958AF7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93" y="2101733"/>
            <a:ext cx="6808025" cy="40704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D53134-A40A-B6B8-E752-A8BDEF15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C18D1-F09E-D1A4-0E29-E1042D52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76D74F-3A9C-5F56-AA7D-33CBF9AB74D2}"/>
              </a:ext>
            </a:extLst>
          </p:cNvPr>
          <p:cNvSpPr txBox="1"/>
          <p:nvPr/>
        </p:nvSpPr>
        <p:spPr>
          <a:xfrm>
            <a:off x="990600" y="653089"/>
            <a:ext cx="19921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Size (n) is the size of the list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F8DA6FCD-2232-4B36-6194-826EB66A39E4}"/>
              </a:ext>
            </a:extLst>
          </p:cNvPr>
          <p:cNvSpPr/>
          <p:nvPr/>
        </p:nvSpPr>
        <p:spPr>
          <a:xfrm>
            <a:off x="3071751" y="4036149"/>
            <a:ext cx="271982" cy="20163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4EEEBD-B338-05C6-E82A-46640BDF6244}"/>
              </a:ext>
            </a:extLst>
          </p:cNvPr>
          <p:cNvSpPr txBox="1"/>
          <p:nvPr/>
        </p:nvSpPr>
        <p:spPr>
          <a:xfrm>
            <a:off x="2764355" y="3969488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1 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AC3223ED-E47C-F941-14D7-3E8406ED75DD}"/>
              </a:ext>
            </a:extLst>
          </p:cNvPr>
          <p:cNvSpPr/>
          <p:nvPr/>
        </p:nvSpPr>
        <p:spPr>
          <a:xfrm>
            <a:off x="3052036" y="4302619"/>
            <a:ext cx="271981" cy="329226"/>
          </a:xfrm>
          <a:prstGeom prst="lef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2220DE-B31B-1BE7-F42D-EDE720A61366}"/>
              </a:ext>
            </a:extLst>
          </p:cNvPr>
          <p:cNvSpPr txBox="1"/>
          <p:nvPr/>
        </p:nvSpPr>
        <p:spPr>
          <a:xfrm>
            <a:off x="2744878" y="4281158"/>
            <a:ext cx="41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2 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22BA4AC-F059-ACC0-AA70-92B927E3C1CA}"/>
              </a:ext>
            </a:extLst>
          </p:cNvPr>
          <p:cNvSpPr/>
          <p:nvPr/>
        </p:nvSpPr>
        <p:spPr>
          <a:xfrm flipV="1">
            <a:off x="2536506" y="3728469"/>
            <a:ext cx="317552" cy="94672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58D86-6227-7E74-6EB5-0868E14EA85D}"/>
              </a:ext>
            </a:extLst>
          </p:cNvPr>
          <p:cNvSpPr txBox="1"/>
          <p:nvPr/>
        </p:nvSpPr>
        <p:spPr>
          <a:xfrm>
            <a:off x="2262152" y="3693998"/>
            <a:ext cx="531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1</a:t>
            </a:r>
            <a:r>
              <a:rPr lang="en-US" sz="2000" b="1" dirty="0">
                <a:solidFill>
                  <a:srgbClr val="C00000"/>
                </a:solidFill>
              </a:rPr>
              <a:t> + 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8D021-2609-E55F-4E77-56622827FBAE}"/>
              </a:ext>
            </a:extLst>
          </p:cNvPr>
          <p:cNvSpPr txBox="1"/>
          <p:nvPr/>
        </p:nvSpPr>
        <p:spPr>
          <a:xfrm>
            <a:off x="2778236" y="3654883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1 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70E25C5-C91B-773F-D9F7-359093858581}"/>
              </a:ext>
            </a:extLst>
          </p:cNvPr>
          <p:cNvSpPr/>
          <p:nvPr/>
        </p:nvSpPr>
        <p:spPr>
          <a:xfrm>
            <a:off x="3052036" y="3827404"/>
            <a:ext cx="271982" cy="163405"/>
          </a:xfrm>
          <a:prstGeom prst="lef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9D988888-0A40-C4BC-D8FE-91014308F0AF}"/>
              </a:ext>
            </a:extLst>
          </p:cNvPr>
          <p:cNvSpPr/>
          <p:nvPr/>
        </p:nvSpPr>
        <p:spPr>
          <a:xfrm>
            <a:off x="2547418" y="5000551"/>
            <a:ext cx="271982" cy="201633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C5C363-0E57-F483-EE30-43066E73C116}"/>
              </a:ext>
            </a:extLst>
          </p:cNvPr>
          <p:cNvSpPr txBox="1"/>
          <p:nvPr/>
        </p:nvSpPr>
        <p:spPr>
          <a:xfrm>
            <a:off x="2278179" y="4896558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53FD364F-333B-7F60-B866-AD7584295051}"/>
              </a:ext>
            </a:extLst>
          </p:cNvPr>
          <p:cNvSpPr/>
          <p:nvPr/>
        </p:nvSpPr>
        <p:spPr>
          <a:xfrm flipV="1">
            <a:off x="2002212" y="3387341"/>
            <a:ext cx="477330" cy="1982655"/>
          </a:xfrm>
          <a:prstGeom prst="leftBrace">
            <a:avLst>
              <a:gd name="adj1" fmla="val 28065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92D366-9287-9295-4013-3F41F3B6FD3D}"/>
              </a:ext>
            </a:extLst>
          </p:cNvPr>
          <p:cNvSpPr txBox="1"/>
          <p:nvPr/>
        </p:nvSpPr>
        <p:spPr>
          <a:xfrm>
            <a:off x="1512896" y="4169543"/>
            <a:ext cx="518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4n </a:t>
            </a: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8469E287-4218-66AA-5AB3-4CAFB20E7F16}"/>
              </a:ext>
            </a:extLst>
          </p:cNvPr>
          <p:cNvSpPr/>
          <p:nvPr/>
        </p:nvSpPr>
        <p:spPr>
          <a:xfrm>
            <a:off x="2567868" y="5472653"/>
            <a:ext cx="271982" cy="201633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9A4EC7-4C92-F646-8D07-B5AD3D83DB3F}"/>
              </a:ext>
            </a:extLst>
          </p:cNvPr>
          <p:cNvSpPr txBox="1"/>
          <p:nvPr/>
        </p:nvSpPr>
        <p:spPr>
          <a:xfrm>
            <a:off x="2260472" y="5405992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1D61DA09-AEA6-FC3B-A281-202316006E3F}"/>
              </a:ext>
            </a:extLst>
          </p:cNvPr>
          <p:cNvSpPr/>
          <p:nvPr/>
        </p:nvSpPr>
        <p:spPr>
          <a:xfrm>
            <a:off x="2564621" y="5921665"/>
            <a:ext cx="271982" cy="201633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5D1AF-1E4A-7288-CEA5-24F556356BA1}"/>
              </a:ext>
            </a:extLst>
          </p:cNvPr>
          <p:cNvSpPr txBox="1"/>
          <p:nvPr/>
        </p:nvSpPr>
        <p:spPr>
          <a:xfrm>
            <a:off x="2257225" y="5855004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D3661E78-381E-F2D4-9CBD-D2B11DE6831B}"/>
              </a:ext>
            </a:extLst>
          </p:cNvPr>
          <p:cNvSpPr/>
          <p:nvPr/>
        </p:nvSpPr>
        <p:spPr>
          <a:xfrm>
            <a:off x="2527924" y="2629950"/>
            <a:ext cx="271982" cy="201633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62617E-1389-0CAD-6558-EB925F95959D}"/>
              </a:ext>
            </a:extLst>
          </p:cNvPr>
          <p:cNvSpPr txBox="1"/>
          <p:nvPr/>
        </p:nvSpPr>
        <p:spPr>
          <a:xfrm>
            <a:off x="2220528" y="2563289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B6CB2CD0-7631-DBE8-ACF8-F0B726836972}"/>
              </a:ext>
            </a:extLst>
          </p:cNvPr>
          <p:cNvSpPr/>
          <p:nvPr/>
        </p:nvSpPr>
        <p:spPr>
          <a:xfrm>
            <a:off x="2547418" y="2886061"/>
            <a:ext cx="271982" cy="201633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8A96D4-5C7D-8947-DD58-F261050DF867}"/>
              </a:ext>
            </a:extLst>
          </p:cNvPr>
          <p:cNvSpPr txBox="1"/>
          <p:nvPr/>
        </p:nvSpPr>
        <p:spPr>
          <a:xfrm>
            <a:off x="2240022" y="2819400"/>
            <a:ext cx="385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B0F1E61-4B66-84D4-7D0C-09FF7719C4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416" t="58414" b="36115"/>
          <a:stretch/>
        </p:blipFill>
        <p:spPr>
          <a:xfrm>
            <a:off x="6815038" y="4253019"/>
            <a:ext cx="1333318" cy="222686"/>
          </a:xfrm>
          <a:prstGeom prst="rect">
            <a:avLst/>
          </a:prstGeom>
        </p:spPr>
      </p:pic>
      <p:sp>
        <p:nvSpPr>
          <p:cNvPr id="9" name="Explosion: 14 Points 8">
            <a:extLst>
              <a:ext uri="{FF2B5EF4-FFF2-40B4-BE49-F238E27FC236}">
                <a16:creationId xmlns:a16="http://schemas.microsoft.com/office/drawing/2014/main" id="{5D858666-B5E0-E3B2-4BAA-581E161CB8B8}"/>
              </a:ext>
            </a:extLst>
          </p:cNvPr>
          <p:cNvSpPr/>
          <p:nvPr/>
        </p:nvSpPr>
        <p:spPr>
          <a:xfrm>
            <a:off x="9277168" y="1861237"/>
            <a:ext cx="2743199" cy="1840126"/>
          </a:xfrm>
          <a:prstGeom prst="irregularSeal2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Case 2 is the Worst 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BD65D-591C-9F0E-E7C9-6B6CCA75F500}"/>
              </a:ext>
            </a:extLst>
          </p:cNvPr>
          <p:cNvSpPr txBox="1"/>
          <p:nvPr/>
        </p:nvSpPr>
        <p:spPr>
          <a:xfrm>
            <a:off x="9596155" y="3969488"/>
            <a:ext cx="2311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 this course, we apply </a:t>
            </a:r>
            <a:r>
              <a:rPr lang="en-US" b="1" dirty="0">
                <a:solidFill>
                  <a:srgbClr val="C00000"/>
                </a:solidFill>
              </a:rPr>
              <a:t>worst case </a:t>
            </a:r>
            <a:r>
              <a:rPr lang="en-US" dirty="0">
                <a:solidFill>
                  <a:srgbClr val="C00000"/>
                </a:solidFill>
              </a:rPr>
              <a:t>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E4B391-8DBE-9677-3B74-ACDD58653BC7}"/>
              </a:ext>
            </a:extLst>
          </p:cNvPr>
          <p:cNvSpPr/>
          <p:nvPr/>
        </p:nvSpPr>
        <p:spPr>
          <a:xfrm>
            <a:off x="5490884" y="3276600"/>
            <a:ext cx="914400" cy="305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B5BD2-8511-DB8C-5A9A-75136F5C357C}"/>
              </a:ext>
            </a:extLst>
          </p:cNvPr>
          <p:cNvSpPr txBox="1"/>
          <p:nvPr/>
        </p:nvSpPr>
        <p:spPr>
          <a:xfrm>
            <a:off x="5463540" y="3224674"/>
            <a:ext cx="15284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iterations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0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3" grpId="0" animBg="1"/>
      <p:bldP spid="24" grpId="0"/>
      <p:bldP spid="26" grpId="0" animBg="1"/>
      <p:bldP spid="27" grpId="0"/>
      <p:bldP spid="3" grpId="0" animBg="1"/>
      <p:bldP spid="5" grpId="0"/>
      <p:bldP spid="6" grpId="0"/>
      <p:bldP spid="7" grpId="0" animBg="1"/>
      <p:bldP spid="32" grpId="0" animBg="1"/>
      <p:bldP spid="33" grpId="0"/>
      <p:bldP spid="34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9" grpId="0" animBg="1"/>
      <p:bldP spid="14" grpId="0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6CE8-479C-8F69-6BAC-1DC3769D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FEC5A06-E01F-E465-DD80-F2323A38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038629"/>
            <a:ext cx="6905675" cy="22431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81CEE-445D-3F8A-A6AA-756A3545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Counting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15B89-6916-7B6B-264B-EF671846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EE50E77-78A3-1693-596E-071E5EFAFBC6}"/>
              </a:ext>
            </a:extLst>
          </p:cNvPr>
          <p:cNvSpPr/>
          <p:nvPr/>
        </p:nvSpPr>
        <p:spPr>
          <a:xfrm>
            <a:off x="3177362" y="2770680"/>
            <a:ext cx="443499" cy="75996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498BF944-F9BD-7B0C-6E11-1DF1C44BC6EB}"/>
              </a:ext>
            </a:extLst>
          </p:cNvPr>
          <p:cNvSpPr/>
          <p:nvPr/>
        </p:nvSpPr>
        <p:spPr>
          <a:xfrm>
            <a:off x="2696369" y="2432738"/>
            <a:ext cx="408678" cy="187823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24BE45EC-65D2-0E47-AA53-7792C3A79FB7}"/>
              </a:ext>
            </a:extLst>
          </p:cNvPr>
          <p:cNvSpPr/>
          <p:nvPr/>
        </p:nvSpPr>
        <p:spPr>
          <a:xfrm>
            <a:off x="3256272" y="3977898"/>
            <a:ext cx="346133" cy="217450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D05E26-B361-FE17-D0FF-D4121A1CDED0}"/>
              </a:ext>
            </a:extLst>
          </p:cNvPr>
          <p:cNvSpPr txBox="1"/>
          <p:nvPr/>
        </p:nvSpPr>
        <p:spPr>
          <a:xfrm>
            <a:off x="2860733" y="2796718"/>
            <a:ext cx="60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1+2n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AA66D3-F95D-C90D-7585-6E2C3F2F9C7D}"/>
              </a:ext>
            </a:extLst>
          </p:cNvPr>
          <p:cNvSpPr txBox="1"/>
          <p:nvPr/>
        </p:nvSpPr>
        <p:spPr>
          <a:xfrm>
            <a:off x="1545371" y="2812869"/>
            <a:ext cx="1326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+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n (2n+3)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CB38-D112-F7C2-3666-4658A00DCDD7}"/>
              </a:ext>
            </a:extLst>
          </p:cNvPr>
          <p:cNvSpPr txBox="1"/>
          <p:nvPr/>
        </p:nvSpPr>
        <p:spPr>
          <a:xfrm>
            <a:off x="2951472" y="3867997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0C421-3477-5112-2167-353AC435F3F8}"/>
              </a:ext>
            </a:extLst>
          </p:cNvPr>
          <p:cNvSpPr/>
          <p:nvPr/>
        </p:nvSpPr>
        <p:spPr>
          <a:xfrm>
            <a:off x="2043137" y="4924856"/>
            <a:ext cx="7848600" cy="58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Total Number of Steps: 1+ n (2n+3) =  2n</a:t>
            </a:r>
            <a:r>
              <a:rPr lang="en-US" sz="2400" b="1" baseline="30000" dirty="0">
                <a:solidFill>
                  <a:srgbClr val="C00000"/>
                </a:solidFill>
              </a:rPr>
              <a:t>2</a:t>
            </a:r>
            <a:r>
              <a:rPr lang="en-US" sz="2400" baseline="30000" dirty="0">
                <a:solidFill>
                  <a:srgbClr val="4E4E4E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+3n+1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FF062-7A1A-914E-0101-21FBA5E58B39}"/>
              </a:ext>
            </a:extLst>
          </p:cNvPr>
          <p:cNvSpPr txBox="1"/>
          <p:nvPr/>
        </p:nvSpPr>
        <p:spPr>
          <a:xfrm>
            <a:off x="990600" y="649069"/>
            <a:ext cx="23241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Size (n) is the passed integer value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8902A349-18EA-6B5F-6D0B-9AEB78CFC627}"/>
              </a:ext>
            </a:extLst>
          </p:cNvPr>
          <p:cNvSpPr/>
          <p:nvPr/>
        </p:nvSpPr>
        <p:spPr>
          <a:xfrm>
            <a:off x="3272083" y="3618761"/>
            <a:ext cx="339908" cy="277942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CABCE-6DBC-052B-30AA-33F728B53B68}"/>
              </a:ext>
            </a:extLst>
          </p:cNvPr>
          <p:cNvSpPr txBox="1"/>
          <p:nvPr/>
        </p:nvSpPr>
        <p:spPr>
          <a:xfrm>
            <a:off x="2956064" y="3563663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1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704F2-973A-CFAE-8C1C-84673711E042}"/>
              </a:ext>
            </a:extLst>
          </p:cNvPr>
          <p:cNvSpPr/>
          <p:nvPr/>
        </p:nvSpPr>
        <p:spPr>
          <a:xfrm>
            <a:off x="8077200" y="2443957"/>
            <a:ext cx="1244527" cy="223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C04CB-6572-3F17-F927-04BAFE3C7D53}"/>
              </a:ext>
            </a:extLst>
          </p:cNvPr>
          <p:cNvSpPr txBox="1"/>
          <p:nvPr/>
        </p:nvSpPr>
        <p:spPr>
          <a:xfrm>
            <a:off x="8073561" y="2345382"/>
            <a:ext cx="152848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 iterations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5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/>
      <p:bldP spid="23" grpId="0"/>
      <p:bldP spid="24" grpId="0"/>
      <p:bldP spid="27" grpId="0" animBg="1"/>
      <p:bldP spid="3" grpId="0" animBg="1"/>
      <p:bldP spid="5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5572-C4FF-5535-F2B3-4C931480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3D56-3739-680E-0973-31600772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1A82C-F747-C5E9-958E-BBD099F8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B80D0-8457-FD0B-FFA3-717273E8F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466" y="1776400"/>
            <a:ext cx="5915068" cy="33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21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943C-2CF6-F464-A14C-7ACEB68D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95236AF-AAAA-75F6-1B08-CF2F01C88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566" y="1724443"/>
            <a:ext cx="5915068" cy="3305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368EC0-5E3F-4FCE-823D-1191667E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D1D31-F9A5-FED2-8CC8-EDFEBF02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00A2D-9CFA-E411-0ECF-B4D914FEDEE5}"/>
              </a:ext>
            </a:extLst>
          </p:cNvPr>
          <p:cNvSpPr txBox="1"/>
          <p:nvPr/>
        </p:nvSpPr>
        <p:spPr>
          <a:xfrm>
            <a:off x="7083829" y="2592024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1, 1, n iterations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00312-EC1E-77D0-7487-CB92F157901D}"/>
              </a:ext>
            </a:extLst>
          </p:cNvPr>
          <p:cNvSpPr txBox="1"/>
          <p:nvPr/>
        </p:nvSpPr>
        <p:spPr>
          <a:xfrm>
            <a:off x="9067800" y="2884582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22 iterations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00C58-7B1F-2DC8-7FC1-CAD2825BA63E}"/>
              </a:ext>
            </a:extLst>
          </p:cNvPr>
          <p:cNvSpPr txBox="1"/>
          <p:nvPr/>
        </p:nvSpPr>
        <p:spPr>
          <a:xfrm>
            <a:off x="6629400" y="3178388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 --- always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F0E2F-C840-1955-2A4C-597976736D4D}"/>
              </a:ext>
            </a:extLst>
          </p:cNvPr>
          <p:cNvSpPr txBox="1"/>
          <p:nvPr/>
        </p:nvSpPr>
        <p:spPr>
          <a:xfrm>
            <a:off x="7248698" y="3452801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 --- case 1 if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C86F4-0918-C499-E286-CB1BCB5A1A4B}"/>
              </a:ext>
            </a:extLst>
          </p:cNvPr>
          <p:cNvSpPr txBox="1"/>
          <p:nvPr/>
        </p:nvSpPr>
        <p:spPr>
          <a:xfrm>
            <a:off x="5595851" y="3793494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 --- case 2 else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A1833-010C-574F-1072-ABF6AED59989}"/>
              </a:ext>
            </a:extLst>
          </p:cNvPr>
          <p:cNvSpPr txBox="1"/>
          <p:nvPr/>
        </p:nvSpPr>
        <p:spPr>
          <a:xfrm>
            <a:off x="6520543" y="4059478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 --- case 2 else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595930-14DA-C4DF-D49B-64FB955F67EC}"/>
              </a:ext>
            </a:extLst>
          </p:cNvPr>
          <p:cNvSpPr txBox="1"/>
          <p:nvPr/>
        </p:nvSpPr>
        <p:spPr>
          <a:xfrm>
            <a:off x="4914900" y="471912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 – case not else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8FC341-F8E8-85C3-7792-188B6C873B84}"/>
              </a:ext>
            </a:extLst>
          </p:cNvPr>
          <p:cNvSpPr txBox="1"/>
          <p:nvPr/>
        </p:nvSpPr>
        <p:spPr>
          <a:xfrm>
            <a:off x="4806043" y="43417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update 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--- 1 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B8790A-9EEA-DBE4-8794-2273D8F9777D}"/>
              </a:ext>
            </a:extLst>
          </p:cNvPr>
          <p:cNvSpPr txBox="1"/>
          <p:nvPr/>
        </p:nvSpPr>
        <p:spPr>
          <a:xfrm>
            <a:off x="4277732" y="4518404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update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--- 1 step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71C162-5936-E1A2-9426-4C021C5C447C}"/>
              </a:ext>
            </a:extLst>
          </p:cNvPr>
          <p:cNvSpPr txBox="1"/>
          <p:nvPr/>
        </p:nvSpPr>
        <p:spPr>
          <a:xfrm>
            <a:off x="4430486" y="5503783"/>
            <a:ext cx="4180114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If-else: 2 </a:t>
            </a:r>
          </a:p>
          <a:p>
            <a:r>
              <a:rPr lang="en-US" sz="1600" b="1" dirty="0">
                <a:solidFill>
                  <a:srgbClr val="C00000"/>
                </a:solidFill>
              </a:rPr>
              <a:t>For a loop: 22* (1+1 +1)= 66</a:t>
            </a:r>
          </a:p>
          <a:p>
            <a:r>
              <a:rPr lang="en-US" sz="1600" b="1" dirty="0">
                <a:solidFill>
                  <a:srgbClr val="C00000"/>
                </a:solidFill>
              </a:rPr>
              <a:t>For </a:t>
            </a:r>
            <a:r>
              <a:rPr lang="en-US" sz="1600" b="1" dirty="0" err="1">
                <a:solidFill>
                  <a:srgbClr val="C00000"/>
                </a:solidFill>
              </a:rPr>
              <a:t>i</a:t>
            </a:r>
            <a:r>
              <a:rPr lang="en-US" sz="1600" b="1" dirty="0">
                <a:solidFill>
                  <a:srgbClr val="C00000"/>
                </a:solidFill>
              </a:rPr>
              <a:t> loop: 1+ n*67 + 1= 67n+2</a:t>
            </a:r>
          </a:p>
          <a:p>
            <a:r>
              <a:rPr lang="en-US" sz="1600" b="1" dirty="0">
                <a:solidFill>
                  <a:srgbClr val="C00000"/>
                </a:solidFill>
              </a:rPr>
              <a:t>Total= 67n+2+2= 67n+4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84C303-346F-ABBC-ADBE-86D6528E6D6C}"/>
              </a:ext>
            </a:extLst>
          </p:cNvPr>
          <p:cNvSpPr txBox="1"/>
          <p:nvPr/>
        </p:nvSpPr>
        <p:spPr>
          <a:xfrm>
            <a:off x="4277732" y="2317357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 1 step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7897758-07FD-C638-7776-B93CF596EBF8}"/>
              </a:ext>
            </a:extLst>
          </p:cNvPr>
          <p:cNvSpPr/>
          <p:nvPr/>
        </p:nvSpPr>
        <p:spPr>
          <a:xfrm>
            <a:off x="3695337" y="2980713"/>
            <a:ext cx="1181463" cy="159128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CD707-91EE-5276-37EE-CC520820B83E}"/>
              </a:ext>
            </a:extLst>
          </p:cNvPr>
          <p:cNvSpPr txBox="1"/>
          <p:nvPr/>
        </p:nvSpPr>
        <p:spPr>
          <a:xfrm>
            <a:off x="3581400" y="343072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66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D5A28B-4115-1E9B-B951-B602FEA068F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886200" y="4687681"/>
            <a:ext cx="3915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241F7A-1B9F-751A-BEEB-EAB4872E9FA8}"/>
              </a:ext>
            </a:extLst>
          </p:cNvPr>
          <p:cNvSpPr txBox="1"/>
          <p:nvPr/>
        </p:nvSpPr>
        <p:spPr>
          <a:xfrm>
            <a:off x="3640564" y="44598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4507D-E6B4-ED3C-7813-6A7E4C626429}"/>
              </a:ext>
            </a:extLst>
          </p:cNvPr>
          <p:cNvSpPr txBox="1"/>
          <p:nvPr/>
        </p:nvSpPr>
        <p:spPr>
          <a:xfrm>
            <a:off x="340960" y="1491729"/>
            <a:ext cx="2435630" cy="4247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Worst Scenario:</a:t>
            </a:r>
          </a:p>
          <a:p>
            <a:r>
              <a:rPr lang="en-US" dirty="0"/>
              <a:t>- If evaluates to True</a:t>
            </a:r>
          </a:p>
          <a:p>
            <a:pPr marL="285750" indent="-285750">
              <a:buFontTx/>
              <a:buChar char="-"/>
            </a:pPr>
            <a:r>
              <a:rPr lang="en-US" dirty="0"/>
              <a:t>We run print(L[</a:t>
            </a:r>
            <a:r>
              <a:rPr lang="en-US" dirty="0" err="1"/>
              <a:t>i</a:t>
            </a:r>
            <a:r>
              <a:rPr lang="en-US" dirty="0"/>
              <a:t>]+x)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Then update a </a:t>
            </a:r>
          </a:p>
          <a:p>
            <a:pPr marL="285750" indent="-285750">
              <a:buFontTx/>
              <a:buChar char="-"/>
            </a:pPr>
            <a:r>
              <a:rPr lang="en-US" dirty="0"/>
              <a:t>And iterations continue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The Other Scenario:</a:t>
            </a:r>
          </a:p>
          <a:p>
            <a:pPr marL="285750" indent="-285750">
              <a:buFontTx/>
              <a:buChar char="-"/>
            </a:pPr>
            <a:r>
              <a:rPr lang="en-US" dirty="0"/>
              <a:t>If  evaluates to False, </a:t>
            </a:r>
          </a:p>
          <a:p>
            <a:pPr marL="285750" indent="-285750">
              <a:buFontTx/>
              <a:buChar char="-"/>
            </a:pPr>
            <a:r>
              <a:rPr lang="en-US" dirty="0"/>
              <a:t>Else block will be run and this will return and exit the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1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 build="p" animBg="1"/>
      <p:bldP spid="20" grpId="0"/>
      <p:bldP spid="5" grpId="0" animBg="1"/>
      <p:bldP spid="8" grpId="0"/>
      <p:bldP spid="22" grpId="0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DA44C54-E62D-CFC3-6F70-07D6DE22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5450"/>
            <a:ext cx="5590903" cy="35097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531F2A-E02D-2E79-7348-90562439B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52" y="3452812"/>
            <a:ext cx="4333907" cy="26336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FA830C-4FBB-4474-39EC-DA9EC64A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418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Python Built-Ins Cost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ACC47-0FE8-9827-6CAB-EF3C68DC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92A88-B179-278B-67F8-37F70B84A6DF}"/>
              </a:ext>
            </a:extLst>
          </p:cNvPr>
          <p:cNvSpPr txBox="1"/>
          <p:nvPr/>
        </p:nvSpPr>
        <p:spPr>
          <a:xfrm>
            <a:off x="2057400" y="1462106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212529"/>
                </a:solidFill>
                <a:effectLst/>
                <a:latin typeface="-apple-system"/>
              </a:rPr>
              <a:t>The efficiency of the built-in functions in Python will affect the efficiency of the functions they are used in.</a:t>
            </a:r>
          </a:p>
          <a:p>
            <a:pPr algn="ctr"/>
            <a:r>
              <a:rPr lang="en-US" sz="2400" b="1" dirty="0">
                <a:solidFill>
                  <a:srgbClr val="212529"/>
                </a:solidFill>
                <a:latin typeface="-apple-system"/>
              </a:rPr>
              <a:t>(</a:t>
            </a:r>
            <a:r>
              <a:rPr lang="en-US" sz="2400" b="1" dirty="0">
                <a:solidFill>
                  <a:srgbClr val="212529"/>
                </a:solidFill>
                <a:latin typeface="-apple-system"/>
                <a:hlinkClick r:id="rId5"/>
              </a:rPr>
              <a:t>Built-in Functions Efficiency Table</a:t>
            </a:r>
            <a:r>
              <a:rPr lang="en-US" sz="2400" b="1" dirty="0">
                <a:solidFill>
                  <a:srgbClr val="212529"/>
                </a:solidFill>
                <a:latin typeface="-apple-system"/>
              </a:rPr>
              <a:t>)</a:t>
            </a:r>
            <a:r>
              <a:rPr lang="en-US" sz="2400" b="1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endParaRPr 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6EA70-C29D-E980-9733-25B515686888}"/>
              </a:ext>
            </a:extLst>
          </p:cNvPr>
          <p:cNvSpPr txBox="1"/>
          <p:nvPr/>
        </p:nvSpPr>
        <p:spPr>
          <a:xfrm>
            <a:off x="8381603" y="4083605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8A9D93-5325-1478-7279-4D25F8563949}"/>
              </a:ext>
            </a:extLst>
          </p:cNvPr>
          <p:cNvSpPr/>
          <p:nvPr/>
        </p:nvSpPr>
        <p:spPr>
          <a:xfrm>
            <a:off x="990600" y="3452812"/>
            <a:ext cx="3807617" cy="2033588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B0C2B-2505-CFFD-9848-77DABBB64EC5}"/>
              </a:ext>
            </a:extLst>
          </p:cNvPr>
          <p:cNvSpPr/>
          <p:nvPr/>
        </p:nvSpPr>
        <p:spPr>
          <a:xfrm>
            <a:off x="990600" y="5546191"/>
            <a:ext cx="3807617" cy="879991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319FA-E54F-034D-39F7-F7882BA4664D}"/>
              </a:ext>
            </a:extLst>
          </p:cNvPr>
          <p:cNvSpPr txBox="1"/>
          <p:nvPr/>
        </p:nvSpPr>
        <p:spPr>
          <a:xfrm>
            <a:off x="9296400" y="4381182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n iterations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82569-A5B6-5581-0F23-E36C47706222}"/>
              </a:ext>
            </a:extLst>
          </p:cNvPr>
          <p:cNvSpPr txBox="1"/>
          <p:nvPr/>
        </p:nvSpPr>
        <p:spPr>
          <a:xfrm>
            <a:off x="10134600" y="4693693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3761A-A063-5F1E-ABE2-7C4794A93178}"/>
              </a:ext>
            </a:extLst>
          </p:cNvPr>
          <p:cNvSpPr txBox="1"/>
          <p:nvPr/>
        </p:nvSpPr>
        <p:spPr>
          <a:xfrm>
            <a:off x="9600803" y="4991270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5C197-3AF5-E69A-F0CB-251575F5772A}"/>
              </a:ext>
            </a:extLst>
          </p:cNvPr>
          <p:cNvSpPr txBox="1"/>
          <p:nvPr/>
        </p:nvSpPr>
        <p:spPr>
          <a:xfrm>
            <a:off x="9448800" y="526401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47009-D72D-DC05-797B-15652E81E8E4}"/>
              </a:ext>
            </a:extLst>
          </p:cNvPr>
          <p:cNvSpPr txBox="1"/>
          <p:nvPr/>
        </p:nvSpPr>
        <p:spPr>
          <a:xfrm>
            <a:off x="8763000" y="556325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A7ED8-BF01-8B31-418A-E59C06C73CC3}"/>
              </a:ext>
            </a:extLst>
          </p:cNvPr>
          <p:cNvSpPr txBox="1"/>
          <p:nvPr/>
        </p:nvSpPr>
        <p:spPr>
          <a:xfrm>
            <a:off x="7543800" y="2988381"/>
            <a:ext cx="287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Total Steps: 3n + 2 </a:t>
            </a:r>
          </a:p>
        </p:txBody>
      </p:sp>
    </p:spTree>
    <p:extLst>
      <p:ext uri="{BB962C8B-B14F-4D97-AF65-F5344CB8AC3E}">
        <p14:creationId xmlns:p14="http://schemas.microsoft.com/office/powerpoint/2010/main" val="329021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 animBg="1"/>
      <p:bldP spid="5" grpId="0" animBg="1"/>
      <p:bldP spid="6" grpId="0"/>
      <p:bldP spid="7" grpId="0"/>
      <p:bldP spid="9" grpId="0"/>
      <p:bldP spid="10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7C89-9849-012B-E758-CC929D76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F15F-C72E-5B04-EB8A-B6EEAD06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418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Python Built-Ins Cost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9B7A9-3376-7532-D8D7-03B16A54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C82C1-8E97-8A09-286E-74D52ACFE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163" y="3236119"/>
            <a:ext cx="5157825" cy="23145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EAF3D8-3C67-2211-6DF7-7B8805383C65}"/>
              </a:ext>
            </a:extLst>
          </p:cNvPr>
          <p:cNvSpPr txBox="1"/>
          <p:nvPr/>
        </p:nvSpPr>
        <p:spPr>
          <a:xfrm>
            <a:off x="2057400" y="1462106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212529"/>
                </a:solidFill>
                <a:effectLst/>
                <a:latin typeface="-apple-system"/>
              </a:rPr>
              <a:t>The efficiency of the built-in functions in Python will affect the efficiency of the functions they are used in.</a:t>
            </a:r>
          </a:p>
          <a:p>
            <a:pPr algn="ctr"/>
            <a:r>
              <a:rPr lang="en-US" sz="2400" b="1" dirty="0">
                <a:solidFill>
                  <a:srgbClr val="212529"/>
                </a:solidFill>
                <a:latin typeface="-apple-system"/>
              </a:rPr>
              <a:t>(</a:t>
            </a:r>
            <a:r>
              <a:rPr lang="en-US" sz="2400" b="1" dirty="0">
                <a:solidFill>
                  <a:srgbClr val="212529"/>
                </a:solidFill>
                <a:latin typeface="-apple-system"/>
                <a:hlinkClick r:id="rId4"/>
              </a:rPr>
              <a:t>Built-in Functions Efficiency Table</a:t>
            </a:r>
            <a:r>
              <a:rPr lang="en-US" sz="2400" b="1" dirty="0">
                <a:solidFill>
                  <a:srgbClr val="212529"/>
                </a:solidFill>
                <a:latin typeface="-apple-system"/>
              </a:rPr>
              <a:t>)</a:t>
            </a:r>
            <a:r>
              <a:rPr lang="en-US" sz="2400" b="1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1C5F0-6580-8DC0-4C8F-135574759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21680"/>
            <a:ext cx="5673341" cy="42231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4C15F-DCD9-985F-2DA4-112B602A84FC}"/>
              </a:ext>
            </a:extLst>
          </p:cNvPr>
          <p:cNvSpPr txBox="1"/>
          <p:nvPr/>
        </p:nvSpPr>
        <p:spPr>
          <a:xfrm>
            <a:off x="3504406" y="3940646"/>
            <a:ext cx="14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n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6DDB1-DEB8-0D4D-A74A-48DA60E6D304}"/>
              </a:ext>
            </a:extLst>
          </p:cNvPr>
          <p:cNvSpPr/>
          <p:nvPr/>
        </p:nvSpPr>
        <p:spPr>
          <a:xfrm>
            <a:off x="6477000" y="3276600"/>
            <a:ext cx="3807617" cy="1676400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DEFB2-3F07-EBF8-DB21-C4C1CAEBD89B}"/>
              </a:ext>
            </a:extLst>
          </p:cNvPr>
          <p:cNvSpPr/>
          <p:nvPr/>
        </p:nvSpPr>
        <p:spPr>
          <a:xfrm>
            <a:off x="6477000" y="6172200"/>
            <a:ext cx="3807617" cy="672581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CC501-8C0E-0474-024D-9158A65082E0}"/>
              </a:ext>
            </a:extLst>
          </p:cNvPr>
          <p:cNvSpPr txBox="1"/>
          <p:nvPr/>
        </p:nvSpPr>
        <p:spPr>
          <a:xfrm>
            <a:off x="3352403" y="4223041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 -- always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65149-0A8D-DB90-85E9-1F94C2D417AA}"/>
              </a:ext>
            </a:extLst>
          </p:cNvPr>
          <p:cNvSpPr txBox="1"/>
          <p:nvPr/>
        </p:nvSpPr>
        <p:spPr>
          <a:xfrm>
            <a:off x="3962400" y="4759286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 – case1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F7CCB-B498-3DFB-110C-02485D643923}"/>
              </a:ext>
            </a:extLst>
          </p:cNvPr>
          <p:cNvSpPr txBox="1"/>
          <p:nvPr/>
        </p:nvSpPr>
        <p:spPr>
          <a:xfrm>
            <a:off x="3922315" y="4482459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 – case1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57EC3-0E28-ACEF-21E1-001570D7693C}"/>
              </a:ext>
            </a:extLst>
          </p:cNvPr>
          <p:cNvSpPr txBox="1"/>
          <p:nvPr/>
        </p:nvSpPr>
        <p:spPr>
          <a:xfrm>
            <a:off x="3504406" y="5096411"/>
            <a:ext cx="320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# 1 step – case2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D1AE7D-8FEE-9854-5441-36BAE95FDB08}"/>
              </a:ext>
            </a:extLst>
          </p:cNvPr>
          <p:cNvSpPr txBox="1"/>
          <p:nvPr/>
        </p:nvSpPr>
        <p:spPr>
          <a:xfrm>
            <a:off x="2439984" y="5939729"/>
            <a:ext cx="2877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Total steps: n + 3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95B65-EB7D-2C0F-722E-FB5DC955AEE9}"/>
              </a:ext>
            </a:extLst>
          </p:cNvPr>
          <p:cNvSpPr txBox="1"/>
          <p:nvPr/>
        </p:nvSpPr>
        <p:spPr>
          <a:xfrm>
            <a:off x="0" y="3883967"/>
            <a:ext cx="1714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Take a guess at the number of steps ??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36E29B0A-B972-46B5-2778-3AC13C4EB157}"/>
              </a:ext>
            </a:extLst>
          </p:cNvPr>
          <p:cNvSpPr/>
          <p:nvPr/>
        </p:nvSpPr>
        <p:spPr>
          <a:xfrm>
            <a:off x="1415006" y="3984114"/>
            <a:ext cx="370785" cy="282395"/>
          </a:xfrm>
          <a:prstGeom prst="lef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3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8" grpId="0" animBg="1"/>
      <p:bldP spid="9" grpId="0"/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FDEB83-1EF9-959B-E672-F46EBB0909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329"/>
          <a:stretch/>
        </p:blipFill>
        <p:spPr>
          <a:xfrm>
            <a:off x="2971800" y="359317"/>
            <a:ext cx="8001000" cy="1788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E74326-8757-D520-53E3-B7E124E6A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8" y="2362200"/>
            <a:ext cx="2800382" cy="19756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Lists Compared to Sets/</a:t>
            </a:r>
            <a:r>
              <a:rPr lang="en-US" b="1" dirty="0" err="1">
                <a:solidFill>
                  <a:srgbClr val="C00000"/>
                </a:solidFill>
              </a:rPr>
              <a:t>Dicts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1A811-A5BC-DDF8-AFC0-6604376D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75DA9-9B21-D79E-3617-46EF7A1C3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2209800"/>
            <a:ext cx="7720045" cy="45392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ECBF9B-1C15-2F1C-B80A-838746162D18}"/>
              </a:ext>
            </a:extLst>
          </p:cNvPr>
          <p:cNvSpPr/>
          <p:nvPr/>
        </p:nvSpPr>
        <p:spPr>
          <a:xfrm>
            <a:off x="2950377" y="2228575"/>
            <a:ext cx="7720045" cy="672581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D10B1-98FF-F009-05CE-47A033060840}"/>
              </a:ext>
            </a:extLst>
          </p:cNvPr>
          <p:cNvSpPr/>
          <p:nvPr/>
        </p:nvSpPr>
        <p:spPr>
          <a:xfrm>
            <a:off x="3005154" y="4495800"/>
            <a:ext cx="7720045" cy="5334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EE42B-0AC8-EA10-BDF2-6CDB454CFAAE}"/>
              </a:ext>
            </a:extLst>
          </p:cNvPr>
          <p:cNvSpPr/>
          <p:nvPr/>
        </p:nvSpPr>
        <p:spPr>
          <a:xfrm>
            <a:off x="2957530" y="6122897"/>
            <a:ext cx="7720045" cy="672581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0843D6-109A-71E4-A312-0D3C1EDC0DB3}"/>
              </a:ext>
            </a:extLst>
          </p:cNvPr>
          <p:cNvSpPr/>
          <p:nvPr/>
        </p:nvSpPr>
        <p:spPr>
          <a:xfrm>
            <a:off x="2950377" y="1159993"/>
            <a:ext cx="7720045" cy="1022193"/>
          </a:xfrm>
          <a:prstGeom prst="rect">
            <a:avLst/>
          </a:prstGeom>
          <a:noFill/>
          <a:ln w="1905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6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6DE8-EE78-87A6-E5A7-11778EFB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63213"/>
            <a:ext cx="7391400" cy="2590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What is this </a:t>
            </a:r>
            <a:r>
              <a:rPr lang="en-US" sz="11900" b="1" dirty="0">
                <a:solidFill>
                  <a:srgbClr val="C00000"/>
                </a:solidFill>
              </a:rPr>
              <a:t>O</a:t>
            </a:r>
            <a:r>
              <a:rPr lang="en-US" sz="9800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that appears with the complexity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D9B4D-E9A3-27D3-D1B0-45D67E77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Critical Thinking | Louis Riel Vocational College">
            <a:extLst>
              <a:ext uri="{FF2B5EF4-FFF2-40B4-BE49-F238E27FC236}">
                <a16:creationId xmlns:a16="http://schemas.microsoft.com/office/drawing/2014/main" id="{1F3A5232-F90E-C617-3D5D-FE7433576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830" y="1447800"/>
            <a:ext cx="2551970" cy="40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750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202D2-8BA3-93CB-09D4-F4C926DF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340" y="1376363"/>
            <a:ext cx="7467600" cy="1620654"/>
          </a:xfrm>
        </p:spPr>
        <p:txBody>
          <a:bodyPr>
            <a:normAutofit fontScale="70000" lnSpcReduction="20000"/>
          </a:bodyPr>
          <a:lstStyle/>
          <a:p>
            <a:r>
              <a:rPr lang="en-US" sz="2400" b="0" i="0" dirty="0">
                <a:solidFill>
                  <a:srgbClr val="4E4E4E"/>
                </a:solidFill>
                <a:effectLst/>
              </a:rPr>
              <a:t>Consider the following example complexity (steps count)</a:t>
            </a:r>
          </a:p>
          <a:p>
            <a:pPr lvl="1"/>
            <a:r>
              <a:rPr lang="en-US" sz="2000" b="0" i="0" dirty="0">
                <a:solidFill>
                  <a:srgbClr val="4E4E4E"/>
                </a:solidFill>
                <a:effectLst/>
              </a:rPr>
              <a:t>N</a:t>
            </a:r>
            <a:r>
              <a:rPr lang="en-US" sz="2000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sz="2000" b="0" i="0" dirty="0">
                <a:solidFill>
                  <a:srgbClr val="4E4E4E"/>
                </a:solidFill>
                <a:effectLst/>
              </a:rPr>
              <a:t> + 100N + 500 </a:t>
            </a:r>
          </a:p>
          <a:p>
            <a:pPr lvl="1"/>
            <a:r>
              <a:rPr lang="en-US" sz="2000" b="0" i="0" dirty="0">
                <a:solidFill>
                  <a:srgbClr val="4E4E4E"/>
                </a:solidFill>
                <a:effectLst/>
              </a:rPr>
              <a:t>5N</a:t>
            </a:r>
            <a:r>
              <a:rPr lang="en-US" sz="2000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sz="2000" b="0" i="0" dirty="0">
                <a:solidFill>
                  <a:srgbClr val="4E4E4E"/>
                </a:solidFill>
                <a:effectLst/>
              </a:rPr>
              <a:t>  + 2N + 3</a:t>
            </a:r>
          </a:p>
          <a:p>
            <a:r>
              <a:rPr lang="en-US" sz="2400" b="0" i="0" dirty="0">
                <a:solidFill>
                  <a:srgbClr val="4E4E4E"/>
                </a:solidFill>
                <a:effectLst/>
              </a:rPr>
              <a:t>We say that N</a:t>
            </a:r>
            <a:r>
              <a:rPr lang="en-US" sz="2400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sz="2400" b="0" i="0" dirty="0">
                <a:solidFill>
                  <a:srgbClr val="4E4E4E"/>
                </a:solidFill>
                <a:effectLst/>
              </a:rPr>
              <a:t> is the </a:t>
            </a:r>
            <a:r>
              <a:rPr lang="en-US" sz="2400" b="1" i="0" dirty="0">
                <a:solidFill>
                  <a:srgbClr val="4E4E4E"/>
                </a:solidFill>
                <a:effectLst/>
              </a:rPr>
              <a:t>highest order term</a:t>
            </a:r>
            <a:r>
              <a:rPr lang="en-US" sz="2400" b="0" i="0" dirty="0">
                <a:solidFill>
                  <a:srgbClr val="4E4E4E"/>
                </a:solidFill>
                <a:effectLst/>
              </a:rPr>
              <a:t>. This is the term that grows the fastest. </a:t>
            </a:r>
          </a:p>
          <a:p>
            <a:pPr lvl="1"/>
            <a:r>
              <a:rPr lang="en-US" sz="2000" b="0" i="0" dirty="0">
                <a:solidFill>
                  <a:srgbClr val="4E4E4E"/>
                </a:solidFill>
                <a:effectLst/>
              </a:rPr>
              <a:t>The rest of the terms are called </a:t>
            </a:r>
            <a:r>
              <a:rPr lang="en-US" sz="2000" b="1" i="0" dirty="0">
                <a:solidFill>
                  <a:srgbClr val="4E4E4E"/>
                </a:solidFill>
                <a:effectLst/>
              </a:rPr>
              <a:t>lower order terms</a:t>
            </a:r>
          </a:p>
          <a:p>
            <a:r>
              <a:rPr lang="en-US" sz="2400" b="1" dirty="0">
                <a:solidFill>
                  <a:srgbClr val="4E4E4E"/>
                </a:solidFill>
              </a:rPr>
              <a:t>What would happen if we remove lower order Terms?</a:t>
            </a:r>
            <a:endParaRPr lang="en-US" sz="2400" b="1" i="0" dirty="0">
              <a:solidFill>
                <a:srgbClr val="4E4E4E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2B71-69EF-7587-230A-CCCC04AD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6DD624-568B-73E8-1BE3-FDF47E718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702" y="2971800"/>
            <a:ext cx="3700908" cy="268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EAD488-BD81-4C4B-6481-28C221EA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0675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Ignoring Lower Order Terms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C0618-F04A-5A4F-D238-A60BB90C92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16"/>
          <a:stretch/>
        </p:blipFill>
        <p:spPr>
          <a:xfrm>
            <a:off x="5943600" y="2940463"/>
            <a:ext cx="3886200" cy="2917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5830CB-8C45-7DD3-0642-46F87EB514A6}"/>
              </a:ext>
            </a:extLst>
          </p:cNvPr>
          <p:cNvSpPr txBox="1"/>
          <p:nvPr/>
        </p:nvSpPr>
        <p:spPr>
          <a:xfrm>
            <a:off x="2438400" y="5848167"/>
            <a:ext cx="7171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C00000"/>
                </a:solidFill>
                <a:effectLst/>
              </a:rPr>
              <a:t>In general, we ignore lower order terms for efficiency</a:t>
            </a:r>
            <a:r>
              <a:rPr lang="en-US" sz="1800" b="1" i="0" dirty="0">
                <a:solidFill>
                  <a:srgbClr val="C00000"/>
                </a:solidFill>
                <a:effectLst/>
              </a:rPr>
              <a:t> because for large inputs, they make very little difference in the total</a:t>
            </a:r>
            <a:r>
              <a:rPr lang="en-US" sz="1800" b="0" i="0" dirty="0">
                <a:solidFill>
                  <a:srgbClr val="C00000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7622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8047-299B-7CB7-9622-7A0C1961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964E-46A5-3148-46F1-D942ED38D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10820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4E4E4E"/>
                </a:solidFill>
              </a:rPr>
              <a:t>We say that N</a:t>
            </a:r>
            <a:r>
              <a:rPr lang="en-US" sz="2400" baseline="30000" dirty="0">
                <a:solidFill>
                  <a:srgbClr val="4E4E4E"/>
                </a:solidFill>
              </a:rPr>
              <a:t>2</a:t>
            </a:r>
            <a:r>
              <a:rPr lang="en-US" sz="2400" dirty="0">
                <a:solidFill>
                  <a:srgbClr val="4E4E4E"/>
                </a:solidFill>
              </a:rPr>
              <a:t> is the </a:t>
            </a:r>
            <a:r>
              <a:rPr lang="en-US" sz="2400" b="1" dirty="0">
                <a:solidFill>
                  <a:srgbClr val="4E4E4E"/>
                </a:solidFill>
              </a:rPr>
              <a:t>highest order term</a:t>
            </a:r>
            <a:r>
              <a:rPr lang="en-US" sz="2400" dirty="0">
                <a:solidFill>
                  <a:srgbClr val="4E4E4E"/>
                </a:solidFill>
              </a:rPr>
              <a:t>. This is the term that grows the fastest. </a:t>
            </a:r>
          </a:p>
          <a:p>
            <a:pPr lvl="1"/>
            <a:r>
              <a:rPr lang="en-US" sz="2000" dirty="0">
                <a:solidFill>
                  <a:srgbClr val="4E4E4E"/>
                </a:solidFill>
              </a:rPr>
              <a:t>The rest of the terms are called </a:t>
            </a:r>
            <a:r>
              <a:rPr lang="en-US" sz="2000" b="1" dirty="0">
                <a:solidFill>
                  <a:srgbClr val="4E4E4E"/>
                </a:solidFill>
              </a:rPr>
              <a:t>lower order terms</a:t>
            </a:r>
            <a:endParaRPr lang="en-US" sz="2400" b="0" i="0" dirty="0">
              <a:solidFill>
                <a:srgbClr val="4E4E4E"/>
              </a:solidFill>
              <a:effectLst/>
            </a:endParaRPr>
          </a:p>
          <a:p>
            <a:r>
              <a:rPr lang="en-US" sz="2400" b="0" i="0" dirty="0">
                <a:solidFill>
                  <a:srgbClr val="4E4E4E"/>
                </a:solidFill>
                <a:effectLst/>
              </a:rPr>
              <a:t>In general, we ignore lower order terms for efficiency</a:t>
            </a:r>
            <a:r>
              <a:rPr lang="en-US" sz="2400" b="1" i="0" dirty="0">
                <a:solidFill>
                  <a:srgbClr val="4E4E4E"/>
                </a:solidFill>
                <a:effectLst/>
              </a:rPr>
              <a:t> because for large inputs, they make very little difference in the total</a:t>
            </a:r>
            <a:r>
              <a:rPr lang="en-US" sz="2400" b="0" i="0" dirty="0">
                <a:solidFill>
                  <a:srgbClr val="4E4E4E"/>
                </a:solidFill>
                <a:effectLst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E1473-2E83-8CC3-707B-8C3248CD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CC654D-8FCB-69B1-5432-33C0B37E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0675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Ignoring Lower Order Terms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04C14-755F-3A92-ADE8-0A682EC4385B}"/>
              </a:ext>
            </a:extLst>
          </p:cNvPr>
          <p:cNvSpPr txBox="1"/>
          <p:nvPr/>
        </p:nvSpPr>
        <p:spPr>
          <a:xfrm>
            <a:off x="1676400" y="3886200"/>
            <a:ext cx="9067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This is called </a:t>
            </a:r>
            <a:r>
              <a:rPr lang="en-US" sz="2400" b="1" i="0" dirty="0" err="1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BigO</a:t>
            </a:r>
            <a:endParaRPr lang="en-US" sz="2400" b="1" i="0" dirty="0">
              <a:solidFill>
                <a:srgbClr val="C00000"/>
              </a:solidFill>
              <a:effectLst/>
              <a:latin typeface="Open Sans" panose="020B0606030504020204" pitchFamily="34" charset="0"/>
            </a:endParaRPr>
          </a:p>
          <a:p>
            <a:pPr algn="ctr"/>
            <a:endParaRPr lang="en-US" sz="2400" b="1" i="0" dirty="0">
              <a:solidFill>
                <a:srgbClr val="C00000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en-US" sz="2400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The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notion we use to describe the efficiency of a program, </a:t>
            </a:r>
          </a:p>
          <a:p>
            <a:pPr algn="ctr"/>
            <a:r>
              <a:rPr lang="en-US" sz="2400" b="0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without considering lower order terms or coefficients. </a:t>
            </a:r>
          </a:p>
        </p:txBody>
      </p:sp>
    </p:spTree>
    <p:extLst>
      <p:ext uri="{BB962C8B-B14F-4D97-AF65-F5344CB8AC3E}">
        <p14:creationId xmlns:p14="http://schemas.microsoft.com/office/powerpoint/2010/main" val="290698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A406-9D7B-D8BB-1A66-9F9CB4CDA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BigO</a:t>
            </a:r>
            <a:r>
              <a:rPr lang="en-US" b="1" dirty="0">
                <a:solidFill>
                  <a:srgbClr val="C00000"/>
                </a:solidFill>
              </a:rPr>
              <a:t> Function Families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A37F4-7733-D6AD-9467-98149E53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lgorithms Explained: Computational Complexity - YouTube">
            <a:extLst>
              <a:ext uri="{FF2B5EF4-FFF2-40B4-BE49-F238E27FC236}">
                <a16:creationId xmlns:a16="http://schemas.microsoft.com/office/drawing/2014/main" id="{265A1A79-3D88-6829-457A-B73DBC764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" t="2455" r="6269"/>
          <a:stretch/>
        </p:blipFill>
        <p:spPr bwMode="auto">
          <a:xfrm>
            <a:off x="4648200" y="1752600"/>
            <a:ext cx="6848403" cy="422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77AD9-54E6-DE58-C4FB-9E15339015FB}"/>
              </a:ext>
            </a:extLst>
          </p:cNvPr>
          <p:cNvSpPr txBox="1"/>
          <p:nvPr/>
        </p:nvSpPr>
        <p:spPr>
          <a:xfrm rot="16200000">
            <a:off x="4308502" y="2323356"/>
            <a:ext cx="1022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(Steps)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765A0-4DF8-0453-77D8-486744E19327}"/>
              </a:ext>
            </a:extLst>
          </p:cNvPr>
          <p:cNvSpPr txBox="1"/>
          <p:nvPr/>
        </p:nvSpPr>
        <p:spPr>
          <a:xfrm>
            <a:off x="381000" y="1695352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sng" dirty="0">
                <a:solidFill>
                  <a:srgbClr val="4E4E4E"/>
                </a:solidFill>
                <a:effectLst/>
              </a:rPr>
              <a:t>We define </a:t>
            </a:r>
            <a:r>
              <a:rPr lang="en-US" b="1" i="0" u="sng" dirty="0">
                <a:solidFill>
                  <a:srgbClr val="C00000"/>
                </a:solidFill>
                <a:effectLst/>
              </a:rPr>
              <a:t>a function family </a:t>
            </a:r>
            <a:r>
              <a:rPr lang="en-US" b="0" i="0" u="sng" dirty="0">
                <a:solidFill>
                  <a:srgbClr val="4E4E4E"/>
                </a:solidFill>
                <a:effectLst/>
              </a:rPr>
              <a:t>by the highest order term of a function without any coefficients</a:t>
            </a:r>
            <a:r>
              <a:rPr lang="en-US" b="0" i="0" dirty="0">
                <a:solidFill>
                  <a:srgbClr val="4E4E4E"/>
                </a:solidFill>
                <a:effectLst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248CD-86DA-886C-58F0-8B9C5543DF9B}"/>
              </a:ext>
            </a:extLst>
          </p:cNvPr>
          <p:cNvSpPr txBox="1"/>
          <p:nvPr/>
        </p:nvSpPr>
        <p:spPr>
          <a:xfrm>
            <a:off x="245806" y="2962562"/>
            <a:ext cx="4191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E4E4E"/>
                </a:solidFill>
                <a:effectLst/>
              </a:rPr>
              <a:t> For example, the 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b="0" i="0" dirty="0">
                <a:solidFill>
                  <a:srgbClr val="4E4E4E"/>
                </a:solidFill>
                <a:effectLst/>
              </a:rPr>
              <a:t> </a:t>
            </a:r>
            <a:r>
              <a:rPr lang="en-US" dirty="0">
                <a:solidFill>
                  <a:srgbClr val="4E4E4E"/>
                </a:solidFill>
              </a:rPr>
              <a:t>(</a:t>
            </a:r>
            <a:r>
              <a:rPr lang="en-US" b="0" i="0" dirty="0">
                <a:solidFill>
                  <a:srgbClr val="4E4E4E"/>
                </a:solidFill>
                <a:effectLst/>
              </a:rPr>
              <a:t>quadratic) function family, contains all the functions where the highest order term is 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b="0" i="0" dirty="0">
                <a:solidFill>
                  <a:srgbClr val="4E4E4E"/>
                </a:solidFill>
                <a:effectLst/>
              </a:rPr>
              <a:t>. </a:t>
            </a:r>
          </a:p>
          <a:p>
            <a:pPr lvl="1"/>
            <a:r>
              <a:rPr lang="en-US" b="0" i="0" dirty="0">
                <a:solidFill>
                  <a:srgbClr val="4E4E4E"/>
                </a:solidFill>
                <a:effectLst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E4E4E"/>
                </a:solidFill>
                <a:effectLst/>
              </a:rPr>
              <a:t>Example functions that belong to the 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b="0" i="0" dirty="0">
                <a:solidFill>
                  <a:srgbClr val="4E4E4E"/>
                </a:solidFill>
                <a:effectLst/>
              </a:rPr>
              <a:t> function family </a:t>
            </a:r>
            <a:endParaRPr lang="en-US" dirty="0">
              <a:solidFill>
                <a:srgbClr val="4E4E4E"/>
              </a:solidFill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E4E4E"/>
                </a:solidFill>
                <a:effectLst/>
              </a:rPr>
              <a:t>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b="0" i="0" dirty="0">
                <a:solidFill>
                  <a:srgbClr val="4E4E4E"/>
                </a:solidFill>
                <a:effectLst/>
              </a:rPr>
              <a:t>+3N+25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E4E4E"/>
                </a:solidFill>
              </a:rPr>
              <a:t>3</a:t>
            </a:r>
            <a:r>
              <a:rPr lang="en-US" b="0" i="0" dirty="0">
                <a:solidFill>
                  <a:srgbClr val="4E4E4E"/>
                </a:solidFill>
                <a:effectLst/>
              </a:rPr>
              <a:t>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dirty="0">
                <a:solidFill>
                  <a:srgbClr val="4E4E4E"/>
                </a:solidFill>
              </a:rPr>
              <a:t> +30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E4E4E"/>
                </a:solidFill>
                <a:effectLst/>
              </a:rPr>
              <a:t>100N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b="0" i="0" dirty="0">
                <a:solidFill>
                  <a:srgbClr val="4E4E4E"/>
                </a:solidFill>
                <a:effectLst/>
              </a:rPr>
              <a:t>+N</a:t>
            </a:r>
            <a:r>
              <a:rPr lang="en-US" b="0" i="0" baseline="30000" dirty="0">
                <a:solidFill>
                  <a:srgbClr val="4E4E4E"/>
                </a:solidFill>
                <a:effectLst/>
              </a:rPr>
              <a:t> </a:t>
            </a:r>
            <a:endParaRPr lang="en-US" b="0" i="0" dirty="0">
              <a:solidFill>
                <a:srgbClr val="4E4E4E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120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FF63-4255-7C0C-5AA6-13FA1011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6D68-9925-CCAF-497A-83589D52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12A34A-EA2D-16CE-A558-FE7538119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0675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Big O – Ignoring Constants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565CF-AAD1-76A9-0992-ED6CB0F99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994"/>
            <a:ext cx="5638800" cy="18928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i="0" u="sng" dirty="0">
                <a:solidFill>
                  <a:srgbClr val="4E4E4E"/>
                </a:solidFill>
                <a:effectLst/>
              </a:rPr>
              <a:t>Multiplying by a constant </a:t>
            </a:r>
            <a:r>
              <a:rPr lang="en-US" sz="2400" b="1" i="0" dirty="0">
                <a:solidFill>
                  <a:srgbClr val="4E4E4E"/>
                </a:solidFill>
                <a:effectLst/>
              </a:rPr>
              <a:t>does not change the relationship between the function families.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0" i="1" dirty="0">
                <a:solidFill>
                  <a:srgbClr val="4E4E4E"/>
                </a:solidFill>
                <a:effectLst/>
              </a:rPr>
              <a:t>A faster growing function family will always eventually overtake a slower growing function family.</a:t>
            </a:r>
            <a:endParaRPr lang="en-US" sz="24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b="0" i="1" dirty="0">
              <a:solidFill>
                <a:srgbClr val="4E4E4E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5C786-164C-3A72-9E13-DAFF74F6BE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13"/>
          <a:stretch/>
        </p:blipFill>
        <p:spPr>
          <a:xfrm>
            <a:off x="6916994" y="1295400"/>
            <a:ext cx="3932593" cy="30245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91EC5A-331B-3DAC-72CA-5332774BF4AD}"/>
              </a:ext>
            </a:extLst>
          </p:cNvPr>
          <p:cNvSpPr txBox="1"/>
          <p:nvPr/>
        </p:nvSpPr>
        <p:spPr>
          <a:xfrm>
            <a:off x="2514600" y="4489567"/>
            <a:ext cx="6782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Does this mean you can change your algorithm</a:t>
            </a:r>
            <a:r>
              <a:rPr lang="en-US" sz="2000" b="1" dirty="0">
                <a:solidFill>
                  <a:srgbClr val="C00000"/>
                </a:solidFill>
                <a:latin typeface="Open Sans" panose="020B0606030504020204" pitchFamily="34" charset="0"/>
              </a:rPr>
              <a:t>’s function family by just changing the hardware? </a:t>
            </a:r>
          </a:p>
        </p:txBody>
      </p:sp>
      <p:pic>
        <p:nvPicPr>
          <p:cNvPr id="11" name="Picture 2" descr="5,900+ Disappointed Face Stock Illustrations, Royalty-Free Vector Graphics  &amp; Clip Art - iStock | Disappointment, Pajamas, Shocked">
            <a:extLst>
              <a:ext uri="{FF2B5EF4-FFF2-40B4-BE49-F238E27FC236}">
                <a16:creationId xmlns:a16="http://schemas.microsoft.com/office/drawing/2014/main" id="{C2C39603-F306-520A-AE7C-DCCA646C5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074539"/>
            <a:ext cx="1545478" cy="173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82C911-6348-F065-A741-A26D83296A7C}"/>
              </a:ext>
            </a:extLst>
          </p:cNvPr>
          <p:cNvSpPr txBox="1"/>
          <p:nvPr/>
        </p:nvSpPr>
        <p:spPr>
          <a:xfrm>
            <a:off x="1903413" y="5417403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effectLst/>
                <a:latin typeface="Open Sans" panose="020B0606030504020204" pitchFamily="34" charset="0"/>
              </a:rPr>
              <a:t>Running on a faster machine, can speed up our program by a constant factor. </a:t>
            </a:r>
          </a:p>
          <a:p>
            <a:pPr algn="ctr"/>
            <a:endParaRPr lang="en-US" sz="1600" b="1" i="0" dirty="0">
              <a:effectLst/>
              <a:latin typeface="Open Sans" panose="020B0606030504020204" pitchFamily="34" charset="0"/>
            </a:endParaRPr>
          </a:p>
          <a:p>
            <a:pPr algn="ctr"/>
            <a:r>
              <a:rPr lang="en-US" sz="1600" dirty="0">
                <a:latin typeface="Open Sans" panose="020B0606030504020204" pitchFamily="34" charset="0"/>
              </a:rPr>
              <a:t> </a:t>
            </a:r>
            <a:r>
              <a:rPr lang="en-US" sz="1600" b="0" i="0" dirty="0">
                <a:effectLst/>
                <a:latin typeface="Open Sans" panose="020B0606030504020204" pitchFamily="34" charset="0"/>
              </a:rPr>
              <a:t>You will not change your algorithm's function family by changing the hardware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11CDE-65F2-9644-40AC-06BE9A86CD1E}"/>
              </a:ext>
            </a:extLst>
          </p:cNvPr>
          <p:cNvSpPr txBox="1"/>
          <p:nvPr/>
        </p:nvSpPr>
        <p:spPr>
          <a:xfrm>
            <a:off x="707924" y="318173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srgbClr val="4E4E4E"/>
                </a:solidFill>
                <a:latin typeface="+mn-lt"/>
              </a:rPr>
              <a:t>This is why we ignore coefficients for efficiency and function families.</a:t>
            </a:r>
          </a:p>
        </p:txBody>
      </p:sp>
    </p:spTree>
    <p:extLst>
      <p:ext uri="{BB962C8B-B14F-4D97-AF65-F5344CB8AC3E}">
        <p14:creationId xmlns:p14="http://schemas.microsoft.com/office/powerpoint/2010/main" val="425760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/>
      <p:bldP spid="8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CEDC8-2200-8248-13A5-620FFC79D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FA92-C2B7-3FC4-1BCA-031F067A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B191F-23D9-6934-FA9C-3C3F037D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B1B10-B1C4-B681-56F7-6B7C8E670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1981200"/>
            <a:ext cx="5867400" cy="765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S’23 Quiz Question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2A0745-AAEA-97A6-BF4D-496D9449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514600"/>
            <a:ext cx="5486400" cy="3389050"/>
          </a:xfrm>
          <a:prstGeom prst="rect">
            <a:avLst/>
          </a:prstGeom>
        </p:spPr>
      </p:pic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B7BD211E-7DA2-654C-E200-F1A66FEB2155}"/>
              </a:ext>
            </a:extLst>
          </p:cNvPr>
          <p:cNvSpPr/>
          <p:nvPr/>
        </p:nvSpPr>
        <p:spPr>
          <a:xfrm>
            <a:off x="0" y="1347789"/>
            <a:ext cx="3695700" cy="4262436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Which line(s) highlights efficiency difference for these data structures??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BFA07-7967-EA6E-7AB3-36FD56A8B7A6}"/>
              </a:ext>
            </a:extLst>
          </p:cNvPr>
          <p:cNvSpPr txBox="1"/>
          <p:nvPr/>
        </p:nvSpPr>
        <p:spPr>
          <a:xfrm>
            <a:off x="5105400" y="32443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BF8A1-3E5F-2745-D7FB-163B2AF950F1}"/>
              </a:ext>
            </a:extLst>
          </p:cNvPr>
          <p:cNvSpPr txBox="1"/>
          <p:nvPr/>
        </p:nvSpPr>
        <p:spPr>
          <a:xfrm>
            <a:off x="5715000" y="349702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5700E-146B-EC56-369C-EC6E065D6737}"/>
              </a:ext>
            </a:extLst>
          </p:cNvPr>
          <p:cNvSpPr txBox="1"/>
          <p:nvPr/>
        </p:nvSpPr>
        <p:spPr>
          <a:xfrm>
            <a:off x="5943600" y="371507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# 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6254E-F4BC-91E9-6E43-1AE1BC1E0A52}"/>
              </a:ext>
            </a:extLst>
          </p:cNvPr>
          <p:cNvSpPr txBox="1"/>
          <p:nvPr/>
        </p:nvSpPr>
        <p:spPr>
          <a:xfrm>
            <a:off x="6324600" y="3962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 – case if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23D65-6D70-EC83-2A03-C8F915943D41}"/>
              </a:ext>
            </a:extLst>
          </p:cNvPr>
          <p:cNvSpPr txBox="1"/>
          <p:nvPr/>
        </p:nvSpPr>
        <p:spPr>
          <a:xfrm>
            <a:off x="5334000" y="420148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EFBBD-E6E2-2DE4-D912-27B45A9A5352}"/>
              </a:ext>
            </a:extLst>
          </p:cNvPr>
          <p:cNvSpPr txBox="1"/>
          <p:nvPr/>
        </p:nvSpPr>
        <p:spPr>
          <a:xfrm>
            <a:off x="4832860" y="4077910"/>
            <a:ext cx="4692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# ----------------------------------- -----------update e --- 1 step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BDE0B5-DAD2-5696-5F23-FF24B2D99DCD}"/>
              </a:ext>
            </a:extLst>
          </p:cNvPr>
          <p:cNvSpPr txBox="1"/>
          <p:nvPr/>
        </p:nvSpPr>
        <p:spPr>
          <a:xfrm>
            <a:off x="5559463" y="4824686"/>
            <a:ext cx="610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4E4E4E"/>
                </a:solidFill>
                <a:effectLst/>
              </a:rPr>
              <a:t>O(N</a:t>
            </a:r>
            <a:r>
              <a:rPr lang="en-US" sz="1800" b="0" i="0" baseline="30000" dirty="0">
                <a:solidFill>
                  <a:srgbClr val="4E4E4E"/>
                </a:solidFill>
                <a:effectLst/>
              </a:rPr>
              <a:t>2</a:t>
            </a:r>
            <a:r>
              <a:rPr lang="en-US" sz="1800" b="0" i="0" dirty="0">
                <a:solidFill>
                  <a:srgbClr val="4E4E4E"/>
                </a:solidFill>
                <a:effectLst/>
              </a:rPr>
              <a:t>)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721FAE-489E-94DF-762C-74C91C61D3E3}"/>
              </a:ext>
            </a:extLst>
          </p:cNvPr>
          <p:cNvSpPr txBox="1"/>
          <p:nvPr/>
        </p:nvSpPr>
        <p:spPr>
          <a:xfrm>
            <a:off x="5559463" y="5115770"/>
            <a:ext cx="841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4E4E4E"/>
                </a:solidFill>
                <a:effectLst/>
              </a:rPr>
              <a:t>O(N)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29FB28-2FD9-45D1-B47A-5754BE86C232}"/>
              </a:ext>
            </a:extLst>
          </p:cNvPr>
          <p:cNvSpPr txBox="1"/>
          <p:nvPr/>
        </p:nvSpPr>
        <p:spPr>
          <a:xfrm>
            <a:off x="5596097" y="5485102"/>
            <a:ext cx="99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4E4E4E"/>
                </a:solidFill>
                <a:effectLst/>
              </a:rPr>
              <a:t>O(N)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3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9" grpId="0"/>
      <p:bldP spid="10" grpId="0"/>
      <p:bldP spid="11" grpId="0"/>
      <p:bldP spid="12" grpId="0"/>
      <p:bldP spid="14" grpId="0"/>
      <p:bldP spid="16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0E37-2F60-820F-4E84-284AAA0B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Looking Up An Element in Lists Vs Sets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(As Input Size Increases)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8E6B7-5A9B-6918-826E-38FD52C3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lgorithms Explained: Computational Complexity - YouTube">
            <a:extLst>
              <a:ext uri="{FF2B5EF4-FFF2-40B4-BE49-F238E27FC236}">
                <a16:creationId xmlns:a16="http://schemas.microsoft.com/office/drawing/2014/main" id="{0CAD30AA-6FEE-5AFD-AFBA-E380A9BC3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" t="2455" r="6269"/>
          <a:stretch/>
        </p:blipFill>
        <p:spPr bwMode="auto">
          <a:xfrm>
            <a:off x="1676400" y="1905000"/>
            <a:ext cx="7696200" cy="474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E58EB2C-9051-8326-203F-020747CFF763}"/>
              </a:ext>
            </a:extLst>
          </p:cNvPr>
          <p:cNvSpPr/>
          <p:nvPr/>
        </p:nvSpPr>
        <p:spPr>
          <a:xfrm rot="12497643">
            <a:off x="1483444" y="3303498"/>
            <a:ext cx="3030688" cy="2729219"/>
          </a:xfrm>
          <a:prstGeom prst="triangle">
            <a:avLst>
              <a:gd name="adj" fmla="val 5197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7B77927-CA02-75B6-803B-9E34A77FC314}"/>
              </a:ext>
            </a:extLst>
          </p:cNvPr>
          <p:cNvSpPr/>
          <p:nvPr/>
        </p:nvSpPr>
        <p:spPr>
          <a:xfrm rot="15560648">
            <a:off x="4191142" y="2707524"/>
            <a:ext cx="1702271" cy="5131531"/>
          </a:xfrm>
          <a:prstGeom prst="triangle">
            <a:avLst>
              <a:gd name="adj" fmla="val 43463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E9D72-DF0E-DA28-A384-822C20BFCC9F}"/>
              </a:ext>
            </a:extLst>
          </p:cNvPr>
          <p:cNvSpPr/>
          <p:nvPr/>
        </p:nvSpPr>
        <p:spPr>
          <a:xfrm>
            <a:off x="2286000" y="1784812"/>
            <a:ext cx="7391400" cy="15679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0FEE5-D82C-6C1F-324E-99C1F2058F19}"/>
              </a:ext>
            </a:extLst>
          </p:cNvPr>
          <p:cNvSpPr/>
          <p:nvPr/>
        </p:nvSpPr>
        <p:spPr>
          <a:xfrm rot="21335722">
            <a:off x="7541765" y="4209921"/>
            <a:ext cx="2931733" cy="1015793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4D4683A-8578-CDC3-3510-D60C77431CAB}"/>
              </a:ext>
            </a:extLst>
          </p:cNvPr>
          <p:cNvSpPr/>
          <p:nvPr/>
        </p:nvSpPr>
        <p:spPr>
          <a:xfrm rot="17624744">
            <a:off x="3647095" y="2552276"/>
            <a:ext cx="1236736" cy="1668723"/>
          </a:xfrm>
          <a:prstGeom prst="triangle">
            <a:avLst>
              <a:gd name="adj" fmla="val 2590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C416C-DAA5-70AA-D1AC-B101E4E1C838}"/>
              </a:ext>
            </a:extLst>
          </p:cNvPr>
          <p:cNvSpPr/>
          <p:nvPr/>
        </p:nvSpPr>
        <p:spPr>
          <a:xfrm rot="19980860">
            <a:off x="2032289" y="4769369"/>
            <a:ext cx="4821307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6AB1F4-71B2-4F79-17F0-18ABECF3B13E}"/>
              </a:ext>
            </a:extLst>
          </p:cNvPr>
          <p:cNvSpPr/>
          <p:nvPr/>
        </p:nvSpPr>
        <p:spPr>
          <a:xfrm rot="20056917">
            <a:off x="2316568" y="4011666"/>
            <a:ext cx="4426111" cy="67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5B4641-1D1E-6329-690E-7686825EA357}"/>
              </a:ext>
            </a:extLst>
          </p:cNvPr>
          <p:cNvSpPr/>
          <p:nvPr/>
        </p:nvSpPr>
        <p:spPr>
          <a:xfrm rot="19894353">
            <a:off x="2011457" y="4655989"/>
            <a:ext cx="4797095" cy="6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E906D9-70BD-DFA3-683B-4ED0358538B9}"/>
              </a:ext>
            </a:extLst>
          </p:cNvPr>
          <p:cNvSpPr/>
          <p:nvPr/>
        </p:nvSpPr>
        <p:spPr>
          <a:xfrm>
            <a:off x="1905000" y="746376"/>
            <a:ext cx="609600" cy="15679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58D299-035A-6F62-5629-33DE38DAB9C1}"/>
              </a:ext>
            </a:extLst>
          </p:cNvPr>
          <p:cNvSpPr/>
          <p:nvPr/>
        </p:nvSpPr>
        <p:spPr>
          <a:xfrm rot="19980860">
            <a:off x="2025334" y="4708305"/>
            <a:ext cx="4797095" cy="6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ED79C5CD-F987-C3D3-FD01-A1E21F56B9CA}"/>
              </a:ext>
            </a:extLst>
          </p:cNvPr>
          <p:cNvSpPr/>
          <p:nvPr/>
        </p:nvSpPr>
        <p:spPr>
          <a:xfrm rot="12654514">
            <a:off x="2134748" y="5365384"/>
            <a:ext cx="563255" cy="653436"/>
          </a:xfrm>
          <a:prstGeom prst="triangle">
            <a:avLst>
              <a:gd name="adj" fmla="val 542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623D6E-7973-7570-1A0F-AAC8384B6935}"/>
              </a:ext>
            </a:extLst>
          </p:cNvPr>
          <p:cNvSpPr/>
          <p:nvPr/>
        </p:nvSpPr>
        <p:spPr>
          <a:xfrm rot="19980860">
            <a:off x="2184689" y="4678256"/>
            <a:ext cx="4821307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031681-CED3-631B-1601-9E48375F063B}"/>
              </a:ext>
            </a:extLst>
          </p:cNvPr>
          <p:cNvSpPr txBox="1"/>
          <p:nvPr/>
        </p:nvSpPr>
        <p:spPr>
          <a:xfrm>
            <a:off x="8278734" y="3429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LIST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6948F3-475A-D668-B33C-BB875C678577}"/>
              </a:ext>
            </a:extLst>
          </p:cNvPr>
          <p:cNvSpPr txBox="1"/>
          <p:nvPr/>
        </p:nvSpPr>
        <p:spPr>
          <a:xfrm>
            <a:off x="8306974" y="564865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8A435-CB5C-0C26-89F9-9B23B89E473C}"/>
              </a:ext>
            </a:extLst>
          </p:cNvPr>
          <p:cNvSpPr txBox="1"/>
          <p:nvPr/>
        </p:nvSpPr>
        <p:spPr>
          <a:xfrm>
            <a:off x="9802129" y="2748264"/>
            <a:ext cx="2362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time difference we saw yesterday in the </a:t>
            </a:r>
            <a:r>
              <a:rPr lang="en-US" b="1" dirty="0"/>
              <a:t>membership  (lookup)</a:t>
            </a:r>
            <a:r>
              <a:rPr lang="en-US" dirty="0"/>
              <a:t> time was because these two functions </a:t>
            </a:r>
            <a:r>
              <a:rPr lang="en-US" b="1" dirty="0"/>
              <a:t>belong to different function families</a:t>
            </a:r>
            <a:r>
              <a:rPr lang="en-US" dirty="0"/>
              <a:t> (The difference is bigger as the input size increases)</a:t>
            </a:r>
          </a:p>
        </p:txBody>
      </p:sp>
    </p:spTree>
    <p:extLst>
      <p:ext uri="{BB962C8B-B14F-4D97-AF65-F5344CB8AC3E}">
        <p14:creationId xmlns:p14="http://schemas.microsoft.com/office/powerpoint/2010/main" val="310881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17F6-5CF9-8BDB-3C4E-F42E0F68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is Log?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74B90-9141-CDED-2060-BA339500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lgorithms Explained: Computational Complexity - YouTube">
            <a:extLst>
              <a:ext uri="{FF2B5EF4-FFF2-40B4-BE49-F238E27FC236}">
                <a16:creationId xmlns:a16="http://schemas.microsoft.com/office/drawing/2014/main" id="{8E71C4F8-7BC7-2EB8-8CBE-6E605D655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" t="2455" r="6269"/>
          <a:stretch/>
        </p:blipFill>
        <p:spPr bwMode="auto">
          <a:xfrm>
            <a:off x="2743200" y="1792250"/>
            <a:ext cx="6848403" cy="4224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4BA704C0-2C45-CB11-19C8-DC25581F2669}"/>
              </a:ext>
            </a:extLst>
          </p:cNvPr>
          <p:cNvSpPr/>
          <p:nvPr/>
        </p:nvSpPr>
        <p:spPr>
          <a:xfrm>
            <a:off x="8839200" y="2743200"/>
            <a:ext cx="3352800" cy="1752600"/>
          </a:xfrm>
          <a:prstGeom prst="irregularSeal2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4406C5-4D3A-F63C-7C84-A2CACE81F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07743"/>
              </p:ext>
            </p:extLst>
          </p:nvPr>
        </p:nvGraphicFramePr>
        <p:xfrm>
          <a:off x="9772650" y="3352800"/>
          <a:ext cx="1485900" cy="64008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171315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b="1" dirty="0" err="1">
                          <a:effectLst/>
                        </a:rPr>
                        <a:t>L.sort</a:t>
                      </a:r>
                      <a:r>
                        <a:rPr lang="en-US" b="1" dirty="0">
                          <a:effectLst/>
                        </a:rPr>
                        <a:t>() sorted(L)</a:t>
                      </a:r>
                    </a:p>
                  </a:txBody>
                  <a:tcPr>
                    <a:lnL w="4763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465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8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743D-DDC1-27C9-DF73-93751310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4C0C3-BBAA-30E2-3046-1BACB89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E2C37-FECD-B8A4-F2BA-35C09BDEEA94}"/>
              </a:ext>
            </a:extLst>
          </p:cNvPr>
          <p:cNvSpPr txBox="1"/>
          <p:nvPr/>
        </p:nvSpPr>
        <p:spPr>
          <a:xfrm>
            <a:off x="533400" y="61557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Tips for Big-O Analysis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2609A-1C8B-0A81-3719-BA5205FFD591}"/>
              </a:ext>
            </a:extLst>
          </p:cNvPr>
          <p:cNvSpPr txBox="1"/>
          <p:nvPr/>
        </p:nvSpPr>
        <p:spPr>
          <a:xfrm>
            <a:off x="990600" y="1564798"/>
            <a:ext cx="10134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Look for </a:t>
            </a:r>
            <a:r>
              <a:rPr lang="en-US" sz="3200" b="1" dirty="0"/>
              <a:t>Expensive Operations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operations that are </a:t>
            </a:r>
            <a:r>
              <a:rPr lang="en-US" sz="3200" i="1" u="sng" dirty="0"/>
              <a:t>not</a:t>
            </a:r>
            <a:r>
              <a:rPr lang="en-US" sz="3200" u="sng" dirty="0"/>
              <a:t> O(1) </a:t>
            </a:r>
            <a:endParaRPr lang="en-US" sz="3200" b="1" u="sng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Look for </a:t>
            </a:r>
            <a:r>
              <a:rPr lang="en-US" sz="3200" b="1" dirty="0"/>
              <a:t>loops</a:t>
            </a:r>
            <a:r>
              <a:rPr lang="en-US" sz="32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How many Iterations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Look for what happens inside the Loop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Complexity of each iteration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Combine them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D4C92-D4AD-C138-DAA2-9511AC805B0B}"/>
              </a:ext>
            </a:extLst>
          </p:cNvPr>
          <p:cNvSpPr txBox="1"/>
          <p:nvPr/>
        </p:nvSpPr>
        <p:spPr>
          <a:xfrm>
            <a:off x="1600200" y="5486400"/>
            <a:ext cx="784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Don’t get distracted by constants; O(1)</a:t>
            </a:r>
          </a:p>
        </p:txBody>
      </p:sp>
    </p:spTree>
    <p:extLst>
      <p:ext uri="{BB962C8B-B14F-4D97-AF65-F5344CB8AC3E}">
        <p14:creationId xmlns:p14="http://schemas.microsoft.com/office/powerpoint/2010/main" val="97249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AEBE2-116A-A9D2-49C0-56705520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F20A3-095C-A923-41E2-DDADEF73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0"/>
            <a:ext cx="528776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2AE27A-B0BA-3EF1-3F09-F0623A95A169}"/>
              </a:ext>
            </a:extLst>
          </p:cNvPr>
          <p:cNvSpPr txBox="1"/>
          <p:nvPr/>
        </p:nvSpPr>
        <p:spPr>
          <a:xfrm>
            <a:off x="533400" y="457200"/>
            <a:ext cx="60952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Practice – S24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77217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10A6-141E-E33F-72DA-AF8128F2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 – free Response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29519-4E40-3B04-875A-DB410526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2F01F2-36E8-C9CE-5433-A277F861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10972800" cy="2209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i="0" dirty="0" err="1">
                <a:solidFill>
                  <a:srgbClr val="333333"/>
                </a:solidFill>
                <a:effectLst/>
              </a:rPr>
              <a:t>mostCommonName</a:t>
            </a:r>
            <a:r>
              <a:rPr lang="en-US" sz="2000" b="1" i="0" dirty="0">
                <a:solidFill>
                  <a:srgbClr val="333333"/>
                </a:solidFill>
                <a:effectLst/>
              </a:rPr>
              <a:t>(L)</a:t>
            </a:r>
          </a:p>
          <a:p>
            <a:pPr marL="0" indent="0" algn="ctr">
              <a:buNone/>
            </a:pPr>
            <a:br>
              <a:rPr lang="en-US" sz="1800" dirty="0"/>
            </a:br>
            <a:r>
              <a:rPr lang="en-US" sz="1800" b="0" i="0" dirty="0">
                <a:solidFill>
                  <a:srgbClr val="333333"/>
                </a:solidFill>
                <a:effectLst/>
              </a:rPr>
              <a:t>Write the function </a:t>
            </a:r>
            <a:r>
              <a:rPr lang="en-US" sz="1800" b="1" i="0" dirty="0" err="1">
                <a:solidFill>
                  <a:srgbClr val="333333"/>
                </a:solidFill>
                <a:effectLst/>
              </a:rPr>
              <a:t>mostCommonName</a:t>
            </a:r>
            <a:r>
              <a:rPr lang="en-US" sz="1800" b="0" i="0" dirty="0">
                <a:solidFill>
                  <a:srgbClr val="333333"/>
                </a:solidFill>
                <a:effectLst/>
              </a:rPr>
              <a:t>, that takes a list of names (such as ["Jane", "Aaron", "Cindy", "Aaron"], and returns the most common name in this list (in this case, "Aaron"). If there is more than one such name, return a set of the most common names. So </a:t>
            </a:r>
            <a:r>
              <a:rPr lang="en-US" sz="1800" b="0" i="0" dirty="0" err="1">
                <a:solidFill>
                  <a:srgbClr val="333333"/>
                </a:solidFill>
                <a:effectLst/>
              </a:rPr>
              <a:t>mostCommonName</a:t>
            </a:r>
            <a:r>
              <a:rPr lang="en-US" sz="1800" b="0" i="0" dirty="0">
                <a:solidFill>
                  <a:srgbClr val="333333"/>
                </a:solidFill>
                <a:effectLst/>
              </a:rPr>
              <a:t>(["Jane", "Aaron", "Jane", "Cindy", "Aaron"]) returns the set {"Aaron", "Jane"}. If the set is empty, return None. Also, treat names case sensitively, so "Jane" and "JANE" are different names. </a:t>
            </a:r>
            <a:r>
              <a:rPr lang="en-US" sz="1800" b="1" i="0" dirty="0">
                <a:solidFill>
                  <a:srgbClr val="333333"/>
                </a:solidFill>
                <a:effectLst/>
              </a:rPr>
              <a:t>You should write three different versions, one that runs in O(n**2), O(</a:t>
            </a:r>
            <a:r>
              <a:rPr lang="en-US" sz="1800" b="1" i="0" dirty="0" err="1">
                <a:solidFill>
                  <a:srgbClr val="333333"/>
                </a:solidFill>
                <a:effectLst/>
              </a:rPr>
              <a:t>nlogn</a:t>
            </a:r>
            <a:r>
              <a:rPr lang="en-US" sz="1800" b="1" i="0" dirty="0">
                <a:solidFill>
                  <a:srgbClr val="333333"/>
                </a:solidFill>
                <a:effectLst/>
              </a:rPr>
              <a:t>) and O(n).</a:t>
            </a:r>
            <a:endParaRPr lang="en-US" sz="18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BF33080-9018-F3F0-7E41-F6CB29EF9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326" y="3336448"/>
            <a:ext cx="9296399" cy="3200876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def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990000"/>
                </a:solidFill>
                <a:effectLst/>
                <a:latin typeface="inherit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(L):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999988"/>
                </a:solidFill>
                <a:effectLst/>
                <a:latin typeface="inherit"/>
              </a:rPr>
              <a:t># place your answer here!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rgbClr val="999988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def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990000"/>
                </a:solidFill>
                <a:effectLst/>
                <a:latin typeface="inherit"/>
              </a:rPr>
              <a:t>testMostCommonName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"Testing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()..."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end=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assert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==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assert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== 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assert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==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assert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]) == 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"Aaron"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"Cindy"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"Jane"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assert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([]) ==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inherit"/>
              </a:rPr>
              <a:t>None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print(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"Passed!"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alt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testMostCommonName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530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F8BF-AFF9-CCF4-78B0-AFCC65311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39B4E-545C-F8D0-D0C1-E62DB8CC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5F8B2-0717-B1C4-F5E7-58C42B28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67" y="1371600"/>
            <a:ext cx="8180537" cy="497231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0372224-F722-EE8E-70A1-342F5516ECCD}"/>
              </a:ext>
            </a:extLst>
          </p:cNvPr>
          <p:cNvGrpSpPr/>
          <p:nvPr/>
        </p:nvGrpSpPr>
        <p:grpSpPr>
          <a:xfrm>
            <a:off x="1282987" y="3693158"/>
            <a:ext cx="26640" cy="18000"/>
            <a:chOff x="1282987" y="3693158"/>
            <a:chExt cx="26640" cy="1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D53193-0F94-79E7-6927-F38244CF383A}"/>
                    </a:ext>
                  </a:extLst>
                </p14:cNvPr>
                <p14:cNvContentPartPr/>
                <p14:nvPr/>
              </p14:nvContentPartPr>
              <p14:xfrm>
                <a:off x="1282987" y="3707198"/>
                <a:ext cx="2880" cy="3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D53193-0F94-79E7-6927-F38244CF383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76867" y="3701078"/>
                  <a:ext cx="151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E14438-8E2D-84BF-B16E-0C1AA93D9932}"/>
                    </a:ext>
                  </a:extLst>
                </p14:cNvPr>
                <p14:cNvContentPartPr/>
                <p14:nvPr/>
              </p14:nvContentPartPr>
              <p14:xfrm>
                <a:off x="1306387" y="3693158"/>
                <a:ext cx="3240" cy="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E14438-8E2D-84BF-B16E-0C1AA93D993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00267" y="3687038"/>
                  <a:ext cx="1548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D93E459-D2A1-083F-9DA2-17476BDA864A}"/>
                  </a:ext>
                </a:extLst>
              </p14:cNvPr>
              <p14:cNvContentPartPr/>
              <p14:nvPr/>
            </p14:nvContentPartPr>
            <p14:xfrm>
              <a:off x="3710467" y="4282118"/>
              <a:ext cx="2880" cy="1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D93E459-D2A1-083F-9DA2-17476BDA864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04347" y="4275998"/>
                <a:ext cx="151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4E9F120-AAD9-2A96-6FC1-71BAF27A0BC3}"/>
                  </a:ext>
                </a:extLst>
              </p14:cNvPr>
              <p14:cNvContentPartPr/>
              <p14:nvPr/>
            </p14:nvContentPartPr>
            <p14:xfrm>
              <a:off x="6174200" y="3831831"/>
              <a:ext cx="13320" cy="6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4E9F120-AAD9-2A96-6FC1-71BAF27A0BC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168080" y="3825711"/>
                <a:ext cx="25560" cy="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0672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1BB5-DBC2-4851-38A9-D793D2EC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A2F8-769B-5621-7B46-99456EB3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9904-2373-90EB-B993-C6ECBC6FF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6127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S’23 Exam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A8CF2-0BC4-7C46-9938-AF56B3D0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75319-59EC-2CEA-84B3-347F13BD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2" y="2231544"/>
            <a:ext cx="8077200" cy="38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256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4AC0632-33F1-445B-B027-01D37107F09C}" vid="{4AB33DC8-7FF9-44E5-AC94-643A2DA011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38349</TotalTime>
  <Words>1718</Words>
  <Application>Microsoft Office PowerPoint</Application>
  <PresentationFormat>Widescreen</PresentationFormat>
  <Paragraphs>299</Paragraphs>
  <Slides>34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-apple-system</vt:lpstr>
      <vt:lpstr>Arial</vt:lpstr>
      <vt:lpstr>Calibri</vt:lpstr>
      <vt:lpstr>Calibri Light</vt:lpstr>
      <vt:lpstr>Consolas</vt:lpstr>
      <vt:lpstr>Google Sans</vt:lpstr>
      <vt:lpstr>inherit</vt:lpstr>
      <vt:lpstr>Open Sans</vt:lpstr>
      <vt:lpstr>1_Office Theme</vt:lpstr>
      <vt:lpstr>Theme1</vt:lpstr>
      <vt:lpstr>Fundamentals of Programming &amp; Computer Science CS 15-112 </vt:lpstr>
      <vt:lpstr>There are Many Ways to Solve Any Given Problem</vt:lpstr>
      <vt:lpstr>What is Efficiency?</vt:lpstr>
      <vt:lpstr>What is Efficiency?</vt:lpstr>
      <vt:lpstr>Why Care About Time Efficiency?</vt:lpstr>
      <vt:lpstr>Why Care About Time Efficiency?</vt:lpstr>
      <vt:lpstr>How to Assess Time Efficiency?</vt:lpstr>
      <vt:lpstr>Why does elapsed-time vary across different devices?</vt:lpstr>
      <vt:lpstr>How to Assess Time Efficiency?</vt:lpstr>
      <vt:lpstr>Counting Steps</vt:lpstr>
      <vt:lpstr>Counting Steps</vt:lpstr>
      <vt:lpstr>Counting Steps</vt:lpstr>
      <vt:lpstr>Counting Steps </vt:lpstr>
      <vt:lpstr>Counting Steps</vt:lpstr>
      <vt:lpstr>Counting Steps</vt:lpstr>
      <vt:lpstr>Counting Steps</vt:lpstr>
      <vt:lpstr>Practice</vt:lpstr>
      <vt:lpstr>Practice</vt:lpstr>
      <vt:lpstr>Python Built-Ins Cost</vt:lpstr>
      <vt:lpstr>Python Built-Ins Cost</vt:lpstr>
      <vt:lpstr>Lists Compared to Sets/Dicts</vt:lpstr>
      <vt:lpstr>What is this O that appears with the complexity value</vt:lpstr>
      <vt:lpstr>Ignoring Lower Order Terms </vt:lpstr>
      <vt:lpstr>Ignoring Lower Order Terms </vt:lpstr>
      <vt:lpstr>BigO Function Families</vt:lpstr>
      <vt:lpstr>Big O – Ignoring Constants</vt:lpstr>
      <vt:lpstr>Practice</vt:lpstr>
      <vt:lpstr>Looking Up An Element in Lists Vs Sets (As Input Size Increases)</vt:lpstr>
      <vt:lpstr>What is Log?</vt:lpstr>
      <vt:lpstr>PowerPoint Presentation</vt:lpstr>
      <vt:lpstr>PowerPoint Presentation</vt:lpstr>
      <vt:lpstr>Practice – free Response</vt:lpstr>
      <vt:lpstr>Practice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Macneil</dc:creator>
  <cp:lastModifiedBy>Hend Gedawy</cp:lastModifiedBy>
  <cp:revision>1317</cp:revision>
  <cp:lastPrinted>2026-03-05T06:56:34Z</cp:lastPrinted>
  <dcterms:created xsi:type="dcterms:W3CDTF">2008-11-03T12:44:07Z</dcterms:created>
  <dcterms:modified xsi:type="dcterms:W3CDTF">2026-03-05T19:19:14Z</dcterms:modified>
</cp:coreProperties>
</file>