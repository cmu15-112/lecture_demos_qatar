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  <p:sldMasterId id="2147483672" r:id="rId2"/>
  </p:sldMasterIdLst>
  <p:notesMasterIdLst>
    <p:notesMasterId r:id="rId31"/>
  </p:notesMasterIdLst>
  <p:sldIdLst>
    <p:sldId id="421" r:id="rId3"/>
    <p:sldId id="587" r:id="rId4"/>
    <p:sldId id="588" r:id="rId5"/>
    <p:sldId id="589" r:id="rId6"/>
    <p:sldId id="591" r:id="rId7"/>
    <p:sldId id="592" r:id="rId8"/>
    <p:sldId id="568" r:id="rId9"/>
    <p:sldId id="569" r:id="rId10"/>
    <p:sldId id="579" r:id="rId11"/>
    <p:sldId id="570" r:id="rId12"/>
    <p:sldId id="571" r:id="rId13"/>
    <p:sldId id="577" r:id="rId14"/>
    <p:sldId id="573" r:id="rId15"/>
    <p:sldId id="574" r:id="rId16"/>
    <p:sldId id="502" r:id="rId17"/>
    <p:sldId id="593" r:id="rId18"/>
    <p:sldId id="581" r:id="rId19"/>
    <p:sldId id="594" r:id="rId20"/>
    <p:sldId id="595" r:id="rId21"/>
    <p:sldId id="597" r:id="rId22"/>
    <p:sldId id="602" r:id="rId23"/>
    <p:sldId id="599" r:id="rId24"/>
    <p:sldId id="600" r:id="rId25"/>
    <p:sldId id="606" r:id="rId26"/>
    <p:sldId id="598" r:id="rId27"/>
    <p:sldId id="256" r:id="rId28"/>
    <p:sldId id="584" r:id="rId29"/>
    <p:sldId id="603" r:id="rId30"/>
  </p:sldIdLst>
  <p:sldSz cx="12192000" cy="6858000"/>
  <p:notesSz cx="9601200" cy="7315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0000"/>
    <a:srgbClr val="FFFFFF"/>
    <a:srgbClr val="FFF2CC"/>
    <a:srgbClr val="FBE5D6"/>
    <a:srgbClr val="C41230"/>
    <a:srgbClr val="C00000"/>
    <a:srgbClr val="A50021"/>
    <a:srgbClr val="0000FF"/>
    <a:srgbClr val="000000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88171" autoAdjust="0"/>
  </p:normalViewPr>
  <p:slideViewPr>
    <p:cSldViewPr>
      <p:cViewPr varScale="1">
        <p:scale>
          <a:sx n="62" d="100"/>
          <a:sy n="62" d="100"/>
        </p:scale>
        <p:origin x="836" y="3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347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1T09:24:54.0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74 72 3497,'-2'-2'400,"-3"1"392,-3-1-480,-4 2-168,-2 2 16,0-1 144,1 3 88,8-4 681,6-5-793,10-2-208,11-5-673,5-3-359,10-2-728,6 0 824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1T09:22:40.1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23 1568,'12'-13'897,"-4"4"911,-4 9-232,-1 10-648,6 6-415,11-1-1570,7-3 753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1T09:25:32.4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58 664,'0'-10'152,"0"-2"104,3 0-88,7 3-120,2 1-40,5 3-8,4 3 0,3 2 0,5 2 0,5 1-8,3 2 8,11-1-32,3 1-80,10 0 72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1T09:25:32.8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1176,'28'9'447,"-2"0"-1,45 22 0,-65-27-397,0-1-43,-1 0 1,1 0-1,-1 0 0,1-1 0,0 0 0,0 0 0,0 0 0,0-1 0,0 0 0,8 1 0,-11-2 75,10 1-656,-13-1 558,0 0-1,1 1 1,-1-1-1,0 0 0,0 0 1,1 0-1,-1 1 1,0-1-1,0 0 0,0 0 1,1 1-1,-1-1 1,0 0-1,0 0 0,0 1 1,0-1-1,0 0 1,0 1-1,0-1 0,0 0 1,1 0-1,-1 1 1,0-1-1,0 0 1,0 1-1,0-1 0,-1 0 1,1 1-1,0-1 1,0 0-1,0 0 0,0 1 1,0-1-1,0 0 1,0 1-1,0-1 0,-1 0 1,1 0-1,0 1 1,-4 6-130,0 1 1,-9 11 0,4-12 39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1T09:27:01.7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23 472,'5'-22'0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D10B35-9BA1-4EFA-A97F-0211293A2C5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2" y="0"/>
            <a:ext cx="4160520" cy="36576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032ABD-858A-4141-BD3D-167BF0670D4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438461" y="0"/>
            <a:ext cx="4160520" cy="36576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C3A2AF2-EAB5-42F2-843B-AA3BF1E3EBBC}" type="datetimeFigureOut">
              <a:rPr lang="en-US"/>
              <a:pPr>
                <a:defRPr/>
              </a:pPr>
              <a:t>3/5/2026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880E8C9-A5BB-4031-B299-4CCF520C1C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547688"/>
            <a:ext cx="4876800" cy="27447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9436C3B-EB8A-427C-BE86-4D0071B52B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60120" y="3474721"/>
            <a:ext cx="7680960" cy="329184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2F2E70-4588-480E-ADA4-514F61F8A79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2" y="6948171"/>
            <a:ext cx="416052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F909F0-F412-4739-A97E-A81CDD5018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438461" y="6948171"/>
            <a:ext cx="4160520" cy="36576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02F5186-457B-48E6-B657-30D0534A8E1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650069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2F5186-457B-48E6-B657-30D0534A8E16}" type="slidenum">
              <a:rPr lang="en-US" altLang="en-US" smtClean="0"/>
              <a:pPr>
                <a:defRPr/>
              </a:pPr>
              <a:t>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974592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02F5186-457B-48E6-B657-30D0534A8E16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919725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7939B-79C0-D8A0-F816-5658663FE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9CDD56-E539-DA4F-7BAA-4F8FE81E62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58208E-43EA-C615-04BC-B4D3202111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D74AED-43D3-5565-C0CB-6E0F5CDD6A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2F5186-457B-48E6-B657-30D0534A8E16}" type="slidenum">
              <a:rPr lang="en-US" altLang="en-US" smtClean="0"/>
              <a:pPr>
                <a:defRPr/>
              </a:pPr>
              <a:t>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133830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35E9B-D0D3-57C9-8B68-E51498C08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D41802-833D-740C-1DD0-2933D1FEBA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3020B1-5A8A-B173-2E86-BE172D145A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3BBE7-5EC3-54E5-79B2-37B1440859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2F5186-457B-48E6-B657-30D0534A8E16}" type="slidenum">
              <a:rPr lang="en-US" altLang="en-US" smtClean="0"/>
              <a:pPr>
                <a:defRPr/>
              </a:pPr>
              <a:t>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23205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02F5186-457B-48E6-B657-30D0534A8E16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495978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02F5186-457B-48E6-B657-30D0534A8E16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49494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02F5186-457B-48E6-B657-30D0534A8E16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53107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02F5186-457B-48E6-B657-30D0534A8E16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62813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02F5186-457B-48E6-B657-30D0534A8E16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59618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02F5186-457B-48E6-B657-30D0534A8E16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883313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02F5186-457B-48E6-B657-30D0534A8E16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0231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2E1AF-0C75-2B1A-64FC-BA55B6468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810C0B-D9C2-CE2D-FCF6-AFA6FBF92A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CDC425-15A9-F121-F5CF-60B915D8EE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F7D200-8EC5-8DD2-C2AD-0E4E9C64BD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2F5186-457B-48E6-B657-30D0534A8E16}" type="slidenum">
              <a:rPr lang="en-US" altLang="en-US" smtClean="0"/>
              <a:pPr>
                <a:defRPr/>
              </a:pPr>
              <a:t>16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447564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02F5186-457B-48E6-B657-30D0534A8E16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878200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8D7F8-E41F-6915-6915-E1D190F94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871ECC-B4E9-ACC0-4576-C56C775260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E37233-1D51-DDDC-341A-A3E03CA7FD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DE488D-ED2B-2FC3-F6F1-4BEE582ADB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2F5186-457B-48E6-B657-30D0534A8E16}" type="slidenum">
              <a:rPr lang="en-US" altLang="en-US" smtClean="0"/>
              <a:pPr>
                <a:defRPr/>
              </a:pPr>
              <a:t>18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053208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8DF46-A87A-97F9-3385-D187D1F28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56CA27-557F-D73A-C401-19E06A1DE3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2DD3B7-C4D8-C3E3-0E5E-0E7B618318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DD3E5A-8567-F717-DFFC-4717C7952A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2F5186-457B-48E6-B657-30D0534A8E16}" type="slidenum">
              <a:rPr lang="en-US" altLang="en-US" smtClean="0"/>
              <a:pPr>
                <a:defRPr/>
              </a:pPr>
              <a:t>20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54329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BCBB81-D996-45DD-B471-B5CCC20B796D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3/5/2026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8122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1" y="320676"/>
            <a:ext cx="8228013" cy="1055688"/>
          </a:xfrm>
        </p:spPr>
        <p:txBody>
          <a:bodyPr>
            <a:normAutofit/>
          </a:bodyPr>
          <a:lstStyle>
            <a:lvl1pPr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  <a:tabLst>
                <a:tab pos="655638" algn="l"/>
                <a:tab pos="1312863" algn="l"/>
                <a:tab pos="1968500" algn="l"/>
                <a:tab pos="2625725" algn="l"/>
                <a:tab pos="3282950" algn="l"/>
                <a:tab pos="3938588" algn="l"/>
                <a:tab pos="4595813" algn="l"/>
                <a:tab pos="5253038" algn="l"/>
                <a:tab pos="5908675" algn="l"/>
                <a:tab pos="6565900" algn="l"/>
                <a:tab pos="7223125" algn="l"/>
                <a:tab pos="7878763" algn="l"/>
              </a:tabLst>
              <a:def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B6475CC-4C3C-4985-9A0D-0AD10955CBC3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3/5/2026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1324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488CEE-0121-4ADB-B8FD-CCEF6914BF7E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3/5/2026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6236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C9683C-4871-4C8F-BEEA-10AF86B392BF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3/5/2026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1926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40BE36-488E-4863-BE8B-D3A83D23C034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3/5/2026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878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98F92F1-570F-44E4-BBF4-1F8F64D4D95A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3/5/2026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611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753877-7FD5-4441-908E-24202D23D682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3/5/2026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4950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33D58C-3E0D-4875-BD18-5F8E67BFAEE4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3/5/2026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6648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FD6FDA-026B-4FDA-86C9-6656EB6D6CC7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3/5/2026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1954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C6BA19-72E9-4837-A60C-1743973BF13D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3/5/2026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2332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8B9EA39-B878-4919-926D-201D49DB2F06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3/5/2026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67240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37BCBB81-D996-45DD-B471-B5CCC20B796D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489D-B01C-440F-AEFD-22E5E33E5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9270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FB6475CC-4C3C-4985-9A0D-0AD10955CBC3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489D-B01C-440F-AEFD-22E5E33E5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1943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8C488CEE-0121-4ADB-B8FD-CCEF6914BF7E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489D-B01C-440F-AEFD-22E5E33E5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9257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48C9683C-4871-4C8F-BEEA-10AF86B392BF}" type="datetime1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489D-B01C-440F-AEFD-22E5E33E5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9263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DB40BE36-488E-4863-BE8B-D3A83D23C034}" type="datetime1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489D-B01C-440F-AEFD-22E5E33E5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9179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898F92F1-570F-44E4-BBF4-1F8F64D4D95A}" type="datetime1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489D-B01C-440F-AEFD-22E5E33E5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2631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63753877-7FD5-4441-908E-24202D23D682}" type="datetime1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489D-B01C-440F-AEFD-22E5E33E5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014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9733D58C-3E0D-4875-BD18-5F8E67BFAEE4}" type="datetime1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489D-B01C-440F-AEFD-22E5E33E5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8049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CBFD6FDA-026B-4FDA-86C9-6656EB6D6CC7}" type="datetime1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489D-B01C-440F-AEFD-22E5E33E5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9632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DDC6BA19-72E9-4837-A60C-1743973BF13D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489D-B01C-440F-AEFD-22E5E33E5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6069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68B9EA39-B878-4919-926D-201D49DB2F06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489D-B01C-440F-AEFD-22E5E33E5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193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9733455" y="6266890"/>
            <a:ext cx="2280102" cy="46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481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nb-NO"/>
              <a:t>M. Hammoud &amp; M. Sakr-- 2011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4018BDF-3348-4C5B-99DA-BEA80FC25D1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33457" y="6266890"/>
            <a:ext cx="2280103" cy="4633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D7FD5F6-C870-44FD-A034-5AC466781757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9733457" y="6266890"/>
            <a:ext cx="2280103" cy="46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753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10.png"/><Relationship Id="rId12" Type="http://schemas.openxmlformats.org/officeDocument/2006/relationships/customXml" Target="../ink/ink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12.png"/><Relationship Id="rId5" Type="http://schemas.openxmlformats.org/officeDocument/2006/relationships/image" Target="../media/image90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E4A9C500-9223-4344-96DC-191F7A373D3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838200" y="1219200"/>
            <a:ext cx="10210800" cy="3070225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Fundamentals of Programming &amp; Computer Science</a:t>
            </a:r>
            <a:br>
              <a:rPr lang="en-US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CS 15-112</a:t>
            </a:r>
            <a:br>
              <a:rPr lang="en-US" dirty="0">
                <a:solidFill>
                  <a:srgbClr val="0070C0"/>
                </a:solidFill>
              </a:rPr>
            </a:br>
            <a:endParaRPr lang="en-US" altLang="en-US" dirty="0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71D7BF2B-621A-4ADC-ADB2-E0847240761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447800" y="3810000"/>
            <a:ext cx="9144000" cy="21336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altLang="en-US" sz="4800" b="1" dirty="0"/>
              <a:t>Sets &amp; </a:t>
            </a:r>
            <a:r>
              <a:rPr lang="en-US" altLang="en-US" sz="4800" b="1" dirty="0" err="1"/>
              <a:t>Dicts</a:t>
            </a:r>
            <a:endParaRPr lang="en-US" altLang="en-US" sz="4800" b="1" dirty="0"/>
          </a:p>
          <a:p>
            <a:endParaRPr lang="en-US" altLang="en-US" sz="3200" dirty="0"/>
          </a:p>
          <a:p>
            <a:pPr>
              <a:lnSpc>
                <a:spcPct val="100000"/>
              </a:lnSpc>
            </a:pPr>
            <a:r>
              <a:rPr lang="en-US" altLang="en-US" sz="3200" dirty="0"/>
              <a:t>Dr. Hend Gedawy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C0248-CA48-E63B-50F9-B54359738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63486-34B3-B3CF-7C19-FDAF65BB5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Data Structures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E72B4B-FBF6-8CD7-421B-D61AEABA5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5B7F362-E687-8A2B-84B4-5394179243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 data structure is a way of organizing and storing data in a computer so that it can be accessed and manipulated efficiently</a:t>
            </a:r>
          </a:p>
          <a:p>
            <a:r>
              <a:rPr lang="en-US" sz="3200" dirty="0"/>
              <a:t>Data Structures seen so far?</a:t>
            </a:r>
          </a:p>
          <a:p>
            <a:pPr lvl="1"/>
            <a:r>
              <a:rPr lang="en-US" sz="2800" dirty="0"/>
              <a:t>Lists </a:t>
            </a:r>
          </a:p>
          <a:p>
            <a:pPr lvl="1"/>
            <a:r>
              <a:rPr lang="en-US" sz="2800" dirty="0"/>
              <a:t>Tuples</a:t>
            </a:r>
          </a:p>
          <a:p>
            <a:r>
              <a:rPr lang="en-US" sz="3200" dirty="0"/>
              <a:t>Today:</a:t>
            </a:r>
          </a:p>
          <a:p>
            <a:pPr lvl="1"/>
            <a:r>
              <a:rPr lang="en-US" sz="2800" dirty="0"/>
              <a:t>Sets</a:t>
            </a:r>
          </a:p>
          <a:p>
            <a:pPr lvl="1"/>
            <a:r>
              <a:rPr lang="en-US" sz="2800" dirty="0"/>
              <a:t>Dictionaries</a:t>
            </a:r>
          </a:p>
        </p:txBody>
      </p:sp>
    </p:spTree>
    <p:extLst>
      <p:ext uri="{BB962C8B-B14F-4D97-AF65-F5344CB8AC3E}">
        <p14:creationId xmlns:p14="http://schemas.microsoft.com/office/powerpoint/2010/main" val="3722771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3F2BC-27F5-5A91-A20E-3A4A0AE58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7631A-56AE-B0D5-B943-BC2F9B152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Motivational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2B2E6C-BEFD-DCBA-AF2B-188B2DB8B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BD0B69C-6CB4-0FCD-8C81-EA4C7D1AA0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dirty="0"/>
              <a:t>Write the function </a:t>
            </a:r>
            <a:r>
              <a:rPr lang="en-US" sz="3200" dirty="0" err="1">
                <a:solidFill>
                  <a:srgbClr val="FF0000"/>
                </a:solidFill>
              </a:rPr>
              <a:t>uniqueWords</a:t>
            </a:r>
            <a:r>
              <a:rPr lang="en-US" sz="3200" dirty="0">
                <a:solidFill>
                  <a:srgbClr val="FF0000"/>
                </a:solidFill>
              </a:rPr>
              <a:t>(text) </a:t>
            </a:r>
            <a:r>
              <a:rPr lang="en-US" sz="3200" dirty="0"/>
              <a:t>that takes a string </a:t>
            </a:r>
            <a:r>
              <a:rPr lang="en-US" sz="3200" i="1" dirty="0"/>
              <a:t>text</a:t>
            </a:r>
            <a:r>
              <a:rPr lang="en-US" sz="3200" dirty="0"/>
              <a:t> containing words separated by spaces and returns a list of unique words in the order they first appear in the text.</a:t>
            </a:r>
          </a:p>
        </p:txBody>
      </p:sp>
    </p:spTree>
    <p:extLst>
      <p:ext uri="{BB962C8B-B14F-4D97-AF65-F5344CB8AC3E}">
        <p14:creationId xmlns:p14="http://schemas.microsoft.com/office/powerpoint/2010/main" val="3546842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F2F25-0C8F-6766-7968-539353603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DA4E6-F3B8-7EFB-FDCA-72F08CE26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Sets Definition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289D83-0338-EEBC-1FA8-9DB65EEB8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90D0D4A-D00D-5CC7-D26F-EA6B1468B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 set is an </a:t>
            </a:r>
            <a:r>
              <a:rPr lang="en-US" b="1" dirty="0"/>
              <a:t>unordered collection</a:t>
            </a:r>
            <a:r>
              <a:rPr lang="en-US" dirty="0"/>
              <a:t> of </a:t>
            </a:r>
            <a:r>
              <a:rPr lang="en-US" b="1" dirty="0"/>
              <a:t>unique elements</a:t>
            </a:r>
            <a:r>
              <a:rPr lang="en-US" dirty="0"/>
              <a:t>. </a:t>
            </a:r>
          </a:p>
          <a:p>
            <a:r>
              <a:rPr lang="en-US" dirty="0"/>
              <a:t>Compared to other data structures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1026" name="Picture 2" descr="Python Tutorials: Difference between List &amp; Array &amp; Tuple &amp; Set &amp; Dict -  DevOpsSchool.com">
            <a:extLst>
              <a:ext uri="{FF2B5EF4-FFF2-40B4-BE49-F238E27FC236}">
                <a16:creationId xmlns:a16="http://schemas.microsoft.com/office/drawing/2014/main" id="{480BE419-B7F6-A7CF-3AA7-7009C7708A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2896963"/>
            <a:ext cx="6400800" cy="3262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2061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7F77C-B70E-6B7E-E7DA-D063CBAEE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4" descr="Generated image">
            <a:extLst>
              <a:ext uri="{FF2B5EF4-FFF2-40B4-BE49-F238E27FC236}">
                <a16:creationId xmlns:a16="http://schemas.microsoft.com/office/drawing/2014/main" id="{110304A8-99F0-65BE-E5F9-C3BD0EB9D17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F1D4E0-8848-8870-C120-E52335B954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2438400"/>
            <a:ext cx="3429000" cy="3429000"/>
          </a:xfrm>
          <a:prstGeom prst="rect">
            <a:avLst/>
          </a:prstGeom>
        </p:spPr>
      </p:pic>
      <p:sp>
        <p:nvSpPr>
          <p:cNvPr id="3074" name="Rectangle 2">
            <a:extLst>
              <a:ext uri="{FF2B5EF4-FFF2-40B4-BE49-F238E27FC236}">
                <a16:creationId xmlns:a16="http://schemas.microsoft.com/office/drawing/2014/main" id="{0DDA84D3-C16B-138D-ECFC-73D159B1250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457200"/>
            <a:ext cx="10210800" cy="2667000"/>
          </a:xfrm>
        </p:spPr>
        <p:txBody>
          <a:bodyPr>
            <a:normAutofit/>
          </a:bodyPr>
          <a:lstStyle/>
          <a:p>
            <a:r>
              <a:rPr lang="en-US" sz="7200" b="1" dirty="0">
                <a:solidFill>
                  <a:srgbClr val="C00000"/>
                </a:solidFill>
              </a:rPr>
              <a:t>Sets Syntax</a:t>
            </a:r>
            <a:br>
              <a:rPr lang="en-US" sz="7200" b="1" dirty="0">
                <a:solidFill>
                  <a:srgbClr val="C00000"/>
                </a:solidFill>
              </a:rPr>
            </a:br>
            <a:endParaRPr lang="en-US" altLang="en-US" sz="7200" b="1" dirty="0"/>
          </a:p>
        </p:txBody>
      </p:sp>
    </p:spTree>
    <p:extLst>
      <p:ext uri="{BB962C8B-B14F-4D97-AF65-F5344CB8AC3E}">
        <p14:creationId xmlns:p14="http://schemas.microsoft.com/office/powerpoint/2010/main" val="3957747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D177D-54E7-630D-E66B-5CDA8074F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Efficiency or Hope? – Limitless Technology">
            <a:extLst>
              <a:ext uri="{FF2B5EF4-FFF2-40B4-BE49-F238E27FC236}">
                <a16:creationId xmlns:a16="http://schemas.microsoft.com/office/drawing/2014/main" id="{0B0C4EF6-942A-8DDD-6E6E-22FFFE4315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333"/>
          <a:stretch>
            <a:fillRect/>
          </a:stretch>
        </p:blipFill>
        <p:spPr bwMode="auto">
          <a:xfrm>
            <a:off x="3809999" y="2514600"/>
            <a:ext cx="4738255" cy="434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4" name="Rectangle 2">
            <a:extLst>
              <a:ext uri="{FF2B5EF4-FFF2-40B4-BE49-F238E27FC236}">
                <a16:creationId xmlns:a16="http://schemas.microsoft.com/office/drawing/2014/main" id="{8A2D4A7B-ECD0-1A60-98DA-5A08DD0613E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14400" y="381000"/>
            <a:ext cx="10210800" cy="2667000"/>
          </a:xfrm>
        </p:spPr>
        <p:txBody>
          <a:bodyPr>
            <a:normAutofit/>
          </a:bodyPr>
          <a:lstStyle/>
          <a:p>
            <a:r>
              <a:rPr lang="en-US" sz="7200" b="1" dirty="0">
                <a:solidFill>
                  <a:srgbClr val="C00000"/>
                </a:solidFill>
              </a:rPr>
              <a:t>Sets vs Lists </a:t>
            </a:r>
            <a:br>
              <a:rPr lang="en-US" sz="7200" b="1" dirty="0">
                <a:solidFill>
                  <a:srgbClr val="C00000"/>
                </a:solidFill>
              </a:rPr>
            </a:br>
            <a:r>
              <a:rPr lang="en-US" sz="7200" b="1" dirty="0">
                <a:solidFill>
                  <a:srgbClr val="C00000"/>
                </a:solidFill>
              </a:rPr>
              <a:t>Efficiency </a:t>
            </a:r>
            <a:endParaRPr lang="en-US" altLang="en-US" sz="7200" b="1" dirty="0"/>
          </a:p>
        </p:txBody>
      </p:sp>
    </p:spTree>
    <p:extLst>
      <p:ext uri="{BB962C8B-B14F-4D97-AF65-F5344CB8AC3E}">
        <p14:creationId xmlns:p14="http://schemas.microsoft.com/office/powerpoint/2010/main" val="1976738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64398-8E4F-FEE1-BFBE-993965BC0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Inserting Elements in a List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DB9192-38FE-3193-6828-32C04C10A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0FCDEA6-46C2-A652-08DF-BCD8AE21FDB9}"/>
              </a:ext>
            </a:extLst>
          </p:cNvPr>
          <p:cNvSpPr/>
          <p:nvPr/>
        </p:nvSpPr>
        <p:spPr>
          <a:xfrm>
            <a:off x="3409019" y="3261042"/>
            <a:ext cx="527878" cy="383547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accent5"/>
                </a:solidFill>
              </a:rPr>
              <a:t>39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09C416F-1441-1D5B-EE81-591920E9052C}"/>
              </a:ext>
            </a:extLst>
          </p:cNvPr>
          <p:cNvSpPr/>
          <p:nvPr/>
        </p:nvSpPr>
        <p:spPr>
          <a:xfrm>
            <a:off x="2804941" y="3276600"/>
            <a:ext cx="527878" cy="383547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accent5"/>
                </a:solidFill>
              </a:rPr>
              <a:t>24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67096EF-396A-E445-12FB-CEE1D87A16BA}"/>
              </a:ext>
            </a:extLst>
          </p:cNvPr>
          <p:cNvSpPr/>
          <p:nvPr/>
        </p:nvSpPr>
        <p:spPr>
          <a:xfrm>
            <a:off x="2200863" y="3276600"/>
            <a:ext cx="527878" cy="383547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accent5"/>
                </a:solidFill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C1B15F6-D3C7-F156-17A6-8606A54A5E62}"/>
              </a:ext>
            </a:extLst>
          </p:cNvPr>
          <p:cNvSpPr/>
          <p:nvPr/>
        </p:nvSpPr>
        <p:spPr>
          <a:xfrm>
            <a:off x="1624601" y="3297930"/>
            <a:ext cx="527878" cy="383547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accent5"/>
                </a:solidFill>
              </a:rPr>
              <a:t>74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D65EAF6-504F-A005-EF70-34D99B533696}"/>
              </a:ext>
            </a:extLst>
          </p:cNvPr>
          <p:cNvSpPr/>
          <p:nvPr/>
        </p:nvSpPr>
        <p:spPr>
          <a:xfrm>
            <a:off x="1020523" y="3309730"/>
            <a:ext cx="527878" cy="383547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accent5"/>
                </a:solidFill>
              </a:rPr>
              <a:t>16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82C8784-9317-6668-B4AA-A37CA2E49607}"/>
              </a:ext>
            </a:extLst>
          </p:cNvPr>
          <p:cNvSpPr/>
          <p:nvPr/>
        </p:nvSpPr>
        <p:spPr>
          <a:xfrm>
            <a:off x="416445" y="3309730"/>
            <a:ext cx="527878" cy="383547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accent5"/>
                </a:solidFill>
              </a:rPr>
              <a:t>4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5300360E-6E44-45A4-90E8-E853080C33D7}"/>
              </a:ext>
            </a:extLst>
          </p:cNvPr>
          <p:cNvSpPr/>
          <p:nvPr/>
        </p:nvSpPr>
        <p:spPr>
          <a:xfrm>
            <a:off x="4617175" y="2819400"/>
            <a:ext cx="1981200" cy="137160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Insert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DD7CB9-EDA9-0698-9BBB-94A59F44B933}"/>
              </a:ext>
            </a:extLst>
          </p:cNvPr>
          <p:cNvSpPr txBox="1"/>
          <p:nvPr/>
        </p:nvSpPr>
        <p:spPr>
          <a:xfrm>
            <a:off x="8433799" y="2450068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LIST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EB62F19-0A24-590A-FB10-4220FDA28CBB}"/>
              </a:ext>
            </a:extLst>
          </p:cNvPr>
          <p:cNvSpPr/>
          <p:nvPr/>
        </p:nvSpPr>
        <p:spPr>
          <a:xfrm>
            <a:off x="7162800" y="3242365"/>
            <a:ext cx="762000" cy="52038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39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DC808A0-9AAE-7BF6-796C-91EC46DFA516}"/>
              </a:ext>
            </a:extLst>
          </p:cNvPr>
          <p:cNvSpPr/>
          <p:nvPr/>
        </p:nvSpPr>
        <p:spPr>
          <a:xfrm>
            <a:off x="7924800" y="3242365"/>
            <a:ext cx="762000" cy="52038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24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719C4D3-8F2C-9D8F-46CC-D1FD928089C0}"/>
              </a:ext>
            </a:extLst>
          </p:cNvPr>
          <p:cNvSpPr/>
          <p:nvPr/>
        </p:nvSpPr>
        <p:spPr>
          <a:xfrm>
            <a:off x="8682383" y="3242365"/>
            <a:ext cx="762000" cy="52038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CFCE77A-63C1-56D0-C08A-7E193506FE94}"/>
              </a:ext>
            </a:extLst>
          </p:cNvPr>
          <p:cNvSpPr/>
          <p:nvPr/>
        </p:nvSpPr>
        <p:spPr>
          <a:xfrm>
            <a:off x="9447214" y="3242365"/>
            <a:ext cx="762000" cy="52038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74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044454D-A9F6-61E1-EF4D-B7113825974C}"/>
              </a:ext>
            </a:extLst>
          </p:cNvPr>
          <p:cNvSpPr/>
          <p:nvPr/>
        </p:nvSpPr>
        <p:spPr>
          <a:xfrm>
            <a:off x="10186399" y="3242365"/>
            <a:ext cx="762000" cy="52038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16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F6AB61C-64A3-73F0-F2BC-671233977F3F}"/>
              </a:ext>
            </a:extLst>
          </p:cNvPr>
          <p:cNvSpPr/>
          <p:nvPr/>
        </p:nvSpPr>
        <p:spPr>
          <a:xfrm>
            <a:off x="10948399" y="3240156"/>
            <a:ext cx="762000" cy="52038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B65D87-5A9A-D873-8623-28FBA4F51611}"/>
              </a:ext>
            </a:extLst>
          </p:cNvPr>
          <p:cNvSpPr/>
          <p:nvPr/>
        </p:nvSpPr>
        <p:spPr>
          <a:xfrm>
            <a:off x="3363466" y="3188300"/>
            <a:ext cx="746917" cy="560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EF2AB2-A349-E6CA-AD13-73CEBDB46C9E}"/>
              </a:ext>
            </a:extLst>
          </p:cNvPr>
          <p:cNvSpPr/>
          <p:nvPr/>
        </p:nvSpPr>
        <p:spPr>
          <a:xfrm>
            <a:off x="2764661" y="3209630"/>
            <a:ext cx="641527" cy="560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9640C0-58E8-8D57-9695-B268D535877C}"/>
              </a:ext>
            </a:extLst>
          </p:cNvPr>
          <p:cNvSpPr/>
          <p:nvPr/>
        </p:nvSpPr>
        <p:spPr>
          <a:xfrm>
            <a:off x="2198360" y="3188300"/>
            <a:ext cx="641527" cy="560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127DA6A-2AB1-BBD0-5EC5-056972AC8071}"/>
              </a:ext>
            </a:extLst>
          </p:cNvPr>
          <p:cNvSpPr/>
          <p:nvPr/>
        </p:nvSpPr>
        <p:spPr>
          <a:xfrm>
            <a:off x="1597113" y="3220277"/>
            <a:ext cx="641527" cy="560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41633F-DD5F-2BDB-125A-7F46546830CD}"/>
              </a:ext>
            </a:extLst>
          </p:cNvPr>
          <p:cNvSpPr/>
          <p:nvPr/>
        </p:nvSpPr>
        <p:spPr>
          <a:xfrm>
            <a:off x="980243" y="3220277"/>
            <a:ext cx="641527" cy="560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BA0B48E-DA2D-C16C-E491-F6C84546005D}"/>
              </a:ext>
            </a:extLst>
          </p:cNvPr>
          <p:cNvSpPr/>
          <p:nvPr/>
        </p:nvSpPr>
        <p:spPr>
          <a:xfrm>
            <a:off x="356593" y="3261042"/>
            <a:ext cx="641527" cy="560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20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3" grpId="0" animBg="1"/>
      <p:bldP spid="5" grpId="0" animBg="1"/>
      <p:bldP spid="6" grpId="0" animBg="1"/>
      <p:bldP spid="21" grpId="0" animBg="1"/>
      <p:bldP spid="22" grpId="0" animBg="1"/>
      <p:bldP spid="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64398-8E4F-FEE1-BFBE-993965BC0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136525"/>
            <a:ext cx="8228013" cy="105568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Inserting Elements in Sets 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b="1" dirty="0">
                <a:solidFill>
                  <a:srgbClr val="C00000"/>
                </a:solidFill>
              </a:rPr>
              <a:t>&amp; Hashing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DB9192-38FE-3193-6828-32C04C10A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B9C1512-6B81-7228-5952-C12DABC958FA}"/>
              </a:ext>
            </a:extLst>
          </p:cNvPr>
          <p:cNvGrpSpPr/>
          <p:nvPr/>
        </p:nvGrpSpPr>
        <p:grpSpPr>
          <a:xfrm>
            <a:off x="4419600" y="3017815"/>
            <a:ext cx="2362200" cy="940039"/>
            <a:chOff x="4648200" y="3230317"/>
            <a:chExt cx="2362200" cy="94003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8FDD26F-C075-2F18-017D-88979B959ECF}"/>
                </a:ext>
              </a:extLst>
            </p:cNvPr>
            <p:cNvSpPr/>
            <p:nvPr/>
          </p:nvSpPr>
          <p:spPr>
            <a:xfrm>
              <a:off x="4648200" y="3230317"/>
              <a:ext cx="2362200" cy="940039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def hash(n):</a:t>
              </a:r>
            </a:p>
            <a:p>
              <a:pPr algn="ctr"/>
              <a:r>
                <a:rPr lang="en-US" dirty="0"/>
                <a:t>Return n%10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EE41D25-529E-70B2-0151-82AEB00D6C1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56"/>
            <a:stretch/>
          </p:blipFill>
          <p:spPr>
            <a:xfrm>
              <a:off x="4800600" y="3397013"/>
              <a:ext cx="2133600" cy="657208"/>
            </a:xfrm>
            <a:prstGeom prst="rect">
              <a:avLst/>
            </a:prstGeom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C251DB15-F41C-66F2-4314-F6B015A92417}"/>
              </a:ext>
            </a:extLst>
          </p:cNvPr>
          <p:cNvSpPr/>
          <p:nvPr/>
        </p:nvSpPr>
        <p:spPr>
          <a:xfrm>
            <a:off x="8077200" y="2135578"/>
            <a:ext cx="609600" cy="365125"/>
          </a:xfrm>
          <a:prstGeom prst="rect">
            <a:avLst/>
          </a:prstGeom>
          <a:solidFill>
            <a:srgbClr val="FBE5D6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9C0E81-9B38-E3A4-228F-FE899C2E86A2}"/>
              </a:ext>
            </a:extLst>
          </p:cNvPr>
          <p:cNvSpPr/>
          <p:nvPr/>
        </p:nvSpPr>
        <p:spPr>
          <a:xfrm>
            <a:off x="8077200" y="2578494"/>
            <a:ext cx="609600" cy="365125"/>
          </a:xfrm>
          <a:prstGeom prst="rect">
            <a:avLst/>
          </a:prstGeom>
          <a:solidFill>
            <a:srgbClr val="FBE5D6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26806F-18C4-820E-E61A-B14057D675C5}"/>
              </a:ext>
            </a:extLst>
          </p:cNvPr>
          <p:cNvSpPr/>
          <p:nvPr/>
        </p:nvSpPr>
        <p:spPr>
          <a:xfrm>
            <a:off x="8086725" y="3019075"/>
            <a:ext cx="609600" cy="365125"/>
          </a:xfrm>
          <a:prstGeom prst="rect">
            <a:avLst/>
          </a:prstGeom>
          <a:solidFill>
            <a:srgbClr val="FBE5D6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CFCD53-6B54-57FC-E390-061B157C97C0}"/>
              </a:ext>
            </a:extLst>
          </p:cNvPr>
          <p:cNvSpPr/>
          <p:nvPr/>
        </p:nvSpPr>
        <p:spPr>
          <a:xfrm>
            <a:off x="8086725" y="3459579"/>
            <a:ext cx="609600" cy="365125"/>
          </a:xfrm>
          <a:prstGeom prst="rect">
            <a:avLst/>
          </a:prstGeom>
          <a:solidFill>
            <a:srgbClr val="FBE5D6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129C40-76B6-5E7D-E9DD-E15CD9AEEC9E}"/>
              </a:ext>
            </a:extLst>
          </p:cNvPr>
          <p:cNvSpPr/>
          <p:nvPr/>
        </p:nvSpPr>
        <p:spPr>
          <a:xfrm>
            <a:off x="8094889" y="3910529"/>
            <a:ext cx="609600" cy="365125"/>
          </a:xfrm>
          <a:prstGeom prst="rect">
            <a:avLst/>
          </a:prstGeom>
          <a:solidFill>
            <a:srgbClr val="FBE5D6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9318321-1D7A-26A8-D093-DC7DC0E9C28D}"/>
              </a:ext>
            </a:extLst>
          </p:cNvPr>
          <p:cNvSpPr/>
          <p:nvPr/>
        </p:nvSpPr>
        <p:spPr>
          <a:xfrm>
            <a:off x="8094889" y="4343062"/>
            <a:ext cx="609600" cy="365125"/>
          </a:xfrm>
          <a:prstGeom prst="rect">
            <a:avLst/>
          </a:prstGeom>
          <a:solidFill>
            <a:srgbClr val="FBE5D6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952B0D6-EE69-5990-F42D-A73FFD073406}"/>
              </a:ext>
            </a:extLst>
          </p:cNvPr>
          <p:cNvSpPr/>
          <p:nvPr/>
        </p:nvSpPr>
        <p:spPr>
          <a:xfrm>
            <a:off x="8094889" y="4774875"/>
            <a:ext cx="609600" cy="365125"/>
          </a:xfrm>
          <a:prstGeom prst="rect">
            <a:avLst/>
          </a:prstGeom>
          <a:solidFill>
            <a:srgbClr val="FBE5D6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7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5FB0C0C-EC89-3F3F-E545-729AC7EAFFFE}"/>
              </a:ext>
            </a:extLst>
          </p:cNvPr>
          <p:cNvSpPr/>
          <p:nvPr/>
        </p:nvSpPr>
        <p:spPr>
          <a:xfrm>
            <a:off x="8094889" y="5212896"/>
            <a:ext cx="609600" cy="365125"/>
          </a:xfrm>
          <a:prstGeom prst="rect">
            <a:avLst/>
          </a:prstGeom>
          <a:solidFill>
            <a:srgbClr val="FBE5D6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8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0809754-003F-F50D-75E7-57757A2D8559}"/>
              </a:ext>
            </a:extLst>
          </p:cNvPr>
          <p:cNvSpPr/>
          <p:nvPr/>
        </p:nvSpPr>
        <p:spPr>
          <a:xfrm>
            <a:off x="8077200" y="1676400"/>
            <a:ext cx="609600" cy="365125"/>
          </a:xfrm>
          <a:prstGeom prst="rect">
            <a:avLst/>
          </a:prstGeom>
          <a:solidFill>
            <a:srgbClr val="FBE5D6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45FA7C8-7E82-2F08-EC19-9ADBA4393304}"/>
              </a:ext>
            </a:extLst>
          </p:cNvPr>
          <p:cNvSpPr/>
          <p:nvPr/>
        </p:nvSpPr>
        <p:spPr>
          <a:xfrm>
            <a:off x="8105775" y="5650917"/>
            <a:ext cx="609600" cy="365125"/>
          </a:xfrm>
          <a:prstGeom prst="rect">
            <a:avLst/>
          </a:prstGeom>
          <a:solidFill>
            <a:srgbClr val="FBE5D6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1F5731-8AEE-E15B-72AA-A13AA5A07C77}"/>
              </a:ext>
            </a:extLst>
          </p:cNvPr>
          <p:cNvSpPr txBox="1"/>
          <p:nvPr/>
        </p:nvSpPr>
        <p:spPr>
          <a:xfrm>
            <a:off x="9105900" y="1149956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BUCKETS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3CA64C3-5E78-1759-D091-6583F93BAB5C}"/>
              </a:ext>
            </a:extLst>
          </p:cNvPr>
          <p:cNvSpPr txBox="1"/>
          <p:nvPr/>
        </p:nvSpPr>
        <p:spPr>
          <a:xfrm>
            <a:off x="4724400" y="2578494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Hash Function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152289B-91FB-FE75-32C2-5F92DDED1022}"/>
              </a:ext>
            </a:extLst>
          </p:cNvPr>
          <p:cNvSpPr/>
          <p:nvPr/>
        </p:nvSpPr>
        <p:spPr>
          <a:xfrm>
            <a:off x="3409019" y="3261042"/>
            <a:ext cx="527878" cy="383547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accent5"/>
                </a:solidFill>
              </a:rPr>
              <a:t>39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FC19F9F-540F-6E97-C008-D3AAA7DFBC09}"/>
              </a:ext>
            </a:extLst>
          </p:cNvPr>
          <p:cNvSpPr/>
          <p:nvPr/>
        </p:nvSpPr>
        <p:spPr>
          <a:xfrm>
            <a:off x="2804941" y="3276600"/>
            <a:ext cx="527878" cy="383547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accent5"/>
                </a:solidFill>
              </a:rPr>
              <a:t>24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8B546D3-EF5E-5246-F4A6-C9E5BA83BD49}"/>
              </a:ext>
            </a:extLst>
          </p:cNvPr>
          <p:cNvSpPr/>
          <p:nvPr/>
        </p:nvSpPr>
        <p:spPr>
          <a:xfrm>
            <a:off x="2200863" y="3276600"/>
            <a:ext cx="527878" cy="383547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accent5"/>
                </a:solidFill>
              </a:rPr>
              <a:t>1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9AD3288-DA3C-32CB-D334-05AE68442208}"/>
              </a:ext>
            </a:extLst>
          </p:cNvPr>
          <p:cNvSpPr/>
          <p:nvPr/>
        </p:nvSpPr>
        <p:spPr>
          <a:xfrm>
            <a:off x="1624601" y="3297930"/>
            <a:ext cx="527878" cy="383547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accent5"/>
                </a:solidFill>
              </a:rPr>
              <a:t>74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83AFA68-AA15-C226-9BBD-C979F067E9BA}"/>
              </a:ext>
            </a:extLst>
          </p:cNvPr>
          <p:cNvSpPr/>
          <p:nvPr/>
        </p:nvSpPr>
        <p:spPr>
          <a:xfrm>
            <a:off x="1020523" y="3309730"/>
            <a:ext cx="527878" cy="383547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accent5"/>
                </a:solidFill>
              </a:rPr>
              <a:t>16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B21E871-6577-23D9-D125-A86EE21E51B2}"/>
              </a:ext>
            </a:extLst>
          </p:cNvPr>
          <p:cNvSpPr/>
          <p:nvPr/>
        </p:nvSpPr>
        <p:spPr>
          <a:xfrm>
            <a:off x="416445" y="3309730"/>
            <a:ext cx="527878" cy="383547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accent5"/>
                </a:solidFill>
              </a:rPr>
              <a:t>4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91396C4-E324-06A3-04A9-C39B833E7B17}"/>
              </a:ext>
            </a:extLst>
          </p:cNvPr>
          <p:cNvSpPr/>
          <p:nvPr/>
        </p:nvSpPr>
        <p:spPr>
          <a:xfrm>
            <a:off x="8686800" y="1676400"/>
            <a:ext cx="3030311" cy="365125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348E17D-19F5-E4F7-4DCD-B858248B28DE}"/>
              </a:ext>
            </a:extLst>
          </p:cNvPr>
          <p:cNvSpPr/>
          <p:nvPr/>
        </p:nvSpPr>
        <p:spPr>
          <a:xfrm>
            <a:off x="8692341" y="2135578"/>
            <a:ext cx="3030311" cy="365125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D6668E9-83B2-351A-358F-B1ECAA51A3F3}"/>
              </a:ext>
            </a:extLst>
          </p:cNvPr>
          <p:cNvSpPr/>
          <p:nvPr/>
        </p:nvSpPr>
        <p:spPr>
          <a:xfrm>
            <a:off x="8696325" y="2580435"/>
            <a:ext cx="3030311" cy="365125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9E52AC0-A0D5-5E98-C475-41E17B784AF2}"/>
              </a:ext>
            </a:extLst>
          </p:cNvPr>
          <p:cNvSpPr/>
          <p:nvPr/>
        </p:nvSpPr>
        <p:spPr>
          <a:xfrm>
            <a:off x="8704489" y="3016262"/>
            <a:ext cx="3030311" cy="365125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C94C296-EB32-D567-7D8E-BA1E68685857}"/>
              </a:ext>
            </a:extLst>
          </p:cNvPr>
          <p:cNvSpPr/>
          <p:nvPr/>
        </p:nvSpPr>
        <p:spPr>
          <a:xfrm>
            <a:off x="8709991" y="3459578"/>
            <a:ext cx="3030311" cy="365125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6BFC88C-31B3-6CE0-C898-962568808096}"/>
              </a:ext>
            </a:extLst>
          </p:cNvPr>
          <p:cNvSpPr/>
          <p:nvPr/>
        </p:nvSpPr>
        <p:spPr>
          <a:xfrm>
            <a:off x="8704489" y="3916299"/>
            <a:ext cx="3030311" cy="365125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772C237-0A6B-A13E-C460-3374B5252FE2}"/>
              </a:ext>
            </a:extLst>
          </p:cNvPr>
          <p:cNvSpPr/>
          <p:nvPr/>
        </p:nvSpPr>
        <p:spPr>
          <a:xfrm>
            <a:off x="8704489" y="4342342"/>
            <a:ext cx="3030311" cy="365125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761ACD0-DA45-6432-05B2-61B691B32D7C}"/>
              </a:ext>
            </a:extLst>
          </p:cNvPr>
          <p:cNvSpPr/>
          <p:nvPr/>
        </p:nvSpPr>
        <p:spPr>
          <a:xfrm>
            <a:off x="8715375" y="4787488"/>
            <a:ext cx="3030311" cy="365125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6913948-1014-0869-2F8A-CDA3BCAB9361}"/>
              </a:ext>
            </a:extLst>
          </p:cNvPr>
          <p:cNvSpPr/>
          <p:nvPr/>
        </p:nvSpPr>
        <p:spPr>
          <a:xfrm>
            <a:off x="8715375" y="5212895"/>
            <a:ext cx="3030311" cy="365125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40E68ED-AE8F-C352-D2C5-D5E2B740B622}"/>
              </a:ext>
            </a:extLst>
          </p:cNvPr>
          <p:cNvSpPr/>
          <p:nvPr/>
        </p:nvSpPr>
        <p:spPr>
          <a:xfrm>
            <a:off x="8725314" y="5657517"/>
            <a:ext cx="3030311" cy="365125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D29BBA54-6C96-415D-E381-8AC359312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446" y="1219200"/>
            <a:ext cx="2783954" cy="1403362"/>
          </a:xfr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Insertion Steps: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1) Hash </a:t>
            </a:r>
            <a:r>
              <a:rPr lang="en-US" sz="2200" dirty="0">
                <a:solidFill>
                  <a:schemeClr val="accent6">
                    <a:lumMod val="75000"/>
                  </a:schemeClr>
                </a:solidFill>
              </a:rPr>
              <a:t>(find the bucket)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2) Once in the bucket, perform Equality Testing</a:t>
            </a:r>
          </a:p>
          <a:p>
            <a:pPr lvl="1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Compare the element to each existing element in the bucket</a:t>
            </a:r>
          </a:p>
          <a:p>
            <a:pPr lvl="1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If it doesn’t exist, add it</a:t>
            </a:r>
          </a:p>
        </p:txBody>
      </p:sp>
      <p:sp>
        <p:nvSpPr>
          <p:cNvPr id="7" name="Explosion: 14 Points 6">
            <a:extLst>
              <a:ext uri="{FF2B5EF4-FFF2-40B4-BE49-F238E27FC236}">
                <a16:creationId xmlns:a16="http://schemas.microsoft.com/office/drawing/2014/main" id="{67D92541-6D20-7BCC-0946-990978EB8786}"/>
              </a:ext>
            </a:extLst>
          </p:cNvPr>
          <p:cNvSpPr/>
          <p:nvPr/>
        </p:nvSpPr>
        <p:spPr>
          <a:xfrm>
            <a:off x="3067574" y="4773428"/>
            <a:ext cx="2590800" cy="1337886"/>
          </a:xfrm>
          <a:prstGeom prst="irregularSeal2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Collision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9911BF-5243-6743-1F47-A1117FDA5547}"/>
              </a:ext>
            </a:extLst>
          </p:cNvPr>
          <p:cNvSpPr/>
          <p:nvPr/>
        </p:nvSpPr>
        <p:spPr>
          <a:xfrm>
            <a:off x="2728741" y="4572000"/>
            <a:ext cx="3214859" cy="167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673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-2.22222E-6 L 0.0655 0.04491 L 0.26393 0.05023 L 0.37617 0.34977 L 0.43802 0.35116 L 0.43633 0.35047 " pathEditMode="relative" rAng="0" ptsTypes="AAAAAA">
                                      <p:cBhvr>
                                        <p:cTn id="78" dur="3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901" y="175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2.96296E-6 L 0.14948 0.00532 L 0.3194 0.00555 L 0.41407 0.02662 L 0.48269 0.02615 L 0.48269 0.02662 " pathEditMode="relative" rAng="0" ptsTypes="AAAAAA">
                                      <p:cBhvr>
                                        <p:cTn id="82" dur="3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128" y="13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2.96296E-6 L 0.1642 -0.03449 L 0.35105 -0.03843 L 0.45508 -0.17107 L 0.53086 -0.16991 L 0.53086 -0.17107 " pathEditMode="relative" rAng="0" ptsTypes="AAAAAA">
                                      <p:cBhvr>
                                        <p:cTn id="86" dur="3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536" y="-856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3.7037E-6 L 0.19635 0.0037 L 0.41966 0.00393 L 0.54414 0.01944 L 0.63437 0.01898 L 0.63437 0.01944 " pathEditMode="relative" rAng="0" ptsTypes="AAAAAA">
                                      <p:cBhvr>
                                        <p:cTn id="90" dur="3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719" y="972"/>
                                    </p:animMotion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3.33333E-6 L 0.19596 0.02847 L 0.41901 0.03032 L 0.54362 0.15115 L 0.63385 0.14722 L 0.63385 0.15115 " pathEditMode="relative" rAng="0" ptsTypes="AAAAAA">
                                      <p:cBhvr>
                                        <p:cTn id="96" dur="3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693" y="7546"/>
                                    </p:animMotion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0221 -0.00648 L 0.45169 -0.00116 L 0.62161 -0.00093 L 0.71628 0.02014 L 0.7849 0.01967 L 0.7849 0.02014 " pathEditMode="relative" rAng="0" ptsTypes="AAAAAA">
                                      <p:cBhvr>
                                        <p:cTn id="102" dur="5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128" y="13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0" grpId="0"/>
      <p:bldP spid="21" grpId="0"/>
      <p:bldP spid="24" grpId="0" animBg="1"/>
      <p:bldP spid="27" grpId="0" animBg="1"/>
      <p:bldP spid="28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build="p" animBg="1"/>
      <p:bldP spid="7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B0E37-2F60-820F-4E84-284AAA0B9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If I try to Insert a duplicate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48E6B7-5A9B-6918-826E-38FD52C31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B72127-A4CA-1E72-2D6E-DF2AE5BF3DD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674"/>
          <a:stretch/>
        </p:blipFill>
        <p:spPr>
          <a:xfrm>
            <a:off x="7467600" y="1646238"/>
            <a:ext cx="3921261" cy="4449762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73A0FE83-DDAB-34A0-CDF6-C2B139A6E5E2}"/>
              </a:ext>
            </a:extLst>
          </p:cNvPr>
          <p:cNvSpPr/>
          <p:nvPr/>
        </p:nvSpPr>
        <p:spPr>
          <a:xfrm>
            <a:off x="374375" y="3232376"/>
            <a:ext cx="527878" cy="383547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accent5"/>
                </a:solidFill>
              </a:rPr>
              <a:t>74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94AF1E97-4866-B231-80D1-DE31FFA60D3B}"/>
              </a:ext>
            </a:extLst>
          </p:cNvPr>
          <p:cNvSpPr/>
          <p:nvPr/>
        </p:nvSpPr>
        <p:spPr>
          <a:xfrm>
            <a:off x="1048026" y="2738349"/>
            <a:ext cx="1676400" cy="137160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Insert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7ED96ED-14AE-2B19-616D-E06E37CB45DB}"/>
              </a:ext>
            </a:extLst>
          </p:cNvPr>
          <p:cNvGrpSpPr/>
          <p:nvPr/>
        </p:nvGrpSpPr>
        <p:grpSpPr>
          <a:xfrm>
            <a:off x="3292061" y="2997855"/>
            <a:ext cx="2362200" cy="940039"/>
            <a:chOff x="4648200" y="3230317"/>
            <a:chExt cx="2362200" cy="94003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F24D9BC-EB6D-E5D8-74F2-D48250B4FB08}"/>
                </a:ext>
              </a:extLst>
            </p:cNvPr>
            <p:cNvSpPr/>
            <p:nvPr/>
          </p:nvSpPr>
          <p:spPr>
            <a:xfrm>
              <a:off x="4648200" y="3230317"/>
              <a:ext cx="2362200" cy="940039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def hash(n):</a:t>
              </a:r>
            </a:p>
            <a:p>
              <a:pPr algn="ctr"/>
              <a:r>
                <a:rPr lang="en-US" dirty="0"/>
                <a:t>Return n%10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1DE911F-53AD-3A32-9AB9-6D19762AB2F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656"/>
            <a:stretch/>
          </p:blipFill>
          <p:spPr>
            <a:xfrm>
              <a:off x="4800600" y="3397013"/>
              <a:ext cx="2133600" cy="657208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48AB23C5-9F53-AEBA-1190-F963851289C4}"/>
              </a:ext>
            </a:extLst>
          </p:cNvPr>
          <p:cNvSpPr txBox="1"/>
          <p:nvPr/>
        </p:nvSpPr>
        <p:spPr>
          <a:xfrm>
            <a:off x="3596861" y="2558534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Hash Function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48F078C-53EE-9EB0-673C-5ED86BBFAB32}"/>
              </a:ext>
            </a:extLst>
          </p:cNvPr>
          <p:cNvCxnSpPr>
            <a:stCxn id="10" idx="3"/>
          </p:cNvCxnSpPr>
          <p:nvPr/>
        </p:nvCxnSpPr>
        <p:spPr>
          <a:xfrm>
            <a:off x="5654261" y="3467875"/>
            <a:ext cx="2194339" cy="403244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F7997E1-C6FB-7346-12E1-E87C3E1E1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446" y="1219200"/>
            <a:ext cx="2783954" cy="1403362"/>
          </a:xfr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Insertion Steps: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1) Hash </a:t>
            </a:r>
            <a:r>
              <a:rPr lang="en-US" sz="2200" dirty="0">
                <a:solidFill>
                  <a:schemeClr val="accent6">
                    <a:lumMod val="75000"/>
                  </a:schemeClr>
                </a:solidFill>
              </a:rPr>
              <a:t>(find the bucket)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2) Once in the bucket, perform Equality Testing</a:t>
            </a:r>
          </a:p>
          <a:p>
            <a:pPr lvl="1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Compare the element to each existing element in the bucket</a:t>
            </a:r>
          </a:p>
          <a:p>
            <a:pPr lvl="1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If it doesn’t exist, add it</a:t>
            </a:r>
          </a:p>
        </p:txBody>
      </p:sp>
    </p:spTree>
    <p:extLst>
      <p:ext uri="{BB962C8B-B14F-4D97-AF65-F5344CB8AC3E}">
        <p14:creationId xmlns:p14="http://schemas.microsoft.com/office/powerpoint/2010/main" val="1050746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1615 0.01481 L 0.5681 0.06296 L 0.62136 0.06527 L 0.66459 0.06226 L 0.70391 0.06111 L 0.70391 0.06134 " pathEditMode="relative" rAng="0" ptsTypes="AAAAAA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388" y="25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30E019F-153A-81FC-9FD2-0F62B3DFC848}"/>
              </a:ext>
            </a:extLst>
          </p:cNvPr>
          <p:cNvSpPr/>
          <p:nvPr/>
        </p:nvSpPr>
        <p:spPr>
          <a:xfrm>
            <a:off x="5410200" y="2667000"/>
            <a:ext cx="5181600" cy="990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364398-8E4F-FEE1-BFBE-993965BC0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Looking Up an Element in a List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DB9192-38FE-3193-6828-32C04C10A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82C8784-9317-6668-B4AA-A37CA2E49607}"/>
              </a:ext>
            </a:extLst>
          </p:cNvPr>
          <p:cNvSpPr/>
          <p:nvPr/>
        </p:nvSpPr>
        <p:spPr>
          <a:xfrm>
            <a:off x="2504558" y="2961811"/>
            <a:ext cx="527878" cy="383547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5300360E-6E44-45A4-90E8-E853080C33D7}"/>
              </a:ext>
            </a:extLst>
          </p:cNvPr>
          <p:cNvSpPr/>
          <p:nvPr/>
        </p:nvSpPr>
        <p:spPr>
          <a:xfrm>
            <a:off x="3169375" y="2472635"/>
            <a:ext cx="1981200" cy="137160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Lookup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DD7CB9-EDA9-0698-9BBB-94A59F44B933}"/>
              </a:ext>
            </a:extLst>
          </p:cNvPr>
          <p:cNvSpPr txBox="1"/>
          <p:nvPr/>
        </p:nvSpPr>
        <p:spPr>
          <a:xfrm>
            <a:off x="6985999" y="2103303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LIST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EB62F19-0A24-590A-FB10-4220FDA28CBB}"/>
              </a:ext>
            </a:extLst>
          </p:cNvPr>
          <p:cNvSpPr/>
          <p:nvPr/>
        </p:nvSpPr>
        <p:spPr>
          <a:xfrm>
            <a:off x="5715000" y="2895600"/>
            <a:ext cx="762000" cy="52038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39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DC808A0-9AAE-7BF6-796C-91EC46DFA516}"/>
              </a:ext>
            </a:extLst>
          </p:cNvPr>
          <p:cNvSpPr/>
          <p:nvPr/>
        </p:nvSpPr>
        <p:spPr>
          <a:xfrm>
            <a:off x="6477000" y="2895600"/>
            <a:ext cx="762000" cy="52038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24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719C4D3-8F2C-9D8F-46CC-D1FD928089C0}"/>
              </a:ext>
            </a:extLst>
          </p:cNvPr>
          <p:cNvSpPr/>
          <p:nvPr/>
        </p:nvSpPr>
        <p:spPr>
          <a:xfrm>
            <a:off x="7234583" y="2895600"/>
            <a:ext cx="762000" cy="52038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CFCE77A-63C1-56D0-C08A-7E193506FE94}"/>
              </a:ext>
            </a:extLst>
          </p:cNvPr>
          <p:cNvSpPr/>
          <p:nvPr/>
        </p:nvSpPr>
        <p:spPr>
          <a:xfrm>
            <a:off x="7999414" y="2895600"/>
            <a:ext cx="762000" cy="52038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74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044454D-A9F6-61E1-EF4D-B7113825974C}"/>
              </a:ext>
            </a:extLst>
          </p:cNvPr>
          <p:cNvSpPr/>
          <p:nvPr/>
        </p:nvSpPr>
        <p:spPr>
          <a:xfrm>
            <a:off x="8738599" y="2895600"/>
            <a:ext cx="762000" cy="52038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16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F6AB61C-64A3-73F0-F2BC-671233977F3F}"/>
              </a:ext>
            </a:extLst>
          </p:cNvPr>
          <p:cNvSpPr/>
          <p:nvPr/>
        </p:nvSpPr>
        <p:spPr>
          <a:xfrm>
            <a:off x="9500599" y="2893391"/>
            <a:ext cx="762000" cy="52038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99887C-9E7A-2096-7ED4-10E304E5FD50}"/>
              </a:ext>
            </a:extLst>
          </p:cNvPr>
          <p:cNvSpPr txBox="1"/>
          <p:nvPr/>
        </p:nvSpPr>
        <p:spPr>
          <a:xfrm>
            <a:off x="6705600" y="4404380"/>
            <a:ext cx="3128617" cy="11079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Equality Testing</a:t>
            </a:r>
          </a:p>
          <a:p>
            <a:pPr lvl="1" algn="ctr"/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Compare the value to each existing element in the list.</a:t>
            </a:r>
          </a:p>
          <a:p>
            <a:pPr lvl="1" algn="ctr"/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If it found, return 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B057B9-0566-4DD7-10CE-E12FE0D2C31B}"/>
              </a:ext>
            </a:extLst>
          </p:cNvPr>
          <p:cNvSpPr txBox="1"/>
          <p:nvPr/>
        </p:nvSpPr>
        <p:spPr>
          <a:xfrm>
            <a:off x="6248400" y="3657600"/>
            <a:ext cx="381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4"/>
                </a:solidFill>
              </a:rPr>
              <a:t>My Search Space</a:t>
            </a:r>
          </a:p>
        </p:txBody>
      </p:sp>
    </p:spTree>
    <p:extLst>
      <p:ext uri="{BB962C8B-B14F-4D97-AF65-F5344CB8AC3E}">
        <p14:creationId xmlns:p14="http://schemas.microsoft.com/office/powerpoint/2010/main" val="3037107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2.22222E-6 L 0.29597 0.05926 L 0.35391 0.06065 L 0.41628 0.05926 L 0.47487 0.05741 L 0.53373 0.05602 L 0.59258 0.05556 L 0.59258 0.05579 " pathEditMode="relative" rAng="0" ptsTypes="AAAAAAAA">
                                      <p:cBhvr>
                                        <p:cTn id="20" dur="1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635" y="30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 animBg="1"/>
      <p:bldP spid="14" grpId="0"/>
      <p:bldP spid="3" grpId="0" animBg="1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B0E37-2F60-820F-4E84-284AAA0B9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Looking Up an Element in a Set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48E6B7-5A9B-6918-826E-38FD52C31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B72127-A4CA-1E72-2D6E-DF2AE5BF3DD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674"/>
          <a:stretch/>
        </p:blipFill>
        <p:spPr>
          <a:xfrm>
            <a:off x="7467600" y="1646238"/>
            <a:ext cx="3921261" cy="4449762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73A0FE83-DDAB-34A0-CDF6-C2B139A6E5E2}"/>
              </a:ext>
            </a:extLst>
          </p:cNvPr>
          <p:cNvSpPr/>
          <p:nvPr/>
        </p:nvSpPr>
        <p:spPr>
          <a:xfrm>
            <a:off x="374375" y="3232376"/>
            <a:ext cx="527878" cy="383547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94AF1E97-4866-B231-80D1-DE31FFA60D3B}"/>
              </a:ext>
            </a:extLst>
          </p:cNvPr>
          <p:cNvSpPr/>
          <p:nvPr/>
        </p:nvSpPr>
        <p:spPr>
          <a:xfrm>
            <a:off x="1048026" y="2738349"/>
            <a:ext cx="1676400" cy="137160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Lookup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7ED96ED-14AE-2B19-616D-E06E37CB45DB}"/>
              </a:ext>
            </a:extLst>
          </p:cNvPr>
          <p:cNvGrpSpPr/>
          <p:nvPr/>
        </p:nvGrpSpPr>
        <p:grpSpPr>
          <a:xfrm>
            <a:off x="3292061" y="2997855"/>
            <a:ext cx="2362200" cy="940039"/>
            <a:chOff x="4648200" y="3230317"/>
            <a:chExt cx="2362200" cy="94003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F24D9BC-EB6D-E5D8-74F2-D48250B4FB08}"/>
                </a:ext>
              </a:extLst>
            </p:cNvPr>
            <p:cNvSpPr/>
            <p:nvPr/>
          </p:nvSpPr>
          <p:spPr>
            <a:xfrm>
              <a:off x="4648200" y="3230317"/>
              <a:ext cx="2362200" cy="940039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def hash(n):</a:t>
              </a:r>
            </a:p>
            <a:p>
              <a:pPr algn="ctr"/>
              <a:r>
                <a:rPr lang="en-US" dirty="0"/>
                <a:t>Return n%10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1DE911F-53AD-3A32-9AB9-6D19762AB2F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656"/>
            <a:stretch/>
          </p:blipFill>
          <p:spPr>
            <a:xfrm>
              <a:off x="4800600" y="3397013"/>
              <a:ext cx="2133600" cy="657208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48AB23C5-9F53-AEBA-1190-F963851289C4}"/>
              </a:ext>
            </a:extLst>
          </p:cNvPr>
          <p:cNvSpPr txBox="1"/>
          <p:nvPr/>
        </p:nvSpPr>
        <p:spPr>
          <a:xfrm>
            <a:off x="3596861" y="2558534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Hash Function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48F078C-53EE-9EB0-673C-5ED86BBFAB32}"/>
              </a:ext>
            </a:extLst>
          </p:cNvPr>
          <p:cNvCxnSpPr>
            <a:stCxn id="10" idx="3"/>
          </p:cNvCxnSpPr>
          <p:nvPr/>
        </p:nvCxnSpPr>
        <p:spPr>
          <a:xfrm>
            <a:off x="5654261" y="3467875"/>
            <a:ext cx="2194339" cy="403244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4B2ECB6-C6CC-7482-9F4F-C206C9842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446" y="1219200"/>
            <a:ext cx="2783954" cy="1403362"/>
          </a:xfr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Lookup Steps: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1) Hash </a:t>
            </a:r>
            <a:r>
              <a:rPr lang="en-US" sz="2200" dirty="0">
                <a:solidFill>
                  <a:schemeClr val="accent6">
                    <a:lumMod val="75000"/>
                  </a:schemeClr>
                </a:solidFill>
              </a:rPr>
              <a:t>(find the bucket)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2) Once in the bucket, perform Equality Testing</a:t>
            </a:r>
          </a:p>
          <a:p>
            <a:pPr lvl="1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Compare the value to each existing element in the bucket</a:t>
            </a:r>
          </a:p>
          <a:p>
            <a:pPr lvl="1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If found, return it</a:t>
            </a:r>
          </a:p>
        </p:txBody>
      </p:sp>
    </p:spTree>
    <p:extLst>
      <p:ext uri="{BB962C8B-B14F-4D97-AF65-F5344CB8AC3E}">
        <p14:creationId xmlns:p14="http://schemas.microsoft.com/office/powerpoint/2010/main" val="2216529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1615 0.01481 L 0.59323 0.06226 L 0.65521 0.06435 L 0.7056 0.06157 L 0.75131 0.06041 L 0.75131 0.06041 " pathEditMode="relative" ptsTypes="AAAAAA">
                                      <p:cBhvr>
                                        <p:cTn id="2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8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B0E37-2F60-820F-4E84-284AAA0B9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Looking Up Lists Vs Sets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b="1" dirty="0">
                <a:solidFill>
                  <a:srgbClr val="C00000"/>
                </a:solidFill>
              </a:rPr>
              <a:t>(Search Space)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48E6B7-5A9B-6918-826E-38FD52C31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F12E1F-06B4-0000-6919-1F4384F764CA}"/>
              </a:ext>
            </a:extLst>
          </p:cNvPr>
          <p:cNvSpPr/>
          <p:nvPr/>
        </p:nvSpPr>
        <p:spPr>
          <a:xfrm>
            <a:off x="3429000" y="1981200"/>
            <a:ext cx="5181600" cy="990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DB8D38-66BA-290A-AFC4-512159AFD73C}"/>
              </a:ext>
            </a:extLst>
          </p:cNvPr>
          <p:cNvSpPr/>
          <p:nvPr/>
        </p:nvSpPr>
        <p:spPr>
          <a:xfrm>
            <a:off x="3733800" y="2209800"/>
            <a:ext cx="762000" cy="5203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39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C5D03A4-9BFF-022C-6757-1610EF01D32F}"/>
              </a:ext>
            </a:extLst>
          </p:cNvPr>
          <p:cNvSpPr/>
          <p:nvPr/>
        </p:nvSpPr>
        <p:spPr>
          <a:xfrm>
            <a:off x="4495800" y="2209800"/>
            <a:ext cx="762000" cy="5203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2B47E62-27AE-2667-3099-EA38AC94947A}"/>
              </a:ext>
            </a:extLst>
          </p:cNvPr>
          <p:cNvSpPr/>
          <p:nvPr/>
        </p:nvSpPr>
        <p:spPr>
          <a:xfrm>
            <a:off x="5253383" y="2209800"/>
            <a:ext cx="762000" cy="5203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BD05C2B-0C92-7E3D-E29A-725CDFE67BB6}"/>
              </a:ext>
            </a:extLst>
          </p:cNvPr>
          <p:cNvSpPr/>
          <p:nvPr/>
        </p:nvSpPr>
        <p:spPr>
          <a:xfrm>
            <a:off x="6018214" y="2209800"/>
            <a:ext cx="762000" cy="5203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1CD9F46-03E4-C68B-3854-573FC447E560}"/>
              </a:ext>
            </a:extLst>
          </p:cNvPr>
          <p:cNvSpPr/>
          <p:nvPr/>
        </p:nvSpPr>
        <p:spPr>
          <a:xfrm>
            <a:off x="6757399" y="2209800"/>
            <a:ext cx="762000" cy="5203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16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8B71D45-DF9A-B22C-2507-08BA8327E970}"/>
              </a:ext>
            </a:extLst>
          </p:cNvPr>
          <p:cNvSpPr/>
          <p:nvPr/>
        </p:nvSpPr>
        <p:spPr>
          <a:xfrm>
            <a:off x="7519399" y="2207591"/>
            <a:ext cx="762000" cy="5203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423C74B-5A3D-95B7-CDE2-D55BCE8868A7}"/>
              </a:ext>
            </a:extLst>
          </p:cNvPr>
          <p:cNvSpPr txBox="1"/>
          <p:nvPr/>
        </p:nvSpPr>
        <p:spPr>
          <a:xfrm>
            <a:off x="1417007" y="2218776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4"/>
                </a:solidFill>
              </a:rPr>
              <a:t>LIST</a:t>
            </a:r>
          </a:p>
        </p:txBody>
      </p:sp>
      <p:sp>
        <p:nvSpPr>
          <p:cNvPr id="26" name="Trapezoid 25">
            <a:extLst>
              <a:ext uri="{FF2B5EF4-FFF2-40B4-BE49-F238E27FC236}">
                <a16:creationId xmlns:a16="http://schemas.microsoft.com/office/drawing/2014/main" id="{8EB61D4F-A81B-17E9-AB53-406ABF0CB915}"/>
              </a:ext>
            </a:extLst>
          </p:cNvPr>
          <p:cNvSpPr/>
          <p:nvPr/>
        </p:nvSpPr>
        <p:spPr>
          <a:xfrm rot="10800000">
            <a:off x="3429000" y="2971800"/>
            <a:ext cx="5181600" cy="2634734"/>
          </a:xfrm>
          <a:prstGeom prst="trapezoid">
            <a:avLst>
              <a:gd name="adj" fmla="val 49835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E0CCCF0-53A8-27FD-2F0E-73BEA24B47BE}"/>
              </a:ext>
            </a:extLst>
          </p:cNvPr>
          <p:cNvSpPr/>
          <p:nvPr/>
        </p:nvSpPr>
        <p:spPr>
          <a:xfrm>
            <a:off x="4758083" y="5606535"/>
            <a:ext cx="2514600" cy="9906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5FC0D80-9AC0-51C1-3CF0-0CDEF4194107}"/>
              </a:ext>
            </a:extLst>
          </p:cNvPr>
          <p:cNvSpPr/>
          <p:nvPr/>
        </p:nvSpPr>
        <p:spPr>
          <a:xfrm>
            <a:off x="4887985" y="5848146"/>
            <a:ext cx="762000" cy="5203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2C285B5-7E26-A57B-BC09-336258B56C8B}"/>
              </a:ext>
            </a:extLst>
          </p:cNvPr>
          <p:cNvSpPr/>
          <p:nvPr/>
        </p:nvSpPr>
        <p:spPr>
          <a:xfrm>
            <a:off x="5648399" y="5848146"/>
            <a:ext cx="762000" cy="5203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16C0F42-E75F-8701-DB84-15CC78257BB5}"/>
              </a:ext>
            </a:extLst>
          </p:cNvPr>
          <p:cNvSpPr/>
          <p:nvPr/>
        </p:nvSpPr>
        <p:spPr>
          <a:xfrm>
            <a:off x="6408813" y="5848146"/>
            <a:ext cx="762000" cy="5203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2CB17A1-62AB-CE53-8C92-B74007E3889F}"/>
              </a:ext>
            </a:extLst>
          </p:cNvPr>
          <p:cNvSpPr txBox="1"/>
          <p:nvPr/>
        </p:nvSpPr>
        <p:spPr>
          <a:xfrm>
            <a:off x="9020584" y="2218776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All Elements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F41F037-03AD-B661-E9F3-7112911601ED}"/>
              </a:ext>
            </a:extLst>
          </p:cNvPr>
          <p:cNvSpPr txBox="1"/>
          <p:nvPr/>
        </p:nvSpPr>
        <p:spPr>
          <a:xfrm>
            <a:off x="7315200" y="5777271"/>
            <a:ext cx="32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Elements Inside the bucket with the same hash value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BDDBC5C-44F9-6E19-8A67-BB99F0066B8B}"/>
              </a:ext>
            </a:extLst>
          </p:cNvPr>
          <p:cNvSpPr txBox="1"/>
          <p:nvPr/>
        </p:nvSpPr>
        <p:spPr>
          <a:xfrm>
            <a:off x="3169607" y="5978629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5"/>
                </a:solidFill>
              </a:rPr>
              <a:t>SET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B614A22-33D1-B33C-19AC-9BDC53A5CE09}"/>
              </a:ext>
            </a:extLst>
          </p:cNvPr>
          <p:cNvCxnSpPr>
            <a:cxnSpLocks/>
          </p:cNvCxnSpPr>
          <p:nvPr/>
        </p:nvCxnSpPr>
        <p:spPr>
          <a:xfrm>
            <a:off x="3048000" y="3334596"/>
            <a:ext cx="1295400" cy="231003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6EA55996-7234-0133-E977-50CDD40EFF6B}"/>
              </a:ext>
            </a:extLst>
          </p:cNvPr>
          <p:cNvSpPr txBox="1"/>
          <p:nvPr/>
        </p:nvSpPr>
        <p:spPr>
          <a:xfrm rot="3655269">
            <a:off x="2377150" y="4452390"/>
            <a:ext cx="2473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Hash Target value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B2920E8-383F-6962-2D4B-1E1C9A92E0EA}"/>
              </a:ext>
            </a:extLst>
          </p:cNvPr>
          <p:cNvSpPr/>
          <p:nvPr/>
        </p:nvSpPr>
        <p:spPr>
          <a:xfrm>
            <a:off x="20892" y="3886200"/>
            <a:ext cx="936896" cy="667264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Target</a:t>
            </a:r>
          </a:p>
        </p:txBody>
      </p:sp>
      <p:sp>
        <p:nvSpPr>
          <p:cNvPr id="44" name="Arrow: Right 43">
            <a:extLst>
              <a:ext uri="{FF2B5EF4-FFF2-40B4-BE49-F238E27FC236}">
                <a16:creationId xmlns:a16="http://schemas.microsoft.com/office/drawing/2014/main" id="{AE9FEF4A-2167-1CD2-8DC4-628F073A9B9A}"/>
              </a:ext>
            </a:extLst>
          </p:cNvPr>
          <p:cNvSpPr/>
          <p:nvPr/>
        </p:nvSpPr>
        <p:spPr>
          <a:xfrm>
            <a:off x="990600" y="3581400"/>
            <a:ext cx="1600200" cy="137160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Lookup</a:t>
            </a:r>
          </a:p>
        </p:txBody>
      </p:sp>
    </p:spTree>
    <p:extLst>
      <p:ext uri="{BB962C8B-B14F-4D97-AF65-F5344CB8AC3E}">
        <p14:creationId xmlns:p14="http://schemas.microsoft.com/office/powerpoint/2010/main" val="1283266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/>
      <p:bldP spid="26" grpId="0" animBg="1"/>
      <p:bldP spid="27" grpId="0" animBg="1"/>
      <p:bldP spid="29" grpId="0" animBg="1"/>
      <p:bldP spid="30" grpId="0" animBg="1"/>
      <p:bldP spid="31" grpId="0" animBg="1"/>
      <p:bldP spid="32" grpId="0"/>
      <p:bldP spid="33" grpId="0"/>
      <p:bldP spid="34" grpId="0"/>
      <p:bldP spid="4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64398-8E4F-FEE1-BFBE-993965BC0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136525"/>
            <a:ext cx="8228013" cy="105568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Sets &amp; Bad Hash Functions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DB9192-38FE-3193-6828-32C04C10A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B9C1512-6B81-7228-5952-C12DABC958FA}"/>
              </a:ext>
            </a:extLst>
          </p:cNvPr>
          <p:cNvGrpSpPr/>
          <p:nvPr/>
        </p:nvGrpSpPr>
        <p:grpSpPr>
          <a:xfrm>
            <a:off x="4419600" y="3017815"/>
            <a:ext cx="2362200" cy="940039"/>
            <a:chOff x="4648200" y="3230317"/>
            <a:chExt cx="2362200" cy="94003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8FDD26F-C075-2F18-017D-88979B959ECF}"/>
                </a:ext>
              </a:extLst>
            </p:cNvPr>
            <p:cNvSpPr/>
            <p:nvPr/>
          </p:nvSpPr>
          <p:spPr>
            <a:xfrm>
              <a:off x="4648200" y="3230317"/>
              <a:ext cx="2362200" cy="940039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def hash(n):</a:t>
              </a:r>
            </a:p>
            <a:p>
              <a:pPr algn="ctr"/>
              <a:r>
                <a:rPr lang="en-US" dirty="0"/>
                <a:t>Return n%10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EE41D25-529E-70B2-0151-82AEB00D6C1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56"/>
            <a:stretch/>
          </p:blipFill>
          <p:spPr>
            <a:xfrm>
              <a:off x="4800600" y="3397013"/>
              <a:ext cx="2133600" cy="657208"/>
            </a:xfrm>
            <a:prstGeom prst="rect">
              <a:avLst/>
            </a:prstGeom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C251DB15-F41C-66F2-4314-F6B015A92417}"/>
              </a:ext>
            </a:extLst>
          </p:cNvPr>
          <p:cNvSpPr/>
          <p:nvPr/>
        </p:nvSpPr>
        <p:spPr>
          <a:xfrm>
            <a:off x="8077200" y="2135578"/>
            <a:ext cx="609600" cy="365125"/>
          </a:xfrm>
          <a:prstGeom prst="rect">
            <a:avLst/>
          </a:prstGeom>
          <a:solidFill>
            <a:srgbClr val="FBE5D6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9C0E81-9B38-E3A4-228F-FE899C2E86A2}"/>
              </a:ext>
            </a:extLst>
          </p:cNvPr>
          <p:cNvSpPr/>
          <p:nvPr/>
        </p:nvSpPr>
        <p:spPr>
          <a:xfrm>
            <a:off x="8077200" y="2578494"/>
            <a:ext cx="609600" cy="365125"/>
          </a:xfrm>
          <a:prstGeom prst="rect">
            <a:avLst/>
          </a:prstGeom>
          <a:solidFill>
            <a:srgbClr val="FBE5D6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26806F-18C4-820E-E61A-B14057D675C5}"/>
              </a:ext>
            </a:extLst>
          </p:cNvPr>
          <p:cNvSpPr/>
          <p:nvPr/>
        </p:nvSpPr>
        <p:spPr>
          <a:xfrm>
            <a:off x="8086725" y="3019075"/>
            <a:ext cx="609600" cy="365125"/>
          </a:xfrm>
          <a:prstGeom prst="rect">
            <a:avLst/>
          </a:prstGeom>
          <a:solidFill>
            <a:srgbClr val="FBE5D6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CFCD53-6B54-57FC-E390-061B157C97C0}"/>
              </a:ext>
            </a:extLst>
          </p:cNvPr>
          <p:cNvSpPr/>
          <p:nvPr/>
        </p:nvSpPr>
        <p:spPr>
          <a:xfrm>
            <a:off x="8086725" y="3459579"/>
            <a:ext cx="609600" cy="365125"/>
          </a:xfrm>
          <a:prstGeom prst="rect">
            <a:avLst/>
          </a:prstGeom>
          <a:solidFill>
            <a:srgbClr val="FBE5D6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129C40-76B6-5E7D-E9DD-E15CD9AEEC9E}"/>
              </a:ext>
            </a:extLst>
          </p:cNvPr>
          <p:cNvSpPr/>
          <p:nvPr/>
        </p:nvSpPr>
        <p:spPr>
          <a:xfrm>
            <a:off x="8094889" y="3910529"/>
            <a:ext cx="609600" cy="365125"/>
          </a:xfrm>
          <a:prstGeom prst="rect">
            <a:avLst/>
          </a:prstGeom>
          <a:solidFill>
            <a:srgbClr val="FBE5D6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9318321-1D7A-26A8-D093-DC7DC0E9C28D}"/>
              </a:ext>
            </a:extLst>
          </p:cNvPr>
          <p:cNvSpPr/>
          <p:nvPr/>
        </p:nvSpPr>
        <p:spPr>
          <a:xfrm>
            <a:off x="8094889" y="4343062"/>
            <a:ext cx="609600" cy="365125"/>
          </a:xfrm>
          <a:prstGeom prst="rect">
            <a:avLst/>
          </a:prstGeom>
          <a:solidFill>
            <a:srgbClr val="FBE5D6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952B0D6-EE69-5990-F42D-A73FFD073406}"/>
              </a:ext>
            </a:extLst>
          </p:cNvPr>
          <p:cNvSpPr/>
          <p:nvPr/>
        </p:nvSpPr>
        <p:spPr>
          <a:xfrm>
            <a:off x="8094889" y="4774875"/>
            <a:ext cx="609600" cy="365125"/>
          </a:xfrm>
          <a:prstGeom prst="rect">
            <a:avLst/>
          </a:prstGeom>
          <a:solidFill>
            <a:srgbClr val="FBE5D6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7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5FB0C0C-EC89-3F3F-E545-729AC7EAFFFE}"/>
              </a:ext>
            </a:extLst>
          </p:cNvPr>
          <p:cNvSpPr/>
          <p:nvPr/>
        </p:nvSpPr>
        <p:spPr>
          <a:xfrm>
            <a:off x="8094889" y="5212896"/>
            <a:ext cx="609600" cy="365125"/>
          </a:xfrm>
          <a:prstGeom prst="rect">
            <a:avLst/>
          </a:prstGeom>
          <a:solidFill>
            <a:srgbClr val="FBE5D6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8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0809754-003F-F50D-75E7-57757A2D8559}"/>
              </a:ext>
            </a:extLst>
          </p:cNvPr>
          <p:cNvSpPr/>
          <p:nvPr/>
        </p:nvSpPr>
        <p:spPr>
          <a:xfrm>
            <a:off x="8077200" y="1676400"/>
            <a:ext cx="609600" cy="365125"/>
          </a:xfrm>
          <a:prstGeom prst="rect">
            <a:avLst/>
          </a:prstGeom>
          <a:solidFill>
            <a:srgbClr val="FBE5D6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45FA7C8-7E82-2F08-EC19-9ADBA4393304}"/>
              </a:ext>
            </a:extLst>
          </p:cNvPr>
          <p:cNvSpPr/>
          <p:nvPr/>
        </p:nvSpPr>
        <p:spPr>
          <a:xfrm>
            <a:off x="8105775" y="5650917"/>
            <a:ext cx="609600" cy="365125"/>
          </a:xfrm>
          <a:prstGeom prst="rect">
            <a:avLst/>
          </a:prstGeom>
          <a:solidFill>
            <a:srgbClr val="FBE5D6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1F5731-8AEE-E15B-72AA-A13AA5A07C77}"/>
              </a:ext>
            </a:extLst>
          </p:cNvPr>
          <p:cNvSpPr txBox="1"/>
          <p:nvPr/>
        </p:nvSpPr>
        <p:spPr>
          <a:xfrm>
            <a:off x="9105900" y="1149956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BUCKETS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3CA64C3-5E78-1759-D091-6583F93BAB5C}"/>
              </a:ext>
            </a:extLst>
          </p:cNvPr>
          <p:cNvSpPr txBox="1"/>
          <p:nvPr/>
        </p:nvSpPr>
        <p:spPr>
          <a:xfrm>
            <a:off x="4724400" y="2578494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Hash Function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152289B-91FB-FE75-32C2-5F92DDED1022}"/>
              </a:ext>
            </a:extLst>
          </p:cNvPr>
          <p:cNvSpPr/>
          <p:nvPr/>
        </p:nvSpPr>
        <p:spPr>
          <a:xfrm>
            <a:off x="11403635" y="3441669"/>
            <a:ext cx="527878" cy="383547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accent5"/>
                </a:solidFill>
              </a:rPr>
              <a:t>4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FC19F9F-540F-6E97-C008-D3AAA7DFBC09}"/>
              </a:ext>
            </a:extLst>
          </p:cNvPr>
          <p:cNvSpPr/>
          <p:nvPr/>
        </p:nvSpPr>
        <p:spPr>
          <a:xfrm>
            <a:off x="10882935" y="3432279"/>
            <a:ext cx="527878" cy="383547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accent5"/>
                </a:solidFill>
              </a:rPr>
              <a:t>16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8B546D3-EF5E-5246-F4A6-C9E5BA83BD49}"/>
              </a:ext>
            </a:extLst>
          </p:cNvPr>
          <p:cNvSpPr/>
          <p:nvPr/>
        </p:nvSpPr>
        <p:spPr>
          <a:xfrm>
            <a:off x="10334418" y="3450274"/>
            <a:ext cx="527878" cy="383547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accent5"/>
                </a:solidFill>
              </a:rPr>
              <a:t>74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9AD3288-DA3C-32CB-D334-05AE68442208}"/>
              </a:ext>
            </a:extLst>
          </p:cNvPr>
          <p:cNvSpPr/>
          <p:nvPr/>
        </p:nvSpPr>
        <p:spPr>
          <a:xfrm>
            <a:off x="9792874" y="3448256"/>
            <a:ext cx="527878" cy="383547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accent5"/>
                </a:solidFill>
              </a:rPr>
              <a:t>1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83AFA68-AA15-C226-9BBD-C979F067E9BA}"/>
              </a:ext>
            </a:extLst>
          </p:cNvPr>
          <p:cNvSpPr/>
          <p:nvPr/>
        </p:nvSpPr>
        <p:spPr>
          <a:xfrm>
            <a:off x="9237388" y="3457372"/>
            <a:ext cx="527878" cy="383547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accent5"/>
                </a:solidFill>
              </a:rPr>
              <a:t>24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B21E871-6577-23D9-D125-A86EE21E51B2}"/>
              </a:ext>
            </a:extLst>
          </p:cNvPr>
          <p:cNvSpPr/>
          <p:nvPr/>
        </p:nvSpPr>
        <p:spPr>
          <a:xfrm>
            <a:off x="8695844" y="3455944"/>
            <a:ext cx="527878" cy="383547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accent5"/>
                </a:solidFill>
              </a:rPr>
              <a:t>39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91396C4-E324-06A3-04A9-C39B833E7B17}"/>
              </a:ext>
            </a:extLst>
          </p:cNvPr>
          <p:cNvSpPr/>
          <p:nvPr/>
        </p:nvSpPr>
        <p:spPr>
          <a:xfrm>
            <a:off x="8686800" y="1676400"/>
            <a:ext cx="3030311" cy="365125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348E17D-19F5-E4F7-4DCD-B858248B28DE}"/>
              </a:ext>
            </a:extLst>
          </p:cNvPr>
          <p:cNvSpPr/>
          <p:nvPr/>
        </p:nvSpPr>
        <p:spPr>
          <a:xfrm>
            <a:off x="8692341" y="2135578"/>
            <a:ext cx="3030311" cy="365125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D6668E9-83B2-351A-358F-B1ECAA51A3F3}"/>
              </a:ext>
            </a:extLst>
          </p:cNvPr>
          <p:cNvSpPr/>
          <p:nvPr/>
        </p:nvSpPr>
        <p:spPr>
          <a:xfrm>
            <a:off x="8696325" y="2580435"/>
            <a:ext cx="3030311" cy="365125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9E52AC0-A0D5-5E98-C475-41E17B784AF2}"/>
              </a:ext>
            </a:extLst>
          </p:cNvPr>
          <p:cNvSpPr/>
          <p:nvPr/>
        </p:nvSpPr>
        <p:spPr>
          <a:xfrm>
            <a:off x="8704489" y="3016262"/>
            <a:ext cx="3030311" cy="365125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C94C296-EB32-D567-7D8E-BA1E68685857}"/>
              </a:ext>
            </a:extLst>
          </p:cNvPr>
          <p:cNvSpPr/>
          <p:nvPr/>
        </p:nvSpPr>
        <p:spPr>
          <a:xfrm>
            <a:off x="8709991" y="3459578"/>
            <a:ext cx="3030311" cy="365125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6BFC88C-31B3-6CE0-C898-962568808096}"/>
              </a:ext>
            </a:extLst>
          </p:cNvPr>
          <p:cNvSpPr/>
          <p:nvPr/>
        </p:nvSpPr>
        <p:spPr>
          <a:xfrm>
            <a:off x="8704489" y="3916299"/>
            <a:ext cx="3030311" cy="365125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772C237-0A6B-A13E-C460-3374B5252FE2}"/>
              </a:ext>
            </a:extLst>
          </p:cNvPr>
          <p:cNvSpPr/>
          <p:nvPr/>
        </p:nvSpPr>
        <p:spPr>
          <a:xfrm>
            <a:off x="8704489" y="4342342"/>
            <a:ext cx="3030311" cy="365125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761ACD0-DA45-6432-05B2-61B691B32D7C}"/>
              </a:ext>
            </a:extLst>
          </p:cNvPr>
          <p:cNvSpPr/>
          <p:nvPr/>
        </p:nvSpPr>
        <p:spPr>
          <a:xfrm>
            <a:off x="8715375" y="4787488"/>
            <a:ext cx="3030311" cy="365125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6913948-1014-0869-2F8A-CDA3BCAB9361}"/>
              </a:ext>
            </a:extLst>
          </p:cNvPr>
          <p:cNvSpPr/>
          <p:nvPr/>
        </p:nvSpPr>
        <p:spPr>
          <a:xfrm>
            <a:off x="8715375" y="5212895"/>
            <a:ext cx="3030311" cy="365125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40E68ED-AE8F-C352-D2C5-D5E2B740B622}"/>
              </a:ext>
            </a:extLst>
          </p:cNvPr>
          <p:cNvSpPr/>
          <p:nvPr/>
        </p:nvSpPr>
        <p:spPr>
          <a:xfrm>
            <a:off x="8725314" y="5657517"/>
            <a:ext cx="3030311" cy="365125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AEDE44-F12F-8339-BB88-C6AD66F8D18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2683" b="-1"/>
          <a:stretch/>
        </p:blipFill>
        <p:spPr>
          <a:xfrm>
            <a:off x="5105400" y="3505200"/>
            <a:ext cx="1448125" cy="318873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473A658-802B-995B-B7BD-C8F36A49ECC8}"/>
              </a:ext>
            </a:extLst>
          </p:cNvPr>
          <p:cNvCxnSpPr>
            <a:stCxn id="6" idx="3"/>
            <a:endCxn id="12" idx="1"/>
          </p:cNvCxnSpPr>
          <p:nvPr/>
        </p:nvCxnSpPr>
        <p:spPr>
          <a:xfrm>
            <a:off x="6781800" y="3487835"/>
            <a:ext cx="1304925" cy="154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Explosion: 14 Points 28">
            <a:extLst>
              <a:ext uri="{FF2B5EF4-FFF2-40B4-BE49-F238E27FC236}">
                <a16:creationId xmlns:a16="http://schemas.microsoft.com/office/drawing/2014/main" id="{14733116-788F-522F-E890-B9AD194F7D67}"/>
              </a:ext>
            </a:extLst>
          </p:cNvPr>
          <p:cNvSpPr/>
          <p:nvPr/>
        </p:nvSpPr>
        <p:spPr>
          <a:xfrm rot="20861019">
            <a:off x="28466" y="2424061"/>
            <a:ext cx="4770513" cy="2245597"/>
          </a:xfrm>
          <a:prstGeom prst="irregularSeal2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If I have a bad hash Function that hashes all elements to one bucket</a:t>
            </a:r>
          </a:p>
        </p:txBody>
      </p:sp>
    </p:spTree>
    <p:extLst>
      <p:ext uri="{BB962C8B-B14F-4D97-AF65-F5344CB8AC3E}">
        <p14:creationId xmlns:p14="http://schemas.microsoft.com/office/powerpoint/2010/main" val="31913711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64398-8E4F-FEE1-BFBE-993965BC0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136525"/>
            <a:ext cx="8228013" cy="105568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Sets &amp; Bad Hash Functions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DB9192-38FE-3193-6828-32C04C10A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B9C1512-6B81-7228-5952-C12DABC958FA}"/>
              </a:ext>
            </a:extLst>
          </p:cNvPr>
          <p:cNvGrpSpPr/>
          <p:nvPr/>
        </p:nvGrpSpPr>
        <p:grpSpPr>
          <a:xfrm>
            <a:off x="4419600" y="3017815"/>
            <a:ext cx="2362200" cy="940039"/>
            <a:chOff x="4648200" y="3230317"/>
            <a:chExt cx="2362200" cy="94003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8FDD26F-C075-2F18-017D-88979B959ECF}"/>
                </a:ext>
              </a:extLst>
            </p:cNvPr>
            <p:cNvSpPr/>
            <p:nvPr/>
          </p:nvSpPr>
          <p:spPr>
            <a:xfrm>
              <a:off x="4648200" y="3230317"/>
              <a:ext cx="2362200" cy="940039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def hash(n):</a:t>
              </a:r>
            </a:p>
            <a:p>
              <a:pPr algn="ctr"/>
              <a:r>
                <a:rPr lang="en-US" dirty="0"/>
                <a:t>Return n%10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EE41D25-529E-70B2-0151-82AEB00D6C1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56"/>
            <a:stretch/>
          </p:blipFill>
          <p:spPr>
            <a:xfrm>
              <a:off x="4800600" y="3397013"/>
              <a:ext cx="2133600" cy="657208"/>
            </a:xfrm>
            <a:prstGeom prst="rect">
              <a:avLst/>
            </a:prstGeom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C251DB15-F41C-66F2-4314-F6B015A92417}"/>
              </a:ext>
            </a:extLst>
          </p:cNvPr>
          <p:cNvSpPr/>
          <p:nvPr/>
        </p:nvSpPr>
        <p:spPr>
          <a:xfrm>
            <a:off x="8077200" y="2135578"/>
            <a:ext cx="609600" cy="365125"/>
          </a:xfrm>
          <a:prstGeom prst="rect">
            <a:avLst/>
          </a:prstGeom>
          <a:solidFill>
            <a:srgbClr val="FBE5D6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9C0E81-9B38-E3A4-228F-FE899C2E86A2}"/>
              </a:ext>
            </a:extLst>
          </p:cNvPr>
          <p:cNvSpPr/>
          <p:nvPr/>
        </p:nvSpPr>
        <p:spPr>
          <a:xfrm>
            <a:off x="8077200" y="2578494"/>
            <a:ext cx="609600" cy="365125"/>
          </a:xfrm>
          <a:prstGeom prst="rect">
            <a:avLst/>
          </a:prstGeom>
          <a:solidFill>
            <a:srgbClr val="FBE5D6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26806F-18C4-820E-E61A-B14057D675C5}"/>
              </a:ext>
            </a:extLst>
          </p:cNvPr>
          <p:cNvSpPr/>
          <p:nvPr/>
        </p:nvSpPr>
        <p:spPr>
          <a:xfrm>
            <a:off x="8086725" y="3019075"/>
            <a:ext cx="609600" cy="365125"/>
          </a:xfrm>
          <a:prstGeom prst="rect">
            <a:avLst/>
          </a:prstGeom>
          <a:solidFill>
            <a:srgbClr val="FBE5D6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CFCD53-6B54-57FC-E390-061B157C97C0}"/>
              </a:ext>
            </a:extLst>
          </p:cNvPr>
          <p:cNvSpPr/>
          <p:nvPr/>
        </p:nvSpPr>
        <p:spPr>
          <a:xfrm>
            <a:off x="8086725" y="3459579"/>
            <a:ext cx="609600" cy="365125"/>
          </a:xfrm>
          <a:prstGeom prst="rect">
            <a:avLst/>
          </a:prstGeom>
          <a:solidFill>
            <a:srgbClr val="FBE5D6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129C40-76B6-5E7D-E9DD-E15CD9AEEC9E}"/>
              </a:ext>
            </a:extLst>
          </p:cNvPr>
          <p:cNvSpPr/>
          <p:nvPr/>
        </p:nvSpPr>
        <p:spPr>
          <a:xfrm>
            <a:off x="8094889" y="3910529"/>
            <a:ext cx="609600" cy="365125"/>
          </a:xfrm>
          <a:prstGeom prst="rect">
            <a:avLst/>
          </a:prstGeom>
          <a:solidFill>
            <a:srgbClr val="FBE5D6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9318321-1D7A-26A8-D093-DC7DC0E9C28D}"/>
              </a:ext>
            </a:extLst>
          </p:cNvPr>
          <p:cNvSpPr/>
          <p:nvPr/>
        </p:nvSpPr>
        <p:spPr>
          <a:xfrm>
            <a:off x="8094889" y="4343062"/>
            <a:ext cx="609600" cy="365125"/>
          </a:xfrm>
          <a:prstGeom prst="rect">
            <a:avLst/>
          </a:prstGeom>
          <a:solidFill>
            <a:srgbClr val="FBE5D6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952B0D6-EE69-5990-F42D-A73FFD073406}"/>
              </a:ext>
            </a:extLst>
          </p:cNvPr>
          <p:cNvSpPr/>
          <p:nvPr/>
        </p:nvSpPr>
        <p:spPr>
          <a:xfrm>
            <a:off x="8094889" y="4774875"/>
            <a:ext cx="609600" cy="365125"/>
          </a:xfrm>
          <a:prstGeom prst="rect">
            <a:avLst/>
          </a:prstGeom>
          <a:solidFill>
            <a:srgbClr val="FBE5D6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7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5FB0C0C-EC89-3F3F-E545-729AC7EAFFFE}"/>
              </a:ext>
            </a:extLst>
          </p:cNvPr>
          <p:cNvSpPr/>
          <p:nvPr/>
        </p:nvSpPr>
        <p:spPr>
          <a:xfrm>
            <a:off x="8094889" y="5212896"/>
            <a:ext cx="609600" cy="365125"/>
          </a:xfrm>
          <a:prstGeom prst="rect">
            <a:avLst/>
          </a:prstGeom>
          <a:solidFill>
            <a:srgbClr val="FBE5D6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8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0809754-003F-F50D-75E7-57757A2D8559}"/>
              </a:ext>
            </a:extLst>
          </p:cNvPr>
          <p:cNvSpPr/>
          <p:nvPr/>
        </p:nvSpPr>
        <p:spPr>
          <a:xfrm>
            <a:off x="8077200" y="1676400"/>
            <a:ext cx="609600" cy="365125"/>
          </a:xfrm>
          <a:prstGeom prst="rect">
            <a:avLst/>
          </a:prstGeom>
          <a:solidFill>
            <a:srgbClr val="FBE5D6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45FA7C8-7E82-2F08-EC19-9ADBA4393304}"/>
              </a:ext>
            </a:extLst>
          </p:cNvPr>
          <p:cNvSpPr/>
          <p:nvPr/>
        </p:nvSpPr>
        <p:spPr>
          <a:xfrm>
            <a:off x="8105775" y="5650917"/>
            <a:ext cx="609600" cy="365125"/>
          </a:xfrm>
          <a:prstGeom prst="rect">
            <a:avLst/>
          </a:prstGeom>
          <a:solidFill>
            <a:srgbClr val="FBE5D6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1F5731-8AEE-E15B-72AA-A13AA5A07C77}"/>
              </a:ext>
            </a:extLst>
          </p:cNvPr>
          <p:cNvSpPr txBox="1"/>
          <p:nvPr/>
        </p:nvSpPr>
        <p:spPr>
          <a:xfrm>
            <a:off x="9105900" y="1149956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BUCKETS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3CA64C3-5E78-1759-D091-6583F93BAB5C}"/>
              </a:ext>
            </a:extLst>
          </p:cNvPr>
          <p:cNvSpPr txBox="1"/>
          <p:nvPr/>
        </p:nvSpPr>
        <p:spPr>
          <a:xfrm>
            <a:off x="4724400" y="2578494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Hash Function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152289B-91FB-FE75-32C2-5F92DDED1022}"/>
              </a:ext>
            </a:extLst>
          </p:cNvPr>
          <p:cNvSpPr/>
          <p:nvPr/>
        </p:nvSpPr>
        <p:spPr>
          <a:xfrm>
            <a:off x="11403635" y="3441669"/>
            <a:ext cx="527878" cy="383547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accent5"/>
                </a:solidFill>
              </a:rPr>
              <a:t>4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FC19F9F-540F-6E97-C008-D3AAA7DFBC09}"/>
              </a:ext>
            </a:extLst>
          </p:cNvPr>
          <p:cNvSpPr/>
          <p:nvPr/>
        </p:nvSpPr>
        <p:spPr>
          <a:xfrm>
            <a:off x="10882935" y="3432279"/>
            <a:ext cx="527878" cy="383547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accent5"/>
                </a:solidFill>
              </a:rPr>
              <a:t>16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8B546D3-EF5E-5246-F4A6-C9E5BA83BD49}"/>
              </a:ext>
            </a:extLst>
          </p:cNvPr>
          <p:cNvSpPr/>
          <p:nvPr/>
        </p:nvSpPr>
        <p:spPr>
          <a:xfrm>
            <a:off x="10334418" y="3450274"/>
            <a:ext cx="527878" cy="383547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accent5"/>
                </a:solidFill>
              </a:rPr>
              <a:t>74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9AD3288-DA3C-32CB-D334-05AE68442208}"/>
              </a:ext>
            </a:extLst>
          </p:cNvPr>
          <p:cNvSpPr/>
          <p:nvPr/>
        </p:nvSpPr>
        <p:spPr>
          <a:xfrm>
            <a:off x="9792874" y="3448256"/>
            <a:ext cx="527878" cy="383547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accent5"/>
                </a:solidFill>
              </a:rPr>
              <a:t>1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83AFA68-AA15-C226-9BBD-C979F067E9BA}"/>
              </a:ext>
            </a:extLst>
          </p:cNvPr>
          <p:cNvSpPr/>
          <p:nvPr/>
        </p:nvSpPr>
        <p:spPr>
          <a:xfrm>
            <a:off x="9237388" y="3457372"/>
            <a:ext cx="527878" cy="383547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accent5"/>
                </a:solidFill>
              </a:rPr>
              <a:t>24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B21E871-6577-23D9-D125-A86EE21E51B2}"/>
              </a:ext>
            </a:extLst>
          </p:cNvPr>
          <p:cNvSpPr/>
          <p:nvPr/>
        </p:nvSpPr>
        <p:spPr>
          <a:xfrm>
            <a:off x="8695844" y="3455944"/>
            <a:ext cx="527878" cy="383547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accent5"/>
                </a:solidFill>
              </a:rPr>
              <a:t>39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91396C4-E324-06A3-04A9-C39B833E7B17}"/>
              </a:ext>
            </a:extLst>
          </p:cNvPr>
          <p:cNvSpPr/>
          <p:nvPr/>
        </p:nvSpPr>
        <p:spPr>
          <a:xfrm>
            <a:off x="8686800" y="1676400"/>
            <a:ext cx="3030311" cy="365125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348E17D-19F5-E4F7-4DCD-B858248B28DE}"/>
              </a:ext>
            </a:extLst>
          </p:cNvPr>
          <p:cNvSpPr/>
          <p:nvPr/>
        </p:nvSpPr>
        <p:spPr>
          <a:xfrm>
            <a:off x="8692341" y="2135578"/>
            <a:ext cx="3030311" cy="365125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D6668E9-83B2-351A-358F-B1ECAA51A3F3}"/>
              </a:ext>
            </a:extLst>
          </p:cNvPr>
          <p:cNvSpPr/>
          <p:nvPr/>
        </p:nvSpPr>
        <p:spPr>
          <a:xfrm>
            <a:off x="8696325" y="2580435"/>
            <a:ext cx="3030311" cy="365125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9E52AC0-A0D5-5E98-C475-41E17B784AF2}"/>
              </a:ext>
            </a:extLst>
          </p:cNvPr>
          <p:cNvSpPr/>
          <p:nvPr/>
        </p:nvSpPr>
        <p:spPr>
          <a:xfrm>
            <a:off x="8704489" y="3016262"/>
            <a:ext cx="3030311" cy="365125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C94C296-EB32-D567-7D8E-BA1E68685857}"/>
              </a:ext>
            </a:extLst>
          </p:cNvPr>
          <p:cNvSpPr/>
          <p:nvPr/>
        </p:nvSpPr>
        <p:spPr>
          <a:xfrm>
            <a:off x="8709991" y="3459578"/>
            <a:ext cx="3030311" cy="365125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6BFC88C-31B3-6CE0-C898-962568808096}"/>
              </a:ext>
            </a:extLst>
          </p:cNvPr>
          <p:cNvSpPr/>
          <p:nvPr/>
        </p:nvSpPr>
        <p:spPr>
          <a:xfrm>
            <a:off x="8704489" y="3916299"/>
            <a:ext cx="3030311" cy="365125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772C237-0A6B-A13E-C460-3374B5252FE2}"/>
              </a:ext>
            </a:extLst>
          </p:cNvPr>
          <p:cNvSpPr/>
          <p:nvPr/>
        </p:nvSpPr>
        <p:spPr>
          <a:xfrm>
            <a:off x="8704489" y="4342342"/>
            <a:ext cx="3030311" cy="365125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761ACD0-DA45-6432-05B2-61B691B32D7C}"/>
              </a:ext>
            </a:extLst>
          </p:cNvPr>
          <p:cNvSpPr/>
          <p:nvPr/>
        </p:nvSpPr>
        <p:spPr>
          <a:xfrm>
            <a:off x="8715375" y="4787488"/>
            <a:ext cx="3030311" cy="365125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6913948-1014-0869-2F8A-CDA3BCAB9361}"/>
              </a:ext>
            </a:extLst>
          </p:cNvPr>
          <p:cNvSpPr/>
          <p:nvPr/>
        </p:nvSpPr>
        <p:spPr>
          <a:xfrm>
            <a:off x="8715375" y="5212895"/>
            <a:ext cx="3030311" cy="365125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40E68ED-AE8F-C352-D2C5-D5E2B740B622}"/>
              </a:ext>
            </a:extLst>
          </p:cNvPr>
          <p:cNvSpPr/>
          <p:nvPr/>
        </p:nvSpPr>
        <p:spPr>
          <a:xfrm>
            <a:off x="8725314" y="5657517"/>
            <a:ext cx="3030311" cy="365125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AEDE44-F12F-8339-BB88-C6AD66F8D18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2683" b="-1"/>
          <a:stretch/>
        </p:blipFill>
        <p:spPr>
          <a:xfrm>
            <a:off x="5105400" y="3505200"/>
            <a:ext cx="1448125" cy="318873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473A658-802B-995B-B7BD-C8F36A49ECC8}"/>
              </a:ext>
            </a:extLst>
          </p:cNvPr>
          <p:cNvCxnSpPr>
            <a:stCxn id="6" idx="3"/>
            <a:endCxn id="12" idx="1"/>
          </p:cNvCxnSpPr>
          <p:nvPr/>
        </p:nvCxnSpPr>
        <p:spPr>
          <a:xfrm>
            <a:off x="6781800" y="3487835"/>
            <a:ext cx="1304925" cy="154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CD3DF32D-8FCD-077C-DF98-8A4BA60BFC1A}"/>
              </a:ext>
            </a:extLst>
          </p:cNvPr>
          <p:cNvSpPr/>
          <p:nvPr/>
        </p:nvSpPr>
        <p:spPr>
          <a:xfrm>
            <a:off x="1732724" y="3249896"/>
            <a:ext cx="527878" cy="383547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B72ADDFC-41EA-5453-04D2-EE9804FC7310}"/>
              </a:ext>
            </a:extLst>
          </p:cNvPr>
          <p:cNvSpPr/>
          <p:nvPr/>
        </p:nvSpPr>
        <p:spPr>
          <a:xfrm>
            <a:off x="2406375" y="2755869"/>
            <a:ext cx="1676400" cy="137160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Lookup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7770EA78-1654-5A61-DDC5-9CFE03279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446" y="1219200"/>
            <a:ext cx="2783954" cy="1403362"/>
          </a:xfr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Lookup Steps: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1) Hash </a:t>
            </a:r>
            <a:r>
              <a:rPr lang="en-US" sz="2200" dirty="0">
                <a:solidFill>
                  <a:schemeClr val="accent6">
                    <a:lumMod val="75000"/>
                  </a:schemeClr>
                </a:solidFill>
              </a:rPr>
              <a:t>(find the bucket)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2) Once in the bucket, perform Equality Testing</a:t>
            </a:r>
          </a:p>
          <a:p>
            <a:pPr lvl="1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Compare the value to each existing element in the bucket</a:t>
            </a:r>
          </a:p>
          <a:p>
            <a:pPr lvl="1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If found, return it</a:t>
            </a:r>
          </a:p>
        </p:txBody>
      </p:sp>
      <p:sp>
        <p:nvSpPr>
          <p:cNvPr id="23" name="Explosion: 14 Points 22">
            <a:extLst>
              <a:ext uri="{FF2B5EF4-FFF2-40B4-BE49-F238E27FC236}">
                <a16:creationId xmlns:a16="http://schemas.microsoft.com/office/drawing/2014/main" id="{1B3EE337-32B1-2783-EE93-172F7469DF90}"/>
              </a:ext>
            </a:extLst>
          </p:cNvPr>
          <p:cNvSpPr/>
          <p:nvPr/>
        </p:nvSpPr>
        <p:spPr>
          <a:xfrm>
            <a:off x="3962400" y="4344869"/>
            <a:ext cx="3048926" cy="1952096"/>
          </a:xfrm>
          <a:prstGeom prst="irregularSeal2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This is as inefficient as Lists…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604E4FD-5324-4781-8C67-28DADA1FC2C2}"/>
              </a:ext>
            </a:extLst>
          </p:cNvPr>
          <p:cNvSpPr/>
          <p:nvPr/>
        </p:nvSpPr>
        <p:spPr>
          <a:xfrm>
            <a:off x="8686799" y="3417141"/>
            <a:ext cx="3294077" cy="426261"/>
          </a:xfrm>
          <a:prstGeom prst="rect">
            <a:avLst/>
          </a:prstGeom>
          <a:solidFill>
            <a:srgbClr val="FFF2CC">
              <a:alpha val="50196"/>
            </a:srgb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427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9388 0.00695 L 0.50065 0.03472 L 0.57097 0.03079 L 0.61667 0.02824 L 0.66237 0.02871 L 0.70508 0.0294 L 0.75 0.02616 L 0.79466 0.02546 " pathEditMode="relative" ptsTypes="AAAAAAAA">
                                      <p:cBhvr>
                                        <p:cTn id="6" dur="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3" grpId="0" animBg="1"/>
      <p:bldP spid="2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92B90-BDE8-1D58-7A74-7995CDBDE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993" y="304800"/>
            <a:ext cx="8228013" cy="1055688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Example Hash Function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0CC128-CC91-4711-88C8-254490F22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5D5585-987B-F04D-F8BB-7189FD35CA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8425" y="2819400"/>
            <a:ext cx="7391400" cy="339919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9D00EB8-22B1-B916-79C8-FACDCD37E1E9}"/>
              </a:ext>
            </a:extLst>
          </p:cNvPr>
          <p:cNvSpPr txBox="1"/>
          <p:nvPr/>
        </p:nvSpPr>
        <p:spPr>
          <a:xfrm>
            <a:off x="2667000" y="1379538"/>
            <a:ext cx="6553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Given a string element.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Sums the ordinal values of all the characters in that string  </a:t>
            </a:r>
          </a:p>
          <a:p>
            <a:pPr algn="ctr"/>
            <a:r>
              <a:rPr lang="en-US" dirty="0"/>
              <a:t>Returns (SUM%10)</a:t>
            </a:r>
          </a:p>
        </p:txBody>
      </p:sp>
    </p:spTree>
    <p:extLst>
      <p:ext uri="{BB962C8B-B14F-4D97-AF65-F5344CB8AC3E}">
        <p14:creationId xmlns:p14="http://schemas.microsoft.com/office/powerpoint/2010/main" val="32195025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07420-EBE3-BE6F-3ED8-83F4F8ECE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C899188-3F88-286A-8769-76B7D7317E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0" y="2819400"/>
            <a:ext cx="3429000" cy="3429000"/>
          </a:xfrm>
          <a:prstGeom prst="rect">
            <a:avLst/>
          </a:prstGeom>
        </p:spPr>
      </p:pic>
      <p:sp>
        <p:nvSpPr>
          <p:cNvPr id="3074" name="Rectangle 2">
            <a:extLst>
              <a:ext uri="{FF2B5EF4-FFF2-40B4-BE49-F238E27FC236}">
                <a16:creationId xmlns:a16="http://schemas.microsoft.com/office/drawing/2014/main" id="{3D2DD52B-ED66-A079-4259-B4688848089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838200" y="76200"/>
            <a:ext cx="10210800" cy="2667000"/>
          </a:xfrm>
        </p:spPr>
        <p:txBody>
          <a:bodyPr>
            <a:normAutofit/>
          </a:bodyPr>
          <a:lstStyle/>
          <a:p>
            <a:r>
              <a:rPr lang="en-US" sz="7200" b="1">
                <a:solidFill>
                  <a:srgbClr val="C00000"/>
                </a:solidFill>
              </a:rPr>
              <a:t>More </a:t>
            </a:r>
            <a:br>
              <a:rPr lang="en-US" sz="7200" b="1">
                <a:solidFill>
                  <a:srgbClr val="C00000"/>
                </a:solidFill>
              </a:rPr>
            </a:br>
            <a:r>
              <a:rPr lang="en-US" sz="7200" b="1">
                <a:solidFill>
                  <a:srgbClr val="C00000"/>
                </a:solidFill>
              </a:rPr>
              <a:t>Sets Syntax</a:t>
            </a:r>
            <a:endParaRPr lang="en-US" altLang="en-US" sz="7200" b="1" dirty="0"/>
          </a:p>
        </p:txBody>
      </p:sp>
    </p:spTree>
    <p:extLst>
      <p:ext uri="{BB962C8B-B14F-4D97-AF65-F5344CB8AC3E}">
        <p14:creationId xmlns:p14="http://schemas.microsoft.com/office/powerpoint/2010/main" val="42779783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B57C4-9460-FB08-830A-902AE1875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8159CC-2C9C-3BAF-0603-443B66A785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209800"/>
            <a:ext cx="6175862" cy="3651862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8756804-D9DE-F67B-041A-E5482DD81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136525"/>
            <a:ext cx="8228013" cy="105568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Sets Practice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F3EA9214-35D9-B1FC-1324-E344D91DAFB2}"/>
                  </a:ext>
                </a:extLst>
              </p14:cNvPr>
              <p14:cNvContentPartPr/>
              <p14:nvPr/>
            </p14:nvContentPartPr>
            <p14:xfrm>
              <a:off x="8170105" y="3090865"/>
              <a:ext cx="51120" cy="2664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F3EA9214-35D9-B1FC-1324-E344D91DAFB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163985" y="3084745"/>
                <a:ext cx="6336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640E4E04-6C99-DDF7-E148-F469D870C07E}"/>
                  </a:ext>
                </a:extLst>
              </p14:cNvPr>
              <p14:cNvContentPartPr/>
              <p14:nvPr/>
            </p14:nvContentPartPr>
            <p14:xfrm>
              <a:off x="4597105" y="5353465"/>
              <a:ext cx="30240" cy="1944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640E4E04-6C99-DDF7-E148-F469D870C07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590985" y="5347345"/>
                <a:ext cx="42480" cy="3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A25EB280-1F4D-F1E1-DAAB-643AB5BCDF8D}"/>
                  </a:ext>
                </a:extLst>
              </p14:cNvPr>
              <p14:cNvContentPartPr/>
              <p14:nvPr/>
            </p14:nvContentPartPr>
            <p14:xfrm>
              <a:off x="5432305" y="4268065"/>
              <a:ext cx="125280" cy="2124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A25EB280-1F4D-F1E1-DAAB-643AB5BCDF8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426185" y="4261945"/>
                <a:ext cx="137520" cy="3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064DD031-3AE8-DD1F-E4DC-2AA1E9077492}"/>
                  </a:ext>
                </a:extLst>
              </p14:cNvPr>
              <p14:cNvContentPartPr/>
              <p14:nvPr/>
            </p14:nvContentPartPr>
            <p14:xfrm>
              <a:off x="6167785" y="4304785"/>
              <a:ext cx="80280" cy="4680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064DD031-3AE8-DD1F-E4DC-2AA1E907749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161665" y="4298665"/>
                <a:ext cx="92520" cy="5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DE7A1452-43D7-FA39-53C0-114620CE44E4}"/>
                  </a:ext>
                </a:extLst>
              </p14:cNvPr>
              <p14:cNvContentPartPr/>
              <p14:nvPr/>
            </p14:nvContentPartPr>
            <p14:xfrm>
              <a:off x="2029945" y="1186465"/>
              <a:ext cx="2160" cy="828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DE7A1452-43D7-FA39-53C0-114620CE44E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023825" y="1180345"/>
                <a:ext cx="14400" cy="20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007938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6B734-BCDA-4B29-130D-B8CFA07D5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8488E30-F546-1725-ADA7-D37C4EBFC7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4808" b="49289"/>
          <a:stretch>
            <a:fillRect/>
          </a:stretch>
        </p:blipFill>
        <p:spPr>
          <a:xfrm>
            <a:off x="3733800" y="3124200"/>
            <a:ext cx="4604657" cy="3429000"/>
          </a:xfrm>
          <a:prstGeom prst="rect">
            <a:avLst/>
          </a:prstGeom>
        </p:spPr>
      </p:pic>
      <p:sp>
        <p:nvSpPr>
          <p:cNvPr id="3074" name="Rectangle 2">
            <a:extLst>
              <a:ext uri="{FF2B5EF4-FFF2-40B4-BE49-F238E27FC236}">
                <a16:creationId xmlns:a16="http://schemas.microsoft.com/office/drawing/2014/main" id="{20BDAB90-CA76-CB7A-D822-F0CEF6FC178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066800" y="609600"/>
            <a:ext cx="10210800" cy="2667000"/>
          </a:xfrm>
        </p:spPr>
        <p:txBody>
          <a:bodyPr>
            <a:normAutofit/>
          </a:bodyPr>
          <a:lstStyle/>
          <a:p>
            <a:r>
              <a:rPr lang="en-US" sz="7200" b="1" dirty="0">
                <a:solidFill>
                  <a:srgbClr val="C00000"/>
                </a:solidFill>
              </a:rPr>
              <a:t>Sets for </a:t>
            </a:r>
            <a:br>
              <a:rPr lang="en-US" sz="7200" b="1" dirty="0">
                <a:solidFill>
                  <a:srgbClr val="C00000"/>
                </a:solidFill>
              </a:rPr>
            </a:br>
            <a:r>
              <a:rPr lang="en-US" sz="7200" b="1" dirty="0">
                <a:solidFill>
                  <a:srgbClr val="C00000"/>
                </a:solidFill>
              </a:rPr>
              <a:t>Set Theory Functions</a:t>
            </a:r>
            <a:endParaRPr lang="en-US" altLang="en-US" sz="7200" b="1" dirty="0"/>
          </a:p>
        </p:txBody>
      </p:sp>
    </p:spTree>
    <p:extLst>
      <p:ext uri="{BB962C8B-B14F-4D97-AF65-F5344CB8AC3E}">
        <p14:creationId xmlns:p14="http://schemas.microsoft.com/office/powerpoint/2010/main" val="33559045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0DFC8-08DB-1EC9-9D8E-A9F1194AB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Set Theory Operations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8D9557-2923-57FE-2C18-71F3EE782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E2EEC8-FD26-22EA-7C24-204C4D76DD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962"/>
          <a:stretch>
            <a:fillRect/>
          </a:stretch>
        </p:blipFill>
        <p:spPr>
          <a:xfrm>
            <a:off x="5943600" y="1446283"/>
            <a:ext cx="3886200" cy="52591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852FEC-FC04-226A-D351-F4D104A445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4808" b="49289"/>
          <a:stretch>
            <a:fillRect/>
          </a:stretch>
        </p:blipFill>
        <p:spPr>
          <a:xfrm>
            <a:off x="609599" y="2133600"/>
            <a:ext cx="4604657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7428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D9AC2-39FA-8C29-9989-E001EFB0C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CC2323BF-DC3B-C2CA-B19C-6C8527917A0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76200" y="1295400"/>
            <a:ext cx="5791200" cy="2667000"/>
          </a:xfrm>
        </p:spPr>
        <p:txBody>
          <a:bodyPr>
            <a:normAutofit/>
          </a:bodyPr>
          <a:lstStyle/>
          <a:p>
            <a:r>
              <a:rPr lang="en-US" sz="7200" b="1" dirty="0">
                <a:solidFill>
                  <a:srgbClr val="C00000"/>
                </a:solidFill>
              </a:rPr>
              <a:t>Dictionary</a:t>
            </a:r>
            <a:endParaRPr lang="en-US" altLang="en-US" sz="7200" b="1" dirty="0"/>
          </a:p>
        </p:txBody>
      </p:sp>
      <p:pic>
        <p:nvPicPr>
          <p:cNvPr id="2050" name="Picture 2" descr="The Right Way to Access Dictionaries in Python - KDnuggets">
            <a:extLst>
              <a:ext uri="{FF2B5EF4-FFF2-40B4-BE49-F238E27FC236}">
                <a16:creationId xmlns:a16="http://schemas.microsoft.com/office/drawing/2014/main" id="{83E4AACF-8C00-5671-D7FD-555C41A628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37" t="28889" r="26997" b="6666"/>
          <a:stretch>
            <a:fillRect/>
          </a:stretch>
        </p:blipFill>
        <p:spPr bwMode="auto">
          <a:xfrm>
            <a:off x="5410200" y="1219201"/>
            <a:ext cx="4495800" cy="44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81668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653BB-A393-F498-8CC2-0AF0B6B5D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C3D6D-BA9C-DA74-A43E-64C636A03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Motivational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1BA39E-1E80-6C5C-0C24-CD997AB22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2F215A0-BEC1-C375-1FF6-8C4076302E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825625"/>
            <a:ext cx="108204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dirty="0"/>
              <a:t>Write the function </a:t>
            </a:r>
            <a:r>
              <a:rPr lang="en-US" dirty="0" err="1">
                <a:solidFill>
                  <a:srgbClr val="FF0000"/>
                </a:solidFill>
              </a:rPr>
              <a:t>calculate_grade_distribution</a:t>
            </a:r>
            <a:r>
              <a:rPr lang="en-US" dirty="0">
                <a:solidFill>
                  <a:srgbClr val="FF0000"/>
                </a:solidFill>
              </a:rPr>
              <a:t>(grades)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/>
              <a:t>that takes a list of </a:t>
            </a:r>
            <a:r>
              <a:rPr lang="en-US" sz="3200" i="1" dirty="0"/>
              <a:t>grades</a:t>
            </a:r>
            <a:r>
              <a:rPr lang="en-US" sz="3200" dirty="0"/>
              <a:t> (integers) and maps each grade to its frequency. </a:t>
            </a:r>
          </a:p>
          <a:p>
            <a:pPr marL="0" indent="0" algn="ctr">
              <a:buNone/>
            </a:pPr>
            <a:r>
              <a:rPr lang="en-US" sz="3200" dirty="0"/>
              <a:t>In other words, the function returns a list of tuples, where each tuple contains </a:t>
            </a:r>
            <a:r>
              <a:rPr lang="en-US" dirty="0"/>
              <a:t>(grade, frequency)</a:t>
            </a:r>
            <a:r>
              <a:rPr lang="en-US" sz="3200" dirty="0"/>
              <a:t> representing each unique grade and how many times it appears.</a:t>
            </a:r>
          </a:p>
        </p:txBody>
      </p:sp>
    </p:spTree>
    <p:extLst>
      <p:ext uri="{BB962C8B-B14F-4D97-AF65-F5344CB8AC3E}">
        <p14:creationId xmlns:p14="http://schemas.microsoft.com/office/powerpoint/2010/main" val="15149026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B1CE1-3DDC-AFF6-D808-54BF31796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12687-00F0-6118-5003-D2DC964D2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C00000"/>
                </a:solidFill>
              </a:rPr>
              <a:t>Dicts</a:t>
            </a:r>
            <a:r>
              <a:rPr lang="en-US" b="1" dirty="0">
                <a:solidFill>
                  <a:srgbClr val="C00000"/>
                </a:solidFill>
              </a:rPr>
              <a:t> Definition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F6623E-A689-EC7A-8B69-2D61F279E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6F937D-A625-01D2-4D48-CBDDBD0C8F85}"/>
              </a:ext>
            </a:extLst>
          </p:cNvPr>
          <p:cNvSpPr txBox="1"/>
          <p:nvPr/>
        </p:nvSpPr>
        <p:spPr>
          <a:xfrm>
            <a:off x="838200" y="2438400"/>
            <a:ext cx="14192813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spcAft>
                <a:spcPts val="900"/>
              </a:spcAft>
              <a:buFont typeface="Wingdings" pitchFamily="2" charset="2"/>
              <a:buChar char="§"/>
            </a:pPr>
            <a:r>
              <a:rPr lang="en-US" sz="2200" dirty="0"/>
              <a:t>Dictionaries are associative data structures that store key-value pairs</a:t>
            </a:r>
          </a:p>
          <a:p>
            <a:pPr marL="342900" indent="-342900" algn="l">
              <a:spcAft>
                <a:spcPts val="900"/>
              </a:spcAft>
              <a:buFont typeface="Wingdings" pitchFamily="2" charset="2"/>
              <a:buChar char="§"/>
            </a:pPr>
            <a:r>
              <a:rPr lang="en-US" sz="2200" dirty="0"/>
              <a:t>A </a:t>
            </a:r>
            <a:r>
              <a:rPr lang="en-US" sz="2200" b="1" dirty="0">
                <a:solidFill>
                  <a:srgbClr val="FF0000"/>
                </a:solidFill>
              </a:rPr>
              <a:t>key</a:t>
            </a:r>
            <a:r>
              <a:rPr lang="en-US" sz="2200" dirty="0">
                <a:solidFill>
                  <a:srgbClr val="FF0000"/>
                </a:solidFill>
              </a:rPr>
              <a:t> </a:t>
            </a:r>
            <a:r>
              <a:rPr lang="en-US" sz="2200" dirty="0"/>
              <a:t>can only contain </a:t>
            </a:r>
            <a:r>
              <a:rPr lang="en-US" sz="2200" b="1" dirty="0">
                <a:solidFill>
                  <a:srgbClr val="00B050"/>
                </a:solidFill>
              </a:rPr>
              <a:t>immutable</a:t>
            </a:r>
            <a:r>
              <a:rPr lang="en-US" sz="2200" dirty="0">
                <a:solidFill>
                  <a:srgbClr val="00B050"/>
                </a:solidFill>
              </a:rPr>
              <a:t> data types</a:t>
            </a:r>
            <a:r>
              <a:rPr lang="en-US" sz="2200" dirty="0">
                <a:latin typeface="Courier" pitchFamily="2" charset="0"/>
              </a:rPr>
              <a:t>: </a:t>
            </a:r>
          </a:p>
          <a:p>
            <a:pPr marL="800100" lvl="1" indent="-342900">
              <a:spcAft>
                <a:spcPts val="900"/>
              </a:spcAft>
              <a:buFont typeface="Wingdings" pitchFamily="2" charset="2"/>
              <a:buChar char="§"/>
            </a:pPr>
            <a:r>
              <a:rPr lang="en-US" sz="2200" dirty="0">
                <a:latin typeface="Courier" pitchFamily="2" charset="0"/>
              </a:rPr>
              <a:t>int, float, bool, str, tuple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96CEF1-D160-3B2E-FC84-ABA1D2097337}"/>
              </a:ext>
            </a:extLst>
          </p:cNvPr>
          <p:cNvSpPr txBox="1"/>
          <p:nvPr/>
        </p:nvSpPr>
        <p:spPr>
          <a:xfrm>
            <a:off x="856683" y="3886200"/>
            <a:ext cx="478211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spcAft>
                <a:spcPts val="900"/>
              </a:spcAft>
              <a:buFont typeface="Wingdings" pitchFamily="2" charset="2"/>
              <a:buChar char="§"/>
            </a:pPr>
            <a:r>
              <a:rPr lang="en-US" sz="2200" dirty="0"/>
              <a:t>A </a:t>
            </a:r>
            <a:r>
              <a:rPr lang="en-US" sz="2200" b="1" dirty="0">
                <a:solidFill>
                  <a:srgbClr val="00B0F0"/>
                </a:solidFill>
              </a:rPr>
              <a:t>value</a:t>
            </a:r>
            <a:r>
              <a:rPr lang="en-US" sz="2200" dirty="0"/>
              <a:t> can be of </a:t>
            </a:r>
            <a:r>
              <a:rPr lang="en-US" sz="2200" b="1" dirty="0">
                <a:solidFill>
                  <a:srgbClr val="FFC000"/>
                </a:solidFill>
              </a:rPr>
              <a:t>any type</a:t>
            </a:r>
            <a:endParaRPr lang="en-US" sz="2200" dirty="0">
              <a:solidFill>
                <a:srgbClr val="FFC000"/>
              </a:solidFill>
              <a:latin typeface="Courier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F35A082-3B76-8CA9-4201-13AB8576CD60}"/>
                  </a:ext>
                </a:extLst>
              </p:cNvPr>
              <p:cNvSpPr/>
              <p:nvPr/>
            </p:nvSpPr>
            <p:spPr>
              <a:xfrm>
                <a:off x="3666533" y="5181600"/>
                <a:ext cx="4059968" cy="43088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3">
                  <a:spcAft>
                    <a:spcPts val="1200"/>
                  </a:spcAft>
                </a:pPr>
                <a:r>
                  <a:rPr lang="en-US" sz="2200" b="1" dirty="0">
                    <a:solidFill>
                      <a:srgbClr val="FF0000"/>
                    </a:solidFill>
                  </a:rPr>
                  <a:t>key</a:t>
                </a:r>
                <a:r>
                  <a:rPr lang="en-US" sz="2200" b="1" dirty="0"/>
                  <a:t> </a:t>
                </a:r>
                <a14:m>
                  <m:oMath xmlns:m="http://schemas.openxmlformats.org/officeDocument/2006/math">
                    <m:r>
                      <a:rPr lang="en-US" sz="2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</m:t>
                    </m:r>
                  </m:oMath>
                </a14:m>
                <a:r>
                  <a:rPr lang="en-US" sz="2200" b="1" dirty="0"/>
                  <a:t> </a:t>
                </a:r>
                <a:r>
                  <a:rPr lang="en-US" sz="2200" b="1" dirty="0">
                    <a:solidFill>
                      <a:srgbClr val="00B0F0"/>
                    </a:solidFill>
                  </a:rPr>
                  <a:t>value </a:t>
                </a: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F35A082-3B76-8CA9-4201-13AB8576CD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6533" y="5181600"/>
                <a:ext cx="4059968" cy="430887"/>
              </a:xfrm>
              <a:prstGeom prst="rect">
                <a:avLst/>
              </a:prstGeom>
              <a:blipFill>
                <a:blip r:embed="rId2"/>
                <a:stretch>
                  <a:fillRect t="-8451" b="-281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4894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F0B15-AEA1-608F-D55B-6086BD7E2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DA16A-D3B2-5022-4154-6768E06D8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C00000"/>
                </a:solidFill>
              </a:rPr>
              <a:t>Dicts</a:t>
            </a:r>
            <a:r>
              <a:rPr lang="en-US" b="1" dirty="0">
                <a:solidFill>
                  <a:srgbClr val="C00000"/>
                </a:solidFill>
              </a:rPr>
              <a:t> Definition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5BFE4D-4BEF-49FF-F3D2-7EDD69DBD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F19DE03-C545-9129-2B1A-1620AA580014}"/>
              </a:ext>
            </a:extLst>
          </p:cNvPr>
          <p:cNvGrpSpPr/>
          <p:nvPr/>
        </p:nvGrpSpPr>
        <p:grpSpPr>
          <a:xfrm>
            <a:off x="505824" y="2858974"/>
            <a:ext cx="2800955" cy="1140052"/>
            <a:chOff x="8764438" y="2996116"/>
            <a:chExt cx="2800955" cy="114005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29B8630-7B33-130C-1063-EEC37489AE62}"/>
                </a:ext>
              </a:extLst>
            </p:cNvPr>
            <p:cNvSpPr txBox="1"/>
            <p:nvPr/>
          </p:nvSpPr>
          <p:spPr>
            <a:xfrm>
              <a:off x="8916911" y="3134140"/>
              <a:ext cx="2648482" cy="861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spcAft>
                  <a:spcPts val="1200"/>
                </a:spcAft>
              </a:pPr>
              <a:r>
                <a:rPr lang="en-US" sz="2000" dirty="0"/>
                <a:t>Collection of </a:t>
              </a:r>
              <a:r>
                <a:rPr lang="en-US" sz="2000" i="1" dirty="0"/>
                <a:t>pairs</a:t>
              </a:r>
              <a:r>
                <a:rPr lang="en-US" sz="2000" dirty="0"/>
                <a:t> of: </a:t>
              </a:r>
            </a:p>
            <a:p>
              <a:pPr algn="ctr">
                <a:spcAft>
                  <a:spcPts val="1200"/>
                </a:spcAft>
              </a:pPr>
              <a:r>
                <a:rPr lang="en-US" sz="2000" dirty="0"/>
                <a:t>&lt;</a:t>
              </a:r>
              <a:r>
                <a:rPr lang="en-US" sz="2000" b="1" dirty="0">
                  <a:solidFill>
                    <a:srgbClr val="FF0000"/>
                  </a:solidFill>
                </a:rPr>
                <a:t>key</a:t>
              </a:r>
              <a:r>
                <a:rPr lang="en-US" sz="2000" dirty="0"/>
                <a:t>&gt;, &lt;</a:t>
              </a:r>
              <a:r>
                <a:rPr lang="en-US" sz="2000" b="1" dirty="0">
                  <a:solidFill>
                    <a:srgbClr val="00B0F0"/>
                  </a:solidFill>
                </a:rPr>
                <a:t>value</a:t>
              </a:r>
              <a:r>
                <a:rPr lang="en-US" sz="2000" dirty="0"/>
                <a:t>&gt;</a:t>
              </a:r>
            </a:p>
          </p:txBody>
        </p:sp>
        <p:sp>
          <p:nvSpPr>
            <p:cNvPr id="8" name="Rounded Rectangle 4">
              <a:extLst>
                <a:ext uri="{FF2B5EF4-FFF2-40B4-BE49-F238E27FC236}">
                  <a16:creationId xmlns:a16="http://schemas.microsoft.com/office/drawing/2014/main" id="{F70E063D-7F63-ADD5-6BEC-B251E49EF901}"/>
                </a:ext>
              </a:extLst>
            </p:cNvPr>
            <p:cNvSpPr/>
            <p:nvPr/>
          </p:nvSpPr>
          <p:spPr>
            <a:xfrm>
              <a:off x="8764438" y="2996116"/>
              <a:ext cx="2777705" cy="1140052"/>
            </a:xfrm>
            <a:prstGeom prst="roundRect">
              <a:avLst/>
            </a:prstGeom>
            <a:noFill/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D35D9AE-1394-F2E6-79A6-482E386E0A5D}"/>
              </a:ext>
            </a:extLst>
          </p:cNvPr>
          <p:cNvSpPr txBox="1"/>
          <p:nvPr/>
        </p:nvSpPr>
        <p:spPr>
          <a:xfrm>
            <a:off x="3962400" y="1981200"/>
            <a:ext cx="399921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populations =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"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Japan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": </a:t>
            </a:r>
            <a:r>
              <a:rPr lang="en-US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125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"India"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1408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"China"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1440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"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Bangladesh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": </a:t>
            </a:r>
            <a:r>
              <a:rPr lang="en-US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169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"Brazil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": </a:t>
            </a:r>
            <a:r>
              <a:rPr lang="en-US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214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"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Nigeria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": </a:t>
            </a:r>
            <a:r>
              <a:rPr lang="en-US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206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"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Ethiopia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": </a:t>
            </a:r>
            <a:r>
              <a:rPr lang="en-US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126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"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Russia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": </a:t>
            </a:r>
            <a:r>
              <a:rPr lang="en-US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143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"United States"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331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"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Mexico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": </a:t>
            </a:r>
            <a:r>
              <a:rPr lang="en-US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128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B60E03-964E-C796-16C7-7DCD86DE1B14}"/>
              </a:ext>
            </a:extLst>
          </p:cNvPr>
          <p:cNvSpPr txBox="1"/>
          <p:nvPr/>
        </p:nvSpPr>
        <p:spPr>
          <a:xfrm>
            <a:off x="7848600" y="1766546"/>
            <a:ext cx="387411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average_temperatures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   # January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   # February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  # March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  # April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rgbClr val="FF0000"/>
                </a:solidFill>
              </a:rPr>
              <a:t>5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  # May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25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  # June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28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  # July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27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  # August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23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  # September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 # October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 # November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# December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27217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E32B5-1037-253B-4932-96B9CE75D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81B63-AF48-3FF3-EBC3-C00ED2374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Recap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8A77F-5A3B-F00E-0A5C-29574CC79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239D5FB-7AA9-02B1-B943-E9E65ACDE3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756150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Sets</a:t>
            </a:r>
          </a:p>
          <a:p>
            <a:pPr lvl="1"/>
            <a:r>
              <a:rPr lang="en-US" sz="1800" dirty="0"/>
              <a:t>A set is an </a:t>
            </a:r>
            <a:r>
              <a:rPr lang="en-US" sz="1800" b="1" dirty="0"/>
              <a:t>unordered collection</a:t>
            </a:r>
            <a:r>
              <a:rPr lang="en-US" sz="1800" dirty="0"/>
              <a:t> of </a:t>
            </a:r>
            <a:r>
              <a:rPr lang="en-US" sz="1800" b="1" dirty="0"/>
              <a:t>unique and immutable elements</a:t>
            </a:r>
            <a:r>
              <a:rPr lang="en-US" sz="1800" dirty="0"/>
              <a:t>. </a:t>
            </a:r>
          </a:p>
          <a:p>
            <a:pPr lvl="1"/>
            <a:r>
              <a:rPr lang="en-US" sz="1800" dirty="0">
                <a:solidFill>
                  <a:schemeClr val="accent2"/>
                </a:solidFill>
              </a:rPr>
              <a:t>Why are sets more efficient than lists?</a:t>
            </a:r>
          </a:p>
          <a:p>
            <a:pPr lvl="2"/>
            <a:r>
              <a:rPr lang="en-US" sz="1400" b="1" dirty="0"/>
              <a:t>Hashing in Sets: </a:t>
            </a:r>
            <a:r>
              <a:rPr lang="en-US" sz="1400" dirty="0"/>
              <a:t>Hash Function, Hash Values </a:t>
            </a:r>
          </a:p>
          <a:p>
            <a:pPr lvl="1"/>
            <a:r>
              <a:rPr lang="en-US" sz="1800" b="1" dirty="0"/>
              <a:t>Creating Sets: </a:t>
            </a:r>
            <a:r>
              <a:rPr lang="en-US" sz="1800" dirty="0"/>
              <a:t>set(), set(</a:t>
            </a:r>
            <a:r>
              <a:rPr lang="en-US" sz="1800" dirty="0" err="1"/>
              <a:t>ierable</a:t>
            </a:r>
            <a:r>
              <a:rPr lang="en-US" sz="1800" dirty="0"/>
              <a:t>), {1,2,3}</a:t>
            </a:r>
          </a:p>
          <a:p>
            <a:pPr lvl="1"/>
            <a:r>
              <a:rPr lang="en-US" sz="1800" b="1" dirty="0"/>
              <a:t>Set Methods: </a:t>
            </a:r>
            <a:r>
              <a:rPr lang="en-US" sz="1800" dirty="0"/>
              <a:t>.add(v), .update(</a:t>
            </a:r>
            <a:r>
              <a:rPr lang="en-US" sz="1800" dirty="0" err="1"/>
              <a:t>iterable</a:t>
            </a:r>
            <a:r>
              <a:rPr lang="en-US" sz="1800" dirty="0"/>
              <a:t>),  .discard(v), .remove(v) .clear()</a:t>
            </a:r>
          </a:p>
          <a:p>
            <a:pPr lvl="1"/>
            <a:r>
              <a:rPr lang="en-US" sz="1800" b="1" dirty="0"/>
              <a:t>Iterating over sets &amp; membership</a:t>
            </a:r>
          </a:p>
          <a:p>
            <a:pPr lvl="1"/>
            <a:r>
              <a:rPr lang="en-US" sz="1800" b="1" dirty="0"/>
              <a:t>Set Theory Functions: </a:t>
            </a:r>
          </a:p>
          <a:p>
            <a:pPr lvl="2"/>
            <a:r>
              <a:rPr lang="en-US" sz="1400" dirty="0"/>
              <a:t>.superset(s2), .subset(s2), .union(s2), .intersection(s2), .difference(s2), .</a:t>
            </a:r>
            <a:r>
              <a:rPr lang="en-US" sz="1400" dirty="0" err="1"/>
              <a:t>symmetric_difference</a:t>
            </a:r>
            <a:r>
              <a:rPr lang="en-US" sz="1400" dirty="0"/>
              <a:t>(s2)</a:t>
            </a:r>
          </a:p>
          <a:p>
            <a:r>
              <a:rPr lang="en-US" sz="2400" dirty="0" err="1">
                <a:solidFill>
                  <a:srgbClr val="FF0000"/>
                </a:solidFill>
              </a:rPr>
              <a:t>Dicts</a:t>
            </a:r>
            <a:endParaRPr lang="en-US" sz="2400" dirty="0">
              <a:solidFill>
                <a:srgbClr val="FF0000"/>
              </a:solidFill>
            </a:endParaRPr>
          </a:p>
          <a:p>
            <a:pPr lvl="1"/>
            <a:r>
              <a:rPr lang="en-US" sz="1800" dirty="0"/>
              <a:t>Dictionaries are associative data structures that store </a:t>
            </a:r>
            <a:r>
              <a:rPr lang="en-US" sz="1800" b="1" dirty="0"/>
              <a:t>key-value pairs</a:t>
            </a:r>
          </a:p>
          <a:p>
            <a:pPr lvl="2"/>
            <a:r>
              <a:rPr lang="en-US" sz="1600" dirty="0"/>
              <a:t>Keys are </a:t>
            </a:r>
            <a:r>
              <a:rPr lang="en-US" sz="1600" b="1" dirty="0"/>
              <a:t>unique and immutable. </a:t>
            </a:r>
          </a:p>
          <a:p>
            <a:pPr lvl="2"/>
            <a:r>
              <a:rPr lang="en-US" sz="1600" dirty="0"/>
              <a:t>Values can be anything</a:t>
            </a:r>
          </a:p>
          <a:p>
            <a:pPr lvl="1"/>
            <a:r>
              <a:rPr lang="en-US" sz="1800" dirty="0">
                <a:solidFill>
                  <a:schemeClr val="accent2"/>
                </a:solidFill>
              </a:rPr>
              <a:t>Elements are also </a:t>
            </a:r>
            <a:r>
              <a:rPr lang="en-US" sz="1800" b="1" dirty="0">
                <a:solidFill>
                  <a:schemeClr val="accent2"/>
                </a:solidFill>
              </a:rPr>
              <a:t>hashed</a:t>
            </a:r>
            <a:r>
              <a:rPr lang="en-US" sz="1800" dirty="0">
                <a:solidFill>
                  <a:schemeClr val="accent2"/>
                </a:solidFill>
              </a:rPr>
              <a:t> </a:t>
            </a:r>
            <a:r>
              <a:rPr lang="en-US" sz="1800" b="1" dirty="0">
                <a:solidFill>
                  <a:schemeClr val="accent2"/>
                </a:solidFill>
              </a:rPr>
              <a:t>based on keys. </a:t>
            </a:r>
          </a:p>
          <a:p>
            <a:pPr lvl="2"/>
            <a:r>
              <a:rPr lang="en-US" sz="1400" b="1" dirty="0"/>
              <a:t>That’s why </a:t>
            </a:r>
            <a:r>
              <a:rPr lang="en-US" sz="1400" b="1" dirty="0" err="1"/>
              <a:t>dicts</a:t>
            </a:r>
            <a:r>
              <a:rPr lang="en-US" sz="1400" b="1" dirty="0"/>
              <a:t> are also efficient </a:t>
            </a:r>
          </a:p>
          <a:p>
            <a:pPr lvl="1"/>
            <a:r>
              <a:rPr lang="en-US" sz="1800" b="1" dirty="0"/>
              <a:t>Creating </a:t>
            </a:r>
            <a:r>
              <a:rPr lang="en-US" sz="1800" b="1" dirty="0" err="1"/>
              <a:t>Dicts</a:t>
            </a:r>
            <a:r>
              <a:rPr lang="en-US" sz="1800" b="1" dirty="0"/>
              <a:t>: </a:t>
            </a:r>
            <a:r>
              <a:rPr lang="en-US" sz="1800" dirty="0" err="1"/>
              <a:t>dict</a:t>
            </a:r>
            <a:r>
              <a:rPr lang="en-US" sz="1800" dirty="0"/>
              <a:t>(), {}, {1:’A’, 2:’B’}</a:t>
            </a:r>
          </a:p>
          <a:p>
            <a:pPr lvl="1"/>
            <a:r>
              <a:rPr lang="en-US" sz="1800" b="1" dirty="0"/>
              <a:t>Adding/Modifying elements:  </a:t>
            </a:r>
            <a:r>
              <a:rPr lang="en-US" sz="1800" dirty="0"/>
              <a:t>d[k] = v</a:t>
            </a:r>
          </a:p>
          <a:p>
            <a:pPr lvl="2"/>
            <a:r>
              <a:rPr lang="en-US" sz="1600" dirty="0"/>
              <a:t>Similar to indexing in lists, but here you index using keys, not positions</a:t>
            </a:r>
          </a:p>
          <a:p>
            <a:pPr lvl="1"/>
            <a:endParaRPr lang="en-US" sz="1800" dirty="0"/>
          </a:p>
          <a:p>
            <a:pPr lvl="1"/>
            <a:endParaRPr lang="en-US" sz="1800" dirty="0"/>
          </a:p>
        </p:txBody>
      </p:sp>
      <p:pic>
        <p:nvPicPr>
          <p:cNvPr id="1026" name="Picture 2" descr="Recap Clip Art Image - ClipSafari">
            <a:extLst>
              <a:ext uri="{FF2B5EF4-FFF2-40B4-BE49-F238E27FC236}">
                <a16:creationId xmlns:a16="http://schemas.microsoft.com/office/drawing/2014/main" id="{D911B25A-BB6B-D653-88CE-C4EC0AD30E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153458"/>
            <a:ext cx="3905250" cy="3876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4583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900A5-1C95-4F77-6EAC-7AE2EA60E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C00000"/>
                </a:solidFill>
              </a:rPr>
              <a:t>Dicts</a:t>
            </a:r>
            <a:r>
              <a:rPr lang="en-US" b="1" dirty="0">
                <a:solidFill>
                  <a:srgbClr val="C00000"/>
                </a:solidFill>
              </a:rPr>
              <a:t> Definition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6C739-BD76-C5FA-3CFF-C0DA722E73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Compared to other Data Structures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C3633C-A04E-58BD-122F-36BB8072C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1A5908-39BC-D5C4-5600-90EEC7DAA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1" y="2323616"/>
            <a:ext cx="7620000" cy="4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5766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6568691-FDB7-7D33-A634-34BF113472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2438400"/>
            <a:ext cx="3429000" cy="3429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A65A6E1-9EA5-593B-ABF7-E963EE5D1859}"/>
              </a:ext>
            </a:extLst>
          </p:cNvPr>
          <p:cNvSpPr txBox="1">
            <a:spLocks noChangeArrowheads="1"/>
          </p:cNvSpPr>
          <p:nvPr/>
        </p:nvSpPr>
        <p:spPr>
          <a:xfrm>
            <a:off x="685800" y="457200"/>
            <a:ext cx="10210800" cy="2667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7200" b="1" dirty="0" err="1">
                <a:solidFill>
                  <a:srgbClr val="C00000"/>
                </a:solidFill>
              </a:rPr>
              <a:t>Dicts</a:t>
            </a:r>
            <a:r>
              <a:rPr lang="en-US" sz="7200" b="1" dirty="0">
                <a:solidFill>
                  <a:srgbClr val="C00000"/>
                </a:solidFill>
              </a:rPr>
              <a:t> Syntax</a:t>
            </a:r>
            <a:br>
              <a:rPr lang="en-US" sz="7200" b="1" dirty="0">
                <a:solidFill>
                  <a:srgbClr val="C00000"/>
                </a:solidFill>
              </a:rPr>
            </a:br>
            <a:endParaRPr lang="en-US" altLang="en-US" sz="7200" b="1" dirty="0"/>
          </a:p>
        </p:txBody>
      </p:sp>
    </p:spTree>
    <p:extLst>
      <p:ext uri="{BB962C8B-B14F-4D97-AF65-F5344CB8AC3E}">
        <p14:creationId xmlns:p14="http://schemas.microsoft.com/office/powerpoint/2010/main" val="37760894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D23FF8-C2B8-9101-1AE7-D35D0524A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 indent="0" algn="r" eaLnBrk="1" fontAlgn="auto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b="0" i="0" u="none" strike="noStrike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cs typeface="+mn-cs"/>
              </a:rPr>
              <a:pPr marR="0" lvl="0" indent="0" algn="r" eaLnBrk="1" fontAlgn="auto" hangingPunct="1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633A3AB-1071-7CB0-AD3A-8275896B52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00201"/>
            <a:ext cx="6750847" cy="33528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8472F25-9FF7-4C9B-AA9D-7FCB0054A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1" y="320676"/>
            <a:ext cx="8228013" cy="1055688"/>
          </a:xfrm>
        </p:spPr>
        <p:txBody>
          <a:bodyPr/>
          <a:lstStyle/>
          <a:p>
            <a:r>
              <a:rPr lang="en-US" b="1" dirty="0" err="1">
                <a:solidFill>
                  <a:srgbClr val="C00000"/>
                </a:solidFill>
              </a:rPr>
              <a:t>Dicts</a:t>
            </a:r>
            <a:r>
              <a:rPr lang="en-US" b="1" dirty="0">
                <a:solidFill>
                  <a:srgbClr val="C00000"/>
                </a:solidFill>
              </a:rPr>
              <a:t> Practice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14199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60CB1-6A02-4995-2575-995421526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ED7C1EF-1BFC-536D-BA8D-E7E7F56A1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2438400"/>
            <a:ext cx="3429000" cy="3429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FA714C6-4CF5-7CCA-49CA-78FC11827F9A}"/>
              </a:ext>
            </a:extLst>
          </p:cNvPr>
          <p:cNvSpPr txBox="1">
            <a:spLocks noChangeArrowheads="1"/>
          </p:cNvSpPr>
          <p:nvPr/>
        </p:nvSpPr>
        <p:spPr>
          <a:xfrm>
            <a:off x="685800" y="457200"/>
            <a:ext cx="10210800" cy="26670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7200" b="1" dirty="0">
                <a:solidFill>
                  <a:srgbClr val="C00000"/>
                </a:solidFill>
              </a:rPr>
              <a:t>More </a:t>
            </a:r>
          </a:p>
          <a:p>
            <a:pPr fontAlgn="auto">
              <a:spcAft>
                <a:spcPts val="0"/>
              </a:spcAft>
            </a:pPr>
            <a:r>
              <a:rPr lang="en-US" sz="7200" b="1" dirty="0" err="1">
                <a:solidFill>
                  <a:srgbClr val="C00000"/>
                </a:solidFill>
              </a:rPr>
              <a:t>Dicts</a:t>
            </a:r>
            <a:r>
              <a:rPr lang="en-US" sz="7200" b="1" dirty="0">
                <a:solidFill>
                  <a:srgbClr val="C00000"/>
                </a:solidFill>
              </a:rPr>
              <a:t> Syntax</a:t>
            </a:r>
            <a:br>
              <a:rPr lang="en-US" sz="7200" b="1" dirty="0">
                <a:solidFill>
                  <a:srgbClr val="C00000"/>
                </a:solidFill>
              </a:rPr>
            </a:br>
            <a:endParaRPr lang="en-US" altLang="en-US" sz="7200" b="1" dirty="0"/>
          </a:p>
        </p:txBody>
      </p:sp>
    </p:spTree>
    <p:extLst>
      <p:ext uri="{BB962C8B-B14F-4D97-AF65-F5344CB8AC3E}">
        <p14:creationId xmlns:p14="http://schemas.microsoft.com/office/powerpoint/2010/main" val="153219103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E4AC0632-33F1-445B-B027-01D37107F09C}" vid="{4AB33DC8-7FF9-44E5-AC94-643A2DA0114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44534</TotalTime>
  <Words>1067</Words>
  <Application>Microsoft Office PowerPoint</Application>
  <PresentationFormat>Widescreen</PresentationFormat>
  <Paragraphs>273</Paragraphs>
  <Slides>28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Arial</vt:lpstr>
      <vt:lpstr>Calibri</vt:lpstr>
      <vt:lpstr>Calibri Light</vt:lpstr>
      <vt:lpstr>Cambria Math</vt:lpstr>
      <vt:lpstr>Courier</vt:lpstr>
      <vt:lpstr>Courier New</vt:lpstr>
      <vt:lpstr>Wingdings</vt:lpstr>
      <vt:lpstr>1_Office Theme</vt:lpstr>
      <vt:lpstr>Theme1</vt:lpstr>
      <vt:lpstr>Fundamentals of Programming &amp; Computer Science CS 15-112 </vt:lpstr>
      <vt:lpstr>Data Structures</vt:lpstr>
      <vt:lpstr>Motivational Example</vt:lpstr>
      <vt:lpstr>Sets Definition</vt:lpstr>
      <vt:lpstr>Sets Syntax </vt:lpstr>
      <vt:lpstr>Sets vs Lists  Efficiency </vt:lpstr>
      <vt:lpstr>Inserting Elements in a List</vt:lpstr>
      <vt:lpstr>Inserting Elements in Sets  &amp; Hashing</vt:lpstr>
      <vt:lpstr>If I try to Insert a duplicate</vt:lpstr>
      <vt:lpstr>Looking Up an Element in a List</vt:lpstr>
      <vt:lpstr>Looking Up an Element in a Set</vt:lpstr>
      <vt:lpstr>Looking Up Lists Vs Sets (Search Space)</vt:lpstr>
      <vt:lpstr>Sets &amp; Bad Hash Functions</vt:lpstr>
      <vt:lpstr>Sets &amp; Bad Hash Functions</vt:lpstr>
      <vt:lpstr>Example Hash Function</vt:lpstr>
      <vt:lpstr>More  Sets Syntax</vt:lpstr>
      <vt:lpstr>Sets Practice</vt:lpstr>
      <vt:lpstr>Sets for  Set Theory Functions</vt:lpstr>
      <vt:lpstr>Set Theory Operations</vt:lpstr>
      <vt:lpstr>Dictionary</vt:lpstr>
      <vt:lpstr>Motivational Example</vt:lpstr>
      <vt:lpstr>Dicts Definition</vt:lpstr>
      <vt:lpstr>Dicts Definition</vt:lpstr>
      <vt:lpstr>Recap</vt:lpstr>
      <vt:lpstr>Dicts Definition</vt:lpstr>
      <vt:lpstr>PowerPoint Presentation</vt:lpstr>
      <vt:lpstr>Dicts Practice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Stephen Macneil</dc:creator>
  <cp:lastModifiedBy>Hend Gedawy</cp:lastModifiedBy>
  <cp:revision>1402</cp:revision>
  <cp:lastPrinted>2024-06-03T05:13:03Z</cp:lastPrinted>
  <dcterms:created xsi:type="dcterms:W3CDTF">2008-11-03T12:44:07Z</dcterms:created>
  <dcterms:modified xsi:type="dcterms:W3CDTF">2026-03-05T19:24:12Z</dcterms:modified>
</cp:coreProperties>
</file>